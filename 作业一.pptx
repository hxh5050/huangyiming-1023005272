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2"/>
  </p:notesMasterIdLst>
  <p:sldIdLst>
    <p:sldId id="257" r:id="rId2"/>
    <p:sldId id="258" r:id="rId3"/>
    <p:sldId id="259" r:id="rId4"/>
    <p:sldId id="264" r:id="rId5"/>
    <p:sldId id="263" r:id="rId6"/>
    <p:sldId id="281" r:id="rId7"/>
    <p:sldId id="270" r:id="rId8"/>
    <p:sldId id="286" r:id="rId9"/>
    <p:sldId id="287" r:id="rId10"/>
    <p:sldId id="288" r:id="rId11"/>
    <p:sldId id="289" r:id="rId12"/>
    <p:sldId id="290" r:id="rId13"/>
    <p:sldId id="294" r:id="rId14"/>
    <p:sldId id="291" r:id="rId15"/>
    <p:sldId id="292" r:id="rId16"/>
    <p:sldId id="293" r:id="rId17"/>
    <p:sldId id="295" r:id="rId18"/>
    <p:sldId id="296" r:id="rId19"/>
    <p:sldId id="297" r:id="rId20"/>
    <p:sldId id="299" r:id="rId21"/>
    <p:sldId id="298" r:id="rId22"/>
    <p:sldId id="300" r:id="rId23"/>
    <p:sldId id="301" r:id="rId24"/>
    <p:sldId id="302" r:id="rId25"/>
    <p:sldId id="304" r:id="rId26"/>
    <p:sldId id="303" r:id="rId27"/>
    <p:sldId id="306" r:id="rId28"/>
    <p:sldId id="305" r:id="rId29"/>
    <p:sldId id="307" r:id="rId30"/>
    <p:sldId id="308" r:id="rId31"/>
    <p:sldId id="309" r:id="rId32"/>
    <p:sldId id="310" r:id="rId33"/>
    <p:sldId id="311" r:id="rId34"/>
    <p:sldId id="260" r:id="rId35"/>
    <p:sldId id="312" r:id="rId36"/>
    <p:sldId id="313" r:id="rId37"/>
    <p:sldId id="314" r:id="rId38"/>
    <p:sldId id="315" r:id="rId39"/>
    <p:sldId id="316" r:id="rId40"/>
    <p:sldId id="317" r:id="rId41"/>
    <p:sldId id="262" r:id="rId42"/>
    <p:sldId id="318" r:id="rId43"/>
    <p:sldId id="319" r:id="rId44"/>
    <p:sldId id="320" r:id="rId45"/>
    <p:sldId id="321" r:id="rId46"/>
    <p:sldId id="322" r:id="rId47"/>
    <p:sldId id="324" r:id="rId48"/>
    <p:sldId id="325" r:id="rId49"/>
    <p:sldId id="327" r:id="rId50"/>
    <p:sldId id="326" r:id="rId51"/>
  </p:sldIdLst>
  <p:sldSz cx="12192000" cy="6858000"/>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69A2"/>
    <a:srgbClr val="3B87CD"/>
    <a:srgbClr val="4AB69A"/>
    <a:srgbClr val="97D5C5"/>
    <a:srgbClr val="6CC4AD"/>
    <a:srgbClr val="84B4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27"/>
  </p:normalViewPr>
  <p:slideViewPr>
    <p:cSldViewPr snapToGrid="0">
      <p:cViewPr varScale="1">
        <p:scale>
          <a:sx n="104" d="100"/>
          <a:sy n="104" d="100"/>
        </p:scale>
        <p:origin x="96"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0F7EB-3B57-4178-B486-65F8A3B9FCCF}" type="datetimeFigureOut">
              <a:rPr lang="zh-CN" altLang="en-US" smtClean="0"/>
              <a:t>2026/10/14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C65752-B81E-46B2-A2F7-4559A93E9891}" type="slidenum">
              <a:rPr lang="zh-CN" altLang="en-US" smtClean="0"/>
              <a:t>‹#›</a:t>
            </a:fld>
            <a:endParaRPr lang="zh-CN" altLang="en-US"/>
          </a:p>
        </p:txBody>
      </p:sp>
    </p:spTree>
    <p:extLst>
      <p:ext uri="{BB962C8B-B14F-4D97-AF65-F5344CB8AC3E}">
        <p14:creationId xmlns:p14="http://schemas.microsoft.com/office/powerpoint/2010/main" val="3310059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阶段的特点是场景专用化。自动驾驶场景对车道线、行人、车辆等目标的分割精度要求极高，同时受限于真实道路数据的标注成本。多尺度注意力、边界感知、跨类相关性等模块都是针对道路场景的专门优化，半监督学习则是应对标注瓶颈的主要技术路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79CFC233-F897-964C-9F64-45FDB837E699}" type="datetimeFigureOut">
              <a:rPr kumimoji="1" lang="zh-CN" altLang="en-US" smtClean="0"/>
              <a:t>2026/10/14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A572FDE-AAA9-614F-B4BD-C78F579DE9B3}"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471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CFC233-F897-964C-9F64-45FDB837E699}" type="datetimeFigureOut">
              <a:rPr kumimoji="1" lang="zh-CN" altLang="en-US" smtClean="0"/>
              <a:t>2026/10/14</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572FDE-AAA9-614F-B4BD-C78F579DE9B3}"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26" name="Picture 2"/>
          <p:cNvPicPr>
            <a:picLocks noChangeAspect="1" noChangeArrowheads="1"/>
          </p:cNvPicPr>
          <p:nvPr/>
        </p:nvPicPr>
        <p:blipFill>
          <a:blip r:embed="rId2"/>
          <a:srcRect t="13134" b="13134"/>
          <a:stretch/>
        </p:blipFill>
        <p:spPr bwMode="auto">
          <a:xfrm>
            <a:off x="5248733" y="1839764"/>
            <a:ext cx="6943267" cy="2593074"/>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p:nvSpPr>
        <p:spPr>
          <a:xfrm>
            <a:off x="-2" y="1839764"/>
            <a:ext cx="12192002" cy="2593074"/>
          </a:xfrm>
          <a:prstGeom prst="rect">
            <a:avLst/>
          </a:prstGeom>
          <a:gradFill flip="none" rotWithShape="1">
            <a:gsLst>
              <a:gs pos="33000">
                <a:srgbClr val="3B87CD"/>
              </a:gs>
              <a:gs pos="85000">
                <a:schemeClr val="accent1">
                  <a:alpha val="30690"/>
                </a:schemeClr>
              </a:gs>
              <a:gs pos="0">
                <a:schemeClr val="accent5"/>
              </a:gs>
              <a:gs pos="54000">
                <a:srgbClr val="2A69A2"/>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p:cNvSpPr txBox="1"/>
          <p:nvPr/>
        </p:nvSpPr>
        <p:spPr>
          <a:xfrm>
            <a:off x="126380" y="2314954"/>
            <a:ext cx="8868937" cy="1678536"/>
          </a:xfrm>
          <a:prstGeom prst="rect">
            <a:avLst/>
          </a:prstGeom>
          <a:noFill/>
        </p:spPr>
        <p:txBody>
          <a:bodyPr wrap="square">
            <a:spAutoFit/>
          </a:bodyPr>
          <a:lstStyle/>
          <a:p>
            <a:pPr>
              <a:lnSpc>
                <a:spcPct val="120000"/>
              </a:lnSpc>
            </a:pPr>
            <a:r>
              <a:rPr lang="zh-CN" altLang="en-US" sz="4400" b="1" dirty="0">
                <a:solidFill>
                  <a:schemeClr val="bg1"/>
                </a:solidFill>
                <a:latin typeface="方正小标宋简体" panose="02010601030101010101" pitchFamily="2" charset="-122"/>
                <a:ea typeface="方正小标宋简体" panose="02010601030101010101" pitchFamily="2" charset="-122"/>
                <a:cs typeface="Arial" panose="020B0604020202020204" pitchFamily="34" charset="0"/>
              </a:rPr>
              <a:t>自动驾驶感知与规划模块的</a:t>
            </a:r>
            <a:endParaRPr lang="en-US" altLang="zh-CN" sz="4400" b="1" dirty="0">
              <a:solidFill>
                <a:schemeClr val="bg1"/>
              </a:solidFill>
              <a:latin typeface="方正小标宋简体" panose="02010601030101010101" pitchFamily="2" charset="-122"/>
              <a:ea typeface="方正小标宋简体" panose="02010601030101010101" pitchFamily="2" charset="-122"/>
              <a:cs typeface="Arial" panose="020B0604020202020204" pitchFamily="34" charset="0"/>
            </a:endParaRPr>
          </a:p>
          <a:p>
            <a:pPr>
              <a:lnSpc>
                <a:spcPct val="120000"/>
              </a:lnSpc>
            </a:pPr>
            <a:r>
              <a:rPr lang="zh-CN" altLang="en-US" sz="4400" b="1" dirty="0">
                <a:solidFill>
                  <a:schemeClr val="bg1"/>
                </a:solidFill>
                <a:latin typeface="方正小标宋简体" panose="02010601030101010101" pitchFamily="2" charset="-122"/>
                <a:ea typeface="方正小标宋简体" panose="02010601030101010101" pitchFamily="2" charset="-122"/>
                <a:cs typeface="Arial" panose="020B0604020202020204" pitchFamily="34" charset="0"/>
              </a:rPr>
              <a:t>技术路线演进脉络</a:t>
            </a:r>
          </a:p>
        </p:txBody>
      </p:sp>
      <p:sp>
        <p:nvSpPr>
          <p:cNvPr id="17" name="文本框 16"/>
          <p:cNvSpPr txBox="1"/>
          <p:nvPr/>
        </p:nvSpPr>
        <p:spPr>
          <a:xfrm>
            <a:off x="1152738" y="4908028"/>
            <a:ext cx="4559408" cy="338554"/>
          </a:xfrm>
          <a:prstGeom prst="rect">
            <a:avLst/>
          </a:prstGeom>
          <a:noFill/>
        </p:spPr>
        <p:txBody>
          <a:bodyPr wrap="square" rtlCol="0">
            <a:spAutoFit/>
          </a:bodyPr>
          <a:lstStyle/>
          <a:p>
            <a:r>
              <a:rPr kumimoji="1" lang="en-GB" altLang="zh-CN" sz="1600" b="1" dirty="0">
                <a:solidFill>
                  <a:schemeClr val="accent5">
                    <a:lumMod val="50000"/>
                  </a:schemeClr>
                </a:solidFill>
                <a:latin typeface="微软雅黑" panose="020B0503020204020204" pitchFamily="34" charset="-122"/>
                <a:ea typeface="微软雅黑" panose="020B0503020204020204" pitchFamily="34" charset="-122"/>
              </a:rPr>
              <a:t>N</a:t>
            </a:r>
            <a:r>
              <a:rPr kumimoji="1" lang="en-US" altLang="zh-CN" sz="1600" b="1" dirty="0" err="1">
                <a:solidFill>
                  <a:schemeClr val="accent5">
                    <a:lumMod val="50000"/>
                  </a:schemeClr>
                </a:solidFill>
                <a:latin typeface="微软雅黑" panose="020B0503020204020204" pitchFamily="34" charset="-122"/>
                <a:ea typeface="微软雅黑" panose="020B0503020204020204" pitchFamily="34" charset="-122"/>
              </a:rPr>
              <a:t>ame</a:t>
            </a:r>
            <a:r>
              <a:rPr kumimoji="1" lang="en-GB" altLang="zh-CN" sz="1600" b="1" dirty="0">
                <a:solidFill>
                  <a:schemeClr val="accent5">
                    <a:lumMod val="50000"/>
                  </a:schemeClr>
                </a:solidFill>
                <a:latin typeface="微软雅黑" panose="020B0503020204020204" pitchFamily="34" charset="-122"/>
                <a:ea typeface="微软雅黑" panose="020B0503020204020204" pitchFamily="34" charset="-122"/>
              </a:rPr>
              <a:t>: </a:t>
            </a:r>
            <a:r>
              <a:rPr kumimoji="1" lang="zh-CN" altLang="en-US" sz="1600" b="1" dirty="0">
                <a:solidFill>
                  <a:schemeClr val="accent5">
                    <a:lumMod val="50000"/>
                  </a:schemeClr>
                </a:solidFill>
                <a:latin typeface="微软雅黑" panose="020B0503020204020204" pitchFamily="34" charset="-122"/>
                <a:ea typeface="微软雅黑" panose="020B0503020204020204" pitchFamily="34" charset="-122"/>
              </a:rPr>
              <a:t>黄一铭</a:t>
            </a:r>
          </a:p>
        </p:txBody>
      </p:sp>
      <p:sp>
        <p:nvSpPr>
          <p:cNvPr id="18" name="文本框 17"/>
          <p:cNvSpPr txBox="1"/>
          <p:nvPr/>
        </p:nvSpPr>
        <p:spPr>
          <a:xfrm>
            <a:off x="1152738" y="5462909"/>
            <a:ext cx="4559409" cy="338554"/>
          </a:xfrm>
          <a:prstGeom prst="rect">
            <a:avLst/>
          </a:prstGeom>
          <a:noFill/>
        </p:spPr>
        <p:txBody>
          <a:bodyPr wrap="square" rtlCol="0">
            <a:spAutoFit/>
          </a:bodyPr>
          <a:lstStyle/>
          <a:p>
            <a:r>
              <a:rPr kumimoji="1" lang="en-US" altLang="zh-CN" sz="1600" b="1" dirty="0">
                <a:solidFill>
                  <a:schemeClr val="accent5">
                    <a:lumMod val="50000"/>
                  </a:schemeClr>
                </a:solidFill>
                <a:latin typeface="微软雅黑" panose="020B0503020204020204" pitchFamily="34" charset="-122"/>
                <a:ea typeface="微软雅黑" panose="020B0503020204020204" pitchFamily="34" charset="-122"/>
              </a:rPr>
              <a:t>Date</a:t>
            </a:r>
            <a:r>
              <a:rPr kumimoji="1" lang="en-GB" altLang="zh-CN" sz="1600" b="1" dirty="0">
                <a:solidFill>
                  <a:schemeClr val="accent5">
                    <a:lumMod val="50000"/>
                  </a:schemeClr>
                </a:solidFill>
                <a:latin typeface="微软雅黑" panose="020B0503020204020204" pitchFamily="34" charset="-122"/>
                <a:ea typeface="微软雅黑" panose="020B0503020204020204" pitchFamily="34" charset="-122"/>
              </a:rPr>
              <a:t>: </a:t>
            </a:r>
            <a:r>
              <a:rPr kumimoji="1" lang="en-US" altLang="zh-CN" sz="1600" b="1" dirty="0">
                <a:solidFill>
                  <a:schemeClr val="accent5">
                    <a:lumMod val="50000"/>
                  </a:schemeClr>
                </a:solidFill>
                <a:latin typeface="微软雅黑" panose="020B0503020204020204" pitchFamily="34" charset="-122"/>
                <a:ea typeface="微软雅黑" panose="020B0503020204020204" pitchFamily="34" charset="-122"/>
              </a:rPr>
              <a:t>Oct</a:t>
            </a:r>
            <a:r>
              <a:rPr kumimoji="1" lang="en-GB" altLang="zh-CN" sz="1600" b="1" dirty="0">
                <a:solidFill>
                  <a:schemeClr val="accent5">
                    <a:lumMod val="50000"/>
                  </a:schemeClr>
                </a:solidFill>
                <a:latin typeface="微软雅黑" panose="020B0503020204020204" pitchFamily="34" charset="-122"/>
                <a:ea typeface="微软雅黑" panose="020B0503020204020204" pitchFamily="34" charset="-122"/>
              </a:rPr>
              <a:t> 12th , 2026</a:t>
            </a:r>
            <a:endParaRPr kumimoji="1" lang="zh-CN" altLang="en-US" sz="16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9" name="灯片编号占位符 18"/>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3" name="图片 2">
            <a:extLst>
              <a:ext uri="{FF2B5EF4-FFF2-40B4-BE49-F238E27FC236}">
                <a16:creationId xmlns:a16="http://schemas.microsoft.com/office/drawing/2014/main" id="{86878298-FF2A-A52C-2FAB-8CEB57DDB138}"/>
              </a:ext>
            </a:extLst>
          </p:cNvPr>
          <p:cNvPicPr>
            <a:picLocks noChangeAspect="1"/>
          </p:cNvPicPr>
          <p:nvPr/>
        </p:nvPicPr>
        <p:blipFill>
          <a:blip r:embed="rId3"/>
          <a:stretch>
            <a:fillRect/>
          </a:stretch>
        </p:blipFill>
        <p:spPr>
          <a:xfrm>
            <a:off x="153431" y="230030"/>
            <a:ext cx="4407417" cy="8833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灯片编号占位符 18"/>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a:t>
            </a:fld>
            <a:endParaRPr kumimoji="1" lang="zh-CN" altLang="en-US" dirty="0">
              <a:solidFill>
                <a:schemeClr val="bg1"/>
              </a:solidFill>
              <a:latin typeface="Arial" panose="020B0604020202020204" pitchFamily="34" charset="0"/>
              <a:cs typeface="Arial" panose="020B0604020202020204" pitchFamily="34" charset="0"/>
            </a:endParaRPr>
          </a:p>
        </p:txBody>
      </p:sp>
      <p:sp>
        <p:nvSpPr>
          <p:cNvPr id="7" name="矩形 6"/>
          <p:cNvSpPr/>
          <p:nvPr/>
        </p:nvSpPr>
        <p:spPr>
          <a:xfrm>
            <a:off x="1" y="2888625"/>
            <a:ext cx="3765969" cy="361667"/>
          </a:xfrm>
          <a:prstGeom prst="rect">
            <a:avLst/>
          </a:prstGeom>
          <a:solidFill>
            <a:schemeClr val="accent5">
              <a:lumMod val="50000"/>
            </a:schemeClr>
          </a:solidFill>
          <a:ln>
            <a:noFill/>
          </a:ln>
          <a:effectLst>
            <a:outerShdw blurRad="387740" dist="38100" algn="l" rotWithShape="0">
              <a:schemeClr val="accent1">
                <a:lumMod val="75000"/>
                <a:alpha val="14476"/>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p:cNvSpPr txBox="1"/>
          <p:nvPr/>
        </p:nvSpPr>
        <p:spPr>
          <a:xfrm>
            <a:off x="1970894" y="2221634"/>
            <a:ext cx="1927606" cy="400110"/>
          </a:xfrm>
          <a:prstGeom prst="rect">
            <a:avLst/>
          </a:prstGeom>
          <a:noFill/>
        </p:spPr>
        <p:txBody>
          <a:bodyPr wrap="square" rtlCol="0">
            <a:spAutoFit/>
          </a:bodyPr>
          <a:lstStyle/>
          <a:p>
            <a:pPr algn="ctr"/>
            <a:r>
              <a:rPr kumimoji="1" lang="en-US" altLang="zh-CN" sz="2000" b="1" spc="300" dirty="0">
                <a:solidFill>
                  <a:schemeClr val="bg1">
                    <a:lumMod val="85000"/>
                  </a:schemeClr>
                </a:solidFill>
                <a:latin typeface="Arial" panose="020B0604020202020204" pitchFamily="34" charset="0"/>
                <a:cs typeface="Arial" panose="020B0604020202020204" pitchFamily="34" charset="0"/>
              </a:rPr>
              <a:t>CONTENTS</a:t>
            </a:r>
            <a:endParaRPr kumimoji="1" lang="zh-CN" altLang="en-US" sz="2000" b="1" spc="300" dirty="0">
              <a:solidFill>
                <a:schemeClr val="bg1">
                  <a:lumMod val="85000"/>
                </a:schemeClr>
              </a:solidFill>
              <a:latin typeface="Arial" panose="020B0604020202020204" pitchFamily="34" charset="0"/>
              <a:cs typeface="Arial" panose="020B0604020202020204" pitchFamily="34" charset="0"/>
            </a:endParaRPr>
          </a:p>
        </p:txBody>
      </p:sp>
      <p:sp>
        <p:nvSpPr>
          <p:cNvPr id="9" name="文本框 8"/>
          <p:cNvSpPr txBox="1"/>
          <p:nvPr/>
        </p:nvSpPr>
        <p:spPr>
          <a:xfrm>
            <a:off x="2235955" y="1452193"/>
            <a:ext cx="1662545" cy="769441"/>
          </a:xfrm>
          <a:prstGeom prst="rect">
            <a:avLst/>
          </a:prstGeom>
          <a:noFill/>
        </p:spPr>
        <p:txBody>
          <a:bodyPr wrap="square" rtlCol="0">
            <a:spAutoFit/>
          </a:bodyPr>
          <a:lstStyle/>
          <a:p>
            <a:pPr algn="r"/>
            <a:r>
              <a:rPr kumimoji="1" lang="zh-CN" altLang="en-US" sz="4400" b="1" spc="300" dirty="0">
                <a:solidFill>
                  <a:schemeClr val="accent5">
                    <a:lumMod val="50000"/>
                  </a:schemeClr>
                </a:solidFill>
                <a:latin typeface="微软雅黑" panose="020B0503020204020204" pitchFamily="34" charset="-122"/>
                <a:ea typeface="微软雅黑" panose="020B0503020204020204" pitchFamily="34" charset="-122"/>
              </a:rPr>
              <a:t>目录</a:t>
            </a:r>
          </a:p>
        </p:txBody>
      </p:sp>
      <p:sp>
        <p:nvSpPr>
          <p:cNvPr id="11" name="文本框 10"/>
          <p:cNvSpPr txBox="1"/>
          <p:nvPr/>
        </p:nvSpPr>
        <p:spPr>
          <a:xfrm>
            <a:off x="5585346" y="1313440"/>
            <a:ext cx="5823287" cy="523220"/>
          </a:xfrm>
          <a:prstGeom prst="rect">
            <a:avLst/>
          </a:prstGeom>
          <a:noFill/>
        </p:spPr>
        <p:txBody>
          <a:bodyPr wrap="square" rtlCol="0">
            <a:spAutoFit/>
          </a:bodyPr>
          <a:lstStyle/>
          <a:p>
            <a:r>
              <a:rPr kumimoji="1" lang="en-US" altLang="zh-CN"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1 .</a:t>
            </a:r>
            <a:r>
              <a:rPr kumimoji="1" lang="zh-CN" altLang="en-US"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 研究背景与文献概述</a:t>
            </a:r>
          </a:p>
        </p:txBody>
      </p:sp>
      <p:sp>
        <p:nvSpPr>
          <p:cNvPr id="13" name="文本框 12"/>
          <p:cNvSpPr txBox="1"/>
          <p:nvPr/>
        </p:nvSpPr>
        <p:spPr>
          <a:xfrm>
            <a:off x="5585346" y="3208768"/>
            <a:ext cx="5823287" cy="523220"/>
          </a:xfrm>
          <a:prstGeom prst="rect">
            <a:avLst/>
          </a:prstGeom>
          <a:noFill/>
        </p:spPr>
        <p:txBody>
          <a:bodyPr wrap="square" rtlCol="0">
            <a:spAutoFit/>
          </a:bodyPr>
          <a:lstStyle/>
          <a:p>
            <a:r>
              <a:rPr kumimoji="1" lang="en-US" altLang="zh-CN"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3 .</a:t>
            </a:r>
            <a:r>
              <a:rPr kumimoji="1" lang="zh-CN" altLang="en-US"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规划模块技术路线演进脉络</a:t>
            </a:r>
            <a:endParaRPr kumimoji="1" lang="en-GB" altLang="zh-CN"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endParaRPr>
          </a:p>
        </p:txBody>
      </p:sp>
      <p:sp>
        <p:nvSpPr>
          <p:cNvPr id="14" name="文本框 13"/>
          <p:cNvSpPr txBox="1"/>
          <p:nvPr/>
        </p:nvSpPr>
        <p:spPr>
          <a:xfrm>
            <a:off x="5585346" y="4156432"/>
            <a:ext cx="5823287" cy="523220"/>
          </a:xfrm>
          <a:prstGeom prst="rect">
            <a:avLst/>
          </a:prstGeom>
          <a:noFill/>
        </p:spPr>
        <p:txBody>
          <a:bodyPr wrap="square" rtlCol="0">
            <a:spAutoFit/>
          </a:bodyPr>
          <a:lstStyle/>
          <a:p>
            <a:r>
              <a:rPr kumimoji="1" lang="en-US" altLang="zh-CN"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4 .</a:t>
            </a:r>
            <a:r>
              <a:rPr kumimoji="1" lang="zh-CN" altLang="en-US"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当前挑战</a:t>
            </a:r>
            <a:endParaRPr kumimoji="1" lang="en-GB" altLang="zh-CN"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endParaRPr>
          </a:p>
        </p:txBody>
      </p:sp>
      <p:sp>
        <p:nvSpPr>
          <p:cNvPr id="16" name="文本框 15"/>
          <p:cNvSpPr txBox="1"/>
          <p:nvPr/>
        </p:nvSpPr>
        <p:spPr>
          <a:xfrm>
            <a:off x="5585346" y="2261104"/>
            <a:ext cx="5823287" cy="523220"/>
          </a:xfrm>
          <a:prstGeom prst="rect">
            <a:avLst/>
          </a:prstGeom>
          <a:noFill/>
        </p:spPr>
        <p:txBody>
          <a:bodyPr wrap="square" rtlCol="0">
            <a:spAutoFit/>
          </a:bodyPr>
          <a:lstStyle/>
          <a:p>
            <a:r>
              <a:rPr kumimoji="1" lang="en-US" altLang="zh-CN"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2 .</a:t>
            </a:r>
            <a:r>
              <a:rPr kumimoji="1" lang="zh-CN" altLang="en-US"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感知模块技术路线演进脉络</a:t>
            </a:r>
            <a:endParaRPr kumimoji="1" lang="en-GB" altLang="zh-CN"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endParaRPr>
          </a:p>
        </p:txBody>
      </p:sp>
      <p:sp>
        <p:nvSpPr>
          <p:cNvPr id="3" name="文本框 2">
            <a:extLst>
              <a:ext uri="{FF2B5EF4-FFF2-40B4-BE49-F238E27FC236}">
                <a16:creationId xmlns:a16="http://schemas.microsoft.com/office/drawing/2014/main" id="{BD929AC7-44C4-FEFE-A25E-CB453A3AEF56}"/>
              </a:ext>
            </a:extLst>
          </p:cNvPr>
          <p:cNvSpPr txBox="1"/>
          <p:nvPr/>
        </p:nvSpPr>
        <p:spPr>
          <a:xfrm>
            <a:off x="5585345" y="5104096"/>
            <a:ext cx="5823287" cy="523220"/>
          </a:xfrm>
          <a:prstGeom prst="rect">
            <a:avLst/>
          </a:prstGeom>
          <a:noFill/>
        </p:spPr>
        <p:txBody>
          <a:bodyPr wrap="square" rtlCol="0">
            <a:spAutoFit/>
          </a:bodyPr>
          <a:lstStyle/>
          <a:p>
            <a:r>
              <a:rPr kumimoji="1" lang="en-US" altLang="zh-CN"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5 .</a:t>
            </a:r>
            <a:r>
              <a:rPr kumimoji="1" lang="zh-CN" altLang="en-US"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未来展望</a:t>
            </a:r>
            <a:endParaRPr kumimoji="1" lang="en-GB" altLang="zh-CN" sz="28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V="1">
            <a:off x="2043767" y="4422098"/>
            <a:ext cx="8104466" cy="45719"/>
          </a:xfrm>
          <a:prstGeom prst="rect">
            <a:avLst/>
          </a:prstGeom>
          <a:solidFill>
            <a:schemeClr val="tx1">
              <a:alpha val="39918"/>
            </a:schemeClr>
          </a:solidFill>
          <a:ln>
            <a:noFill/>
          </a:ln>
          <a:effectLst>
            <a:outerShdw blurRad="387740" dist="38100" algn="l" rotWithShape="0">
              <a:schemeClr val="accent1">
                <a:lumMod val="75000"/>
                <a:alpha val="14476"/>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nvSpPr>
        <p:spPr>
          <a:xfrm>
            <a:off x="2176266" y="3191072"/>
            <a:ext cx="7839467" cy="769441"/>
          </a:xfrm>
          <a:prstGeom prst="rect">
            <a:avLst/>
          </a:prstGeom>
          <a:noFill/>
        </p:spPr>
        <p:txBody>
          <a:bodyPr wrap="square" rtlCol="0">
            <a:spAutoFit/>
          </a:bodyPr>
          <a:lstStyle/>
          <a:p>
            <a:pPr algn="ctr"/>
            <a:r>
              <a:rPr kumimoji="1" lang="zh-CN" altLang="en-US" sz="44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研究背景与文献概述</a:t>
            </a:r>
            <a:endParaRPr kumimoji="1" lang="zh-CN" altLang="en-US" sz="4400" b="1" dirty="0">
              <a:solidFill>
                <a:srgbClr val="3B87CD"/>
              </a:solidFill>
              <a:latin typeface="Arial" panose="020B0604020202020204" pitchFamily="34" charset="0"/>
              <a:cs typeface="Arial" panose="020B0604020202020204" pitchFamily="34" charset="0"/>
            </a:endParaRPr>
          </a:p>
        </p:txBody>
      </p:sp>
      <p:sp>
        <p:nvSpPr>
          <p:cNvPr id="10" name="文本框 9"/>
          <p:cNvSpPr txBox="1"/>
          <p:nvPr/>
        </p:nvSpPr>
        <p:spPr>
          <a:xfrm>
            <a:off x="5033045" y="2128047"/>
            <a:ext cx="2125909" cy="769441"/>
          </a:xfrm>
          <a:prstGeom prst="rect">
            <a:avLst/>
          </a:prstGeom>
          <a:noFill/>
        </p:spPr>
        <p:txBody>
          <a:bodyPr wrap="square" rtlCol="0">
            <a:spAutoFit/>
          </a:bodyPr>
          <a:lstStyle/>
          <a:p>
            <a:pPr algn="ctr"/>
            <a:r>
              <a:rPr kumimoji="1" lang="en-US" altLang="zh-CN" sz="4400" b="1" dirty="0">
                <a:solidFill>
                  <a:srgbClr val="3B87CD"/>
                </a:solidFill>
                <a:latin typeface="Arial" panose="020B0604020202020204" pitchFamily="34" charset="0"/>
                <a:cs typeface="Arial" panose="020B0604020202020204" pitchFamily="34" charset="0"/>
              </a:rPr>
              <a:t>01</a:t>
            </a:r>
            <a:endParaRPr kumimoji="1" lang="zh-CN" altLang="en-US" sz="4400" b="1" dirty="0">
              <a:solidFill>
                <a:srgbClr val="3B87CD"/>
              </a:solidFill>
              <a:latin typeface="Arial" panose="020B0604020202020204" pitchFamily="34" charset="0"/>
              <a:cs typeface="Arial" panose="020B0604020202020204" pitchFamily="34" charset="0"/>
            </a:endParaRPr>
          </a:p>
        </p:txBody>
      </p:sp>
      <p:sp>
        <p:nvSpPr>
          <p:cNvPr id="11" name="椭圆 10"/>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灯片编号占位符 18"/>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a:t>
            </a:fld>
            <a:endParaRPr kumimoji="1" lang="zh-CN" altLang="en-US" dirty="0">
              <a:solidFill>
                <a:schemeClr val="bg1"/>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线连接符 13"/>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研究背景与文献概述</a:t>
            </a:r>
          </a:p>
        </p:txBody>
      </p:sp>
      <p:sp>
        <p:nvSpPr>
          <p:cNvPr id="4" name="椭圆 3"/>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灯片编号占位符 18"/>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a:t>
            </a:fld>
            <a:endParaRPr kumimoji="1" lang="zh-CN" altLang="en-US" dirty="0">
              <a:solidFill>
                <a:schemeClr val="bg1"/>
              </a:solidFill>
              <a:latin typeface="Arial" panose="020B0604020202020204" pitchFamily="34" charset="0"/>
              <a:cs typeface="Arial" panose="020B0604020202020204" pitchFamily="34" charset="0"/>
            </a:endParaRPr>
          </a:p>
        </p:txBody>
      </p:sp>
      <p:grpSp>
        <p:nvGrpSpPr>
          <p:cNvPr id="32" name="组合 31">
            <a:extLst>
              <a:ext uri="{FF2B5EF4-FFF2-40B4-BE49-F238E27FC236}">
                <a16:creationId xmlns:a16="http://schemas.microsoft.com/office/drawing/2014/main" id="{F0A7AB5B-5399-A4B7-29FC-6D1F6BC1F700}"/>
              </a:ext>
            </a:extLst>
          </p:cNvPr>
          <p:cNvGrpSpPr/>
          <p:nvPr/>
        </p:nvGrpSpPr>
        <p:grpSpPr>
          <a:xfrm>
            <a:off x="0" y="0"/>
            <a:ext cx="1433384" cy="6858000"/>
            <a:chOff x="0" y="0"/>
            <a:chExt cx="1433384" cy="6858000"/>
          </a:xfrm>
        </p:grpSpPr>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198050" y="3535621"/>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10" name="文本框 9"/>
            <p:cNvSpPr txBox="1"/>
            <p:nvPr/>
          </p:nvSpPr>
          <p:spPr>
            <a:xfrm>
              <a:off x="198050" y="434810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11" name="文本框 10"/>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8" name="矩形 7">
              <a:extLst>
                <a:ext uri="{FF2B5EF4-FFF2-40B4-BE49-F238E27FC236}">
                  <a16:creationId xmlns:a16="http://schemas.microsoft.com/office/drawing/2014/main" id="{2D72AF5F-156E-30AA-65D3-45496AB59479}"/>
                </a:ext>
              </a:extLst>
            </p:cNvPr>
            <p:cNvSpPr/>
            <p:nvPr/>
          </p:nvSpPr>
          <p:spPr>
            <a:xfrm>
              <a:off x="0" y="0"/>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AF78A8E7-AE0B-FD56-B3D3-26E084A75143}"/>
                </a:ext>
              </a:extLst>
            </p:cNvPr>
            <p:cNvSpPr txBox="1"/>
            <p:nvPr/>
          </p:nvSpPr>
          <p:spPr>
            <a:xfrm>
              <a:off x="178307" y="2883666"/>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sp>
          <p:nvSpPr>
            <p:cNvPr id="23" name="文本框 22">
              <a:extLst>
                <a:ext uri="{FF2B5EF4-FFF2-40B4-BE49-F238E27FC236}">
                  <a16:creationId xmlns:a16="http://schemas.microsoft.com/office/drawing/2014/main" id="{D64C2188-E56D-6F03-723D-B34594EC8D3B}"/>
                </a:ext>
              </a:extLst>
            </p:cNvPr>
            <p:cNvSpPr txBox="1"/>
            <p:nvPr/>
          </p:nvSpPr>
          <p:spPr>
            <a:xfrm>
              <a:off x="178307" y="4041335"/>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4" name="文本框 23">
              <a:extLst>
                <a:ext uri="{FF2B5EF4-FFF2-40B4-BE49-F238E27FC236}">
                  <a16:creationId xmlns:a16="http://schemas.microsoft.com/office/drawing/2014/main" id="{4905F62F-68DA-D50A-7479-4E9DE0288B99}"/>
                </a:ext>
              </a:extLst>
            </p:cNvPr>
            <p:cNvSpPr txBox="1"/>
            <p:nvPr/>
          </p:nvSpPr>
          <p:spPr>
            <a:xfrm>
              <a:off x="178307" y="5199004"/>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grpSp>
          <p:nvGrpSpPr>
            <p:cNvPr id="22" name="组合 21">
              <a:extLst>
                <a:ext uri="{FF2B5EF4-FFF2-40B4-BE49-F238E27FC236}">
                  <a16:creationId xmlns:a16="http://schemas.microsoft.com/office/drawing/2014/main" id="{483473F7-1F5D-0D39-E921-016E99E772A0}"/>
                </a:ext>
              </a:extLst>
            </p:cNvPr>
            <p:cNvGrpSpPr/>
            <p:nvPr/>
          </p:nvGrpSpPr>
          <p:grpSpPr>
            <a:xfrm>
              <a:off x="0" y="1725997"/>
              <a:ext cx="1433384" cy="646331"/>
              <a:chOff x="0" y="1725997"/>
              <a:chExt cx="1433384" cy="646331"/>
            </a:xfrm>
          </p:grpSpPr>
          <p:sp>
            <p:nvSpPr>
              <p:cNvPr id="25" name="矩形 24">
                <a:extLst>
                  <a:ext uri="{FF2B5EF4-FFF2-40B4-BE49-F238E27FC236}">
                    <a16:creationId xmlns:a16="http://schemas.microsoft.com/office/drawing/2014/main" id="{111FF851-BB7C-0263-12FE-197E9D0C3DDF}"/>
                  </a:ext>
                </a:extLst>
              </p:cNvPr>
              <p:cNvSpPr/>
              <p:nvPr/>
            </p:nvSpPr>
            <p:spPr>
              <a:xfrm>
                <a:off x="0" y="172599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A303F450-F2C0-BD52-88B6-29F82F328DB4}"/>
                  </a:ext>
                </a:extLst>
              </p:cNvPr>
              <p:cNvSpPr txBox="1"/>
              <p:nvPr/>
            </p:nvSpPr>
            <p:spPr>
              <a:xfrm>
                <a:off x="198050" y="1818329"/>
                <a:ext cx="1076770" cy="461665"/>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研究背景与文献概述</a:t>
                </a:r>
              </a:p>
            </p:txBody>
          </p:sp>
        </p:grpSp>
        <p:pic>
          <p:nvPicPr>
            <p:cNvPr id="17" name="图片 16">
              <a:extLst>
                <a:ext uri="{FF2B5EF4-FFF2-40B4-BE49-F238E27FC236}">
                  <a16:creationId xmlns:a16="http://schemas.microsoft.com/office/drawing/2014/main" id="{308DBCC3-56C0-9361-622D-5ABA02E2EDCB}"/>
                </a:ext>
              </a:extLst>
            </p:cNvPr>
            <p:cNvPicPr>
              <a:picLocks noChangeAspect="1"/>
            </p:cNvPicPr>
            <p:nvPr/>
          </p:nvPicPr>
          <p:blipFill>
            <a:blip r:embed="rId3"/>
            <a:stretch>
              <a:fillRect/>
            </a:stretch>
          </p:blipFill>
          <p:spPr>
            <a:xfrm>
              <a:off x="50800" y="197474"/>
              <a:ext cx="1331784" cy="954865"/>
            </a:xfrm>
            <a:prstGeom prst="rect">
              <a:avLst/>
            </a:prstGeom>
          </p:spPr>
        </p:pic>
        <p:sp>
          <p:nvSpPr>
            <p:cNvPr id="20" name="文本框 19">
              <a:extLst>
                <a:ext uri="{FF2B5EF4-FFF2-40B4-BE49-F238E27FC236}">
                  <a16:creationId xmlns:a16="http://schemas.microsoft.com/office/drawing/2014/main" id="{D5DE3D6E-5B4D-A0AF-F1F4-6B8C8A0DA4B2}"/>
                </a:ext>
              </a:extLst>
            </p:cNvPr>
            <p:cNvSpPr txBox="1"/>
            <p:nvPr/>
          </p:nvSpPr>
          <p:spPr>
            <a:xfrm>
              <a:off x="178307" y="5987340"/>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grpSp>
      <p:sp>
        <p:nvSpPr>
          <p:cNvPr id="5" name="文本框 4">
            <a:extLst>
              <a:ext uri="{FF2B5EF4-FFF2-40B4-BE49-F238E27FC236}">
                <a16:creationId xmlns:a16="http://schemas.microsoft.com/office/drawing/2014/main" id="{73FB4D70-CE44-527F-1610-EC5F677B79EF}"/>
              </a:ext>
            </a:extLst>
          </p:cNvPr>
          <p:cNvSpPr txBox="1"/>
          <p:nvPr/>
        </p:nvSpPr>
        <p:spPr>
          <a:xfrm>
            <a:off x="2101516" y="1152339"/>
            <a:ext cx="9858047" cy="338554"/>
          </a:xfrm>
          <a:prstGeom prst="rect">
            <a:avLst/>
          </a:prstGeom>
          <a:noFill/>
        </p:spPr>
        <p:txBody>
          <a:bodyPr wrap="square" rtlCol="0">
            <a:spAutoFit/>
          </a:bodyPr>
          <a:lstStyle/>
          <a:p>
            <a:pPr>
              <a:buSzPct val="85000"/>
            </a:pPr>
            <a:r>
              <a:rPr kumimoji="1" lang="zh-CN" altLang="en-US" sz="16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核心文献：</a:t>
            </a:r>
            <a:r>
              <a:rPr kumimoji="1" lang="en-US" altLang="zh-CN" sz="16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a:t>
            </a:r>
            <a:r>
              <a:rPr kumimoji="1" lang="en-US" altLang="zh-CN" sz="1600" b="1" dirty="0">
                <a:solidFill>
                  <a:schemeClr val="accent5">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Milestones in Autonomous Driving and Intelligent Vehicles—Part </a:t>
            </a:r>
            <a:r>
              <a:rPr kumimoji="1" lang="en-US" altLang="zh-CN" sz="1600" b="1" dirty="0" err="1">
                <a:solidFill>
                  <a:schemeClr val="accent5">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II:Perception</a:t>
            </a:r>
            <a:r>
              <a:rPr kumimoji="1" lang="en-US" altLang="zh-CN" sz="1600" b="1" dirty="0">
                <a:solidFill>
                  <a:schemeClr val="accent5">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and Planning</a:t>
            </a:r>
            <a:r>
              <a:rPr kumimoji="1" lang="en-US" altLang="zh-CN" sz="16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a:t>
            </a:r>
            <a:endParaRPr kumimoji="1" lang="zh-CN" altLang="en-US" sz="16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5" name="图片 14">
            <a:extLst>
              <a:ext uri="{FF2B5EF4-FFF2-40B4-BE49-F238E27FC236}">
                <a16:creationId xmlns:a16="http://schemas.microsoft.com/office/drawing/2014/main" id="{A02D8DEA-4DB8-B7EB-46CF-1BFA72510B3E}"/>
              </a:ext>
            </a:extLst>
          </p:cNvPr>
          <p:cNvPicPr>
            <a:picLocks noChangeAspect="1"/>
          </p:cNvPicPr>
          <p:nvPr/>
        </p:nvPicPr>
        <p:blipFill>
          <a:blip r:embed="rId4"/>
          <a:stretch>
            <a:fillRect/>
          </a:stretch>
        </p:blipFill>
        <p:spPr>
          <a:xfrm>
            <a:off x="2018684" y="1906609"/>
            <a:ext cx="5509899" cy="4395619"/>
          </a:xfrm>
          <a:prstGeom prst="rect">
            <a:avLst/>
          </a:prstGeom>
        </p:spPr>
      </p:pic>
      <p:grpSp>
        <p:nvGrpSpPr>
          <p:cNvPr id="28" name="组合 27">
            <a:extLst>
              <a:ext uri="{FF2B5EF4-FFF2-40B4-BE49-F238E27FC236}">
                <a16:creationId xmlns:a16="http://schemas.microsoft.com/office/drawing/2014/main" id="{16A2BB25-C7DA-CC6D-53E8-F3D908D8E1D1}"/>
              </a:ext>
            </a:extLst>
          </p:cNvPr>
          <p:cNvGrpSpPr/>
          <p:nvPr/>
        </p:nvGrpSpPr>
        <p:grpSpPr>
          <a:xfrm>
            <a:off x="7796818" y="2008708"/>
            <a:ext cx="4031952" cy="1420292"/>
            <a:chOff x="7796818" y="2008708"/>
            <a:chExt cx="4031952" cy="1420292"/>
          </a:xfrm>
        </p:grpSpPr>
        <p:sp>
          <p:nvSpPr>
            <p:cNvPr id="27" name="椭圆 26">
              <a:extLst>
                <a:ext uri="{FF2B5EF4-FFF2-40B4-BE49-F238E27FC236}">
                  <a16:creationId xmlns:a16="http://schemas.microsoft.com/office/drawing/2014/main" id="{77B50B71-0751-85D1-7FA5-1556D7AD86BE}"/>
                </a:ext>
              </a:extLst>
            </p:cNvPr>
            <p:cNvSpPr/>
            <p:nvPr/>
          </p:nvSpPr>
          <p:spPr>
            <a:xfrm>
              <a:off x="7796818" y="2008708"/>
              <a:ext cx="4031952" cy="1420292"/>
            </a:xfrm>
            <a:prstGeom prst="ellipse">
              <a:avLst/>
            </a:prstGeom>
            <a:solidFill>
              <a:schemeClr val="bg1"/>
            </a:solidFill>
            <a:ln>
              <a:solidFill>
                <a:schemeClr val="accent1"/>
              </a:solidFill>
            </a:ln>
            <a:effectLst>
              <a:outerShdw blurRad="150162"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3B87CD"/>
                </a:solidFill>
              </a:endParaRPr>
            </a:p>
          </p:txBody>
        </p:sp>
        <p:sp>
          <p:nvSpPr>
            <p:cNvPr id="19" name="文本框 18">
              <a:extLst>
                <a:ext uri="{FF2B5EF4-FFF2-40B4-BE49-F238E27FC236}">
                  <a16:creationId xmlns:a16="http://schemas.microsoft.com/office/drawing/2014/main" id="{099F8396-CA27-FABA-C9DE-DB92E56A0EE4}"/>
                </a:ext>
              </a:extLst>
            </p:cNvPr>
            <p:cNvSpPr txBox="1"/>
            <p:nvPr/>
          </p:nvSpPr>
          <p:spPr>
            <a:xfrm>
              <a:off x="8237199" y="2283501"/>
              <a:ext cx="3446899" cy="923330"/>
            </a:xfrm>
            <a:prstGeom prst="rect">
              <a:avLst/>
            </a:prstGeom>
            <a:noFill/>
          </p:spPr>
          <p:txBody>
            <a:bodyPr wrap="square">
              <a:spAutoFit/>
            </a:bodyPr>
            <a:lstStyle/>
            <a:p>
              <a:r>
                <a:rPr lang="zh-CN" altLang="zh-CN" sz="1800" i="0" dirty="0">
                  <a:solidFill>
                    <a:schemeClr val="tx1"/>
                  </a:solidFill>
                  <a:effectLst/>
                  <a:latin typeface="方正小标宋简体" panose="02010601030101010101" pitchFamily="2" charset="-122"/>
                  <a:ea typeface="方正小标宋简体" panose="02010601030101010101" pitchFamily="2" charset="-122"/>
                </a:rPr>
                <a:t>感知模块</a:t>
              </a:r>
              <a:r>
                <a:rPr lang="en-US" altLang="zh-CN" sz="1800" i="0" dirty="0">
                  <a:solidFill>
                    <a:schemeClr val="tx1"/>
                  </a:solidFill>
                  <a:effectLst/>
                  <a:latin typeface="方正小标宋简体" panose="02010601030101010101" pitchFamily="2" charset="-122"/>
                  <a:ea typeface="方正小标宋简体" panose="02010601030101010101" pitchFamily="2" charset="-122"/>
                </a:rPr>
                <a:t>:</a:t>
              </a:r>
              <a:r>
                <a:rPr lang="zh-CN" altLang="en-US" sz="1800" i="0" dirty="0">
                  <a:solidFill>
                    <a:schemeClr val="tx1"/>
                  </a:solidFill>
                  <a:effectLst/>
                  <a:latin typeface="方正小标宋简体" panose="02010601030101010101" pitchFamily="2" charset="-122"/>
                  <a:ea typeface="方正小标宋简体" panose="02010601030101010101" pitchFamily="2" charset="-122"/>
                </a:rPr>
                <a:t>为</a:t>
              </a:r>
              <a:r>
                <a:rPr lang="zh-CN" altLang="zh-CN" dirty="0">
                  <a:latin typeface="方正小标宋简体" panose="02010601030101010101" pitchFamily="2" charset="-122"/>
                  <a:ea typeface="方正小标宋简体" panose="02010601030101010101" pitchFamily="2" charset="-122"/>
                </a:rPr>
                <a:t>自动驾驶提供周围环境信息，主要包括定位、目标检测、场景理解、预测和跟踪</a:t>
              </a:r>
              <a:endParaRPr lang="zh-CN" altLang="en-US" dirty="0">
                <a:latin typeface="方正小标宋简体" panose="02010601030101010101" pitchFamily="2" charset="-122"/>
                <a:ea typeface="方正小标宋简体" panose="02010601030101010101" pitchFamily="2" charset="-122"/>
              </a:endParaRPr>
            </a:p>
          </p:txBody>
        </p:sp>
      </p:grpSp>
      <p:grpSp>
        <p:nvGrpSpPr>
          <p:cNvPr id="29" name="组合 28">
            <a:extLst>
              <a:ext uri="{FF2B5EF4-FFF2-40B4-BE49-F238E27FC236}">
                <a16:creationId xmlns:a16="http://schemas.microsoft.com/office/drawing/2014/main" id="{4E081C13-4C46-CCB6-A469-C8147F70D16F}"/>
              </a:ext>
            </a:extLst>
          </p:cNvPr>
          <p:cNvGrpSpPr/>
          <p:nvPr/>
        </p:nvGrpSpPr>
        <p:grpSpPr>
          <a:xfrm>
            <a:off x="7796818" y="4414365"/>
            <a:ext cx="4031952" cy="1420292"/>
            <a:chOff x="7796818" y="2008708"/>
            <a:chExt cx="4031952" cy="1420292"/>
          </a:xfrm>
        </p:grpSpPr>
        <p:sp>
          <p:nvSpPr>
            <p:cNvPr id="30" name="椭圆 29">
              <a:extLst>
                <a:ext uri="{FF2B5EF4-FFF2-40B4-BE49-F238E27FC236}">
                  <a16:creationId xmlns:a16="http://schemas.microsoft.com/office/drawing/2014/main" id="{EFDA13FB-01EB-7605-B2DD-36548125EC1E}"/>
                </a:ext>
              </a:extLst>
            </p:cNvPr>
            <p:cNvSpPr/>
            <p:nvPr/>
          </p:nvSpPr>
          <p:spPr>
            <a:xfrm>
              <a:off x="7796818" y="2008708"/>
              <a:ext cx="4031952" cy="1420292"/>
            </a:xfrm>
            <a:prstGeom prst="ellipse">
              <a:avLst/>
            </a:prstGeom>
            <a:solidFill>
              <a:schemeClr val="bg1"/>
            </a:solidFill>
            <a:ln>
              <a:solidFill>
                <a:schemeClr val="accent1"/>
              </a:solidFill>
            </a:ln>
            <a:effectLst>
              <a:outerShdw blurRad="150162"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3B87CD"/>
                </a:solidFill>
              </a:endParaRPr>
            </a:p>
          </p:txBody>
        </p:sp>
        <p:sp>
          <p:nvSpPr>
            <p:cNvPr id="31" name="文本框 30">
              <a:extLst>
                <a:ext uri="{FF2B5EF4-FFF2-40B4-BE49-F238E27FC236}">
                  <a16:creationId xmlns:a16="http://schemas.microsoft.com/office/drawing/2014/main" id="{A223A145-0379-27B7-9199-1FA7E446AF6B}"/>
                </a:ext>
              </a:extLst>
            </p:cNvPr>
            <p:cNvSpPr txBox="1"/>
            <p:nvPr/>
          </p:nvSpPr>
          <p:spPr>
            <a:xfrm>
              <a:off x="8237199" y="2283501"/>
              <a:ext cx="3446899" cy="923330"/>
            </a:xfrm>
            <a:prstGeom prst="rect">
              <a:avLst/>
            </a:prstGeom>
            <a:noFill/>
          </p:spPr>
          <p:txBody>
            <a:bodyPr wrap="square">
              <a:spAutoFit/>
            </a:bodyPr>
            <a:lstStyle/>
            <a:p>
              <a:r>
                <a:rPr lang="zh-CN" altLang="en-US" sz="1800" i="0" dirty="0">
                  <a:solidFill>
                    <a:schemeClr val="tx1"/>
                  </a:solidFill>
                  <a:effectLst/>
                  <a:latin typeface="方正小标宋简体" panose="02010601030101010101" pitchFamily="2" charset="-122"/>
                  <a:ea typeface="方正小标宋简体" panose="02010601030101010101" pitchFamily="2" charset="-122"/>
                </a:rPr>
                <a:t>规划模块</a:t>
              </a:r>
              <a:r>
                <a:rPr lang="en-US" altLang="zh-CN" sz="1800" i="0" dirty="0">
                  <a:solidFill>
                    <a:schemeClr val="tx1"/>
                  </a:solidFill>
                  <a:effectLst/>
                  <a:latin typeface="方正小标宋简体" panose="02010601030101010101" pitchFamily="2" charset="-122"/>
                  <a:ea typeface="方正小标宋简体" panose="02010601030101010101" pitchFamily="2" charset="-122"/>
                </a:rPr>
                <a:t>:</a:t>
              </a:r>
              <a:r>
                <a:rPr lang="zh-CN" altLang="en-US" sz="1800" i="0" dirty="0">
                  <a:solidFill>
                    <a:schemeClr val="tx1"/>
                  </a:solidFill>
                  <a:effectLst/>
                  <a:latin typeface="方正小标宋简体" panose="02010601030101010101" pitchFamily="2" charset="-122"/>
                  <a:ea typeface="方正小标宋简体" panose="02010601030101010101" pitchFamily="2" charset="-122"/>
                </a:rPr>
                <a:t>负责为底层控制器寻找局部轨迹，包括全局路线规划、局部行为规划和局部轨迹规划</a:t>
              </a:r>
              <a:endParaRPr lang="zh-CN" altLang="en-US" dirty="0">
                <a:latin typeface="方正小标宋简体" panose="02010601030101010101" pitchFamily="2" charset="-122"/>
                <a:ea typeface="方正小标宋简体" panose="02010601030101010101" pitchFamily="2" charset="-122"/>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线连接符 13"/>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研究背景与文献概述</a:t>
            </a:r>
          </a:p>
        </p:txBody>
      </p:sp>
      <p:sp>
        <p:nvSpPr>
          <p:cNvPr id="42" name="椭圆 41"/>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灯片编号占位符 18"/>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5</a:t>
            </a:fld>
            <a:endParaRPr kumimoji="1" lang="zh-CN" altLang="en-US" dirty="0">
              <a:solidFill>
                <a:schemeClr val="bg1"/>
              </a:solidFill>
              <a:latin typeface="Arial" panose="020B0604020202020204" pitchFamily="34" charset="0"/>
              <a:cs typeface="Arial" panose="020B0604020202020204" pitchFamily="34" charset="0"/>
            </a:endParaRPr>
          </a:p>
        </p:txBody>
      </p:sp>
      <p:grpSp>
        <p:nvGrpSpPr>
          <p:cNvPr id="8" name="组合 7">
            <a:extLst>
              <a:ext uri="{FF2B5EF4-FFF2-40B4-BE49-F238E27FC236}">
                <a16:creationId xmlns:a16="http://schemas.microsoft.com/office/drawing/2014/main" id="{1105541C-2D62-CF37-ED19-736A4CA71AE5}"/>
              </a:ext>
            </a:extLst>
          </p:cNvPr>
          <p:cNvGrpSpPr/>
          <p:nvPr/>
        </p:nvGrpSpPr>
        <p:grpSpPr>
          <a:xfrm>
            <a:off x="0" y="0"/>
            <a:ext cx="1433384" cy="6858000"/>
            <a:chOff x="0" y="0"/>
            <a:chExt cx="1433384" cy="6858000"/>
          </a:xfrm>
        </p:grpSpPr>
        <p:pic>
          <p:nvPicPr>
            <p:cNvPr id="13" name="Picture 2">
              <a:extLst>
                <a:ext uri="{FF2B5EF4-FFF2-40B4-BE49-F238E27FC236}">
                  <a16:creationId xmlns:a16="http://schemas.microsoft.com/office/drawing/2014/main" id="{56DFD715-0298-1F98-E7CB-DE8E08A3E8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3A397647-0E2B-EAFF-AC81-340B69E92190}"/>
                </a:ext>
              </a:extLst>
            </p:cNvPr>
            <p:cNvSpPr txBox="1"/>
            <p:nvPr/>
          </p:nvSpPr>
          <p:spPr>
            <a:xfrm>
              <a:off x="198050" y="3535621"/>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17" name="文本框 16">
              <a:extLst>
                <a:ext uri="{FF2B5EF4-FFF2-40B4-BE49-F238E27FC236}">
                  <a16:creationId xmlns:a16="http://schemas.microsoft.com/office/drawing/2014/main" id="{9D121174-DD69-B692-7B9F-19DCDB748A39}"/>
                </a:ext>
              </a:extLst>
            </p:cNvPr>
            <p:cNvSpPr txBox="1"/>
            <p:nvPr/>
          </p:nvSpPr>
          <p:spPr>
            <a:xfrm>
              <a:off x="198050" y="434810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4" name="文本框 23">
              <a:extLst>
                <a:ext uri="{FF2B5EF4-FFF2-40B4-BE49-F238E27FC236}">
                  <a16:creationId xmlns:a16="http://schemas.microsoft.com/office/drawing/2014/main" id="{A2D3E62D-E7FE-346A-0966-3E15EDB8B201}"/>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7" name="文本框 26">
              <a:extLst>
                <a:ext uri="{FF2B5EF4-FFF2-40B4-BE49-F238E27FC236}">
                  <a16:creationId xmlns:a16="http://schemas.microsoft.com/office/drawing/2014/main" id="{841584AE-1BF3-0991-225A-DBD8E680D14D}"/>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30" name="矩形 29">
              <a:extLst>
                <a:ext uri="{FF2B5EF4-FFF2-40B4-BE49-F238E27FC236}">
                  <a16:creationId xmlns:a16="http://schemas.microsoft.com/office/drawing/2014/main" id="{D854B3B6-79B0-3555-A915-94C347DF3A7B}"/>
                </a:ext>
              </a:extLst>
            </p:cNvPr>
            <p:cNvSpPr/>
            <p:nvPr/>
          </p:nvSpPr>
          <p:spPr>
            <a:xfrm>
              <a:off x="0" y="0"/>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文本框 30">
              <a:extLst>
                <a:ext uri="{FF2B5EF4-FFF2-40B4-BE49-F238E27FC236}">
                  <a16:creationId xmlns:a16="http://schemas.microsoft.com/office/drawing/2014/main" id="{A43E5812-A504-03EB-5BC2-2E575395E49B}"/>
                </a:ext>
              </a:extLst>
            </p:cNvPr>
            <p:cNvSpPr txBox="1"/>
            <p:nvPr/>
          </p:nvSpPr>
          <p:spPr>
            <a:xfrm>
              <a:off x="178307" y="2883666"/>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sp>
          <p:nvSpPr>
            <p:cNvPr id="33" name="文本框 32">
              <a:extLst>
                <a:ext uri="{FF2B5EF4-FFF2-40B4-BE49-F238E27FC236}">
                  <a16:creationId xmlns:a16="http://schemas.microsoft.com/office/drawing/2014/main" id="{E0130CA2-1F87-8C0D-AAAF-830A863EB928}"/>
                </a:ext>
              </a:extLst>
            </p:cNvPr>
            <p:cNvSpPr txBox="1"/>
            <p:nvPr/>
          </p:nvSpPr>
          <p:spPr>
            <a:xfrm>
              <a:off x="178307" y="4041335"/>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34" name="文本框 33">
              <a:extLst>
                <a:ext uri="{FF2B5EF4-FFF2-40B4-BE49-F238E27FC236}">
                  <a16:creationId xmlns:a16="http://schemas.microsoft.com/office/drawing/2014/main" id="{9E0A9702-45A0-FF5B-20CD-AA92C8128E7B}"/>
                </a:ext>
              </a:extLst>
            </p:cNvPr>
            <p:cNvSpPr txBox="1"/>
            <p:nvPr/>
          </p:nvSpPr>
          <p:spPr>
            <a:xfrm>
              <a:off x="178307" y="5199004"/>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grpSp>
          <p:nvGrpSpPr>
            <p:cNvPr id="35" name="组合 34">
              <a:extLst>
                <a:ext uri="{FF2B5EF4-FFF2-40B4-BE49-F238E27FC236}">
                  <a16:creationId xmlns:a16="http://schemas.microsoft.com/office/drawing/2014/main" id="{024BD1BF-11A2-B9A0-2673-2381DCA7D233}"/>
                </a:ext>
              </a:extLst>
            </p:cNvPr>
            <p:cNvGrpSpPr/>
            <p:nvPr/>
          </p:nvGrpSpPr>
          <p:grpSpPr>
            <a:xfrm>
              <a:off x="0" y="1725997"/>
              <a:ext cx="1433384" cy="646331"/>
              <a:chOff x="0" y="1725997"/>
              <a:chExt cx="1433384" cy="646331"/>
            </a:xfrm>
          </p:grpSpPr>
          <p:sp>
            <p:nvSpPr>
              <p:cNvPr id="46" name="矩形 45">
                <a:extLst>
                  <a:ext uri="{FF2B5EF4-FFF2-40B4-BE49-F238E27FC236}">
                    <a16:creationId xmlns:a16="http://schemas.microsoft.com/office/drawing/2014/main" id="{D654A6AE-6652-0C93-C7E0-DCDC00CDDBEA}"/>
                  </a:ext>
                </a:extLst>
              </p:cNvPr>
              <p:cNvSpPr/>
              <p:nvPr/>
            </p:nvSpPr>
            <p:spPr>
              <a:xfrm>
                <a:off x="0" y="172599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4867CE58-00AF-5433-E416-0410BC352EF3}"/>
                  </a:ext>
                </a:extLst>
              </p:cNvPr>
              <p:cNvSpPr txBox="1"/>
              <p:nvPr/>
            </p:nvSpPr>
            <p:spPr>
              <a:xfrm>
                <a:off x="198050" y="1818329"/>
                <a:ext cx="1076770" cy="461665"/>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研究背景与文献概述</a:t>
                </a:r>
              </a:p>
            </p:txBody>
          </p:sp>
        </p:grpSp>
        <p:pic>
          <p:nvPicPr>
            <p:cNvPr id="44" name="图片 43">
              <a:extLst>
                <a:ext uri="{FF2B5EF4-FFF2-40B4-BE49-F238E27FC236}">
                  <a16:creationId xmlns:a16="http://schemas.microsoft.com/office/drawing/2014/main" id="{6680C589-EF89-0D3F-C77B-C32F397A1471}"/>
                </a:ext>
              </a:extLst>
            </p:cNvPr>
            <p:cNvPicPr>
              <a:picLocks noChangeAspect="1"/>
            </p:cNvPicPr>
            <p:nvPr/>
          </p:nvPicPr>
          <p:blipFill>
            <a:blip r:embed="rId3"/>
            <a:stretch>
              <a:fillRect/>
            </a:stretch>
          </p:blipFill>
          <p:spPr>
            <a:xfrm>
              <a:off x="50800" y="197474"/>
              <a:ext cx="1331784" cy="954865"/>
            </a:xfrm>
            <a:prstGeom prst="rect">
              <a:avLst/>
            </a:prstGeom>
          </p:spPr>
        </p:pic>
        <p:sp>
          <p:nvSpPr>
            <p:cNvPr id="45" name="文本框 44">
              <a:extLst>
                <a:ext uri="{FF2B5EF4-FFF2-40B4-BE49-F238E27FC236}">
                  <a16:creationId xmlns:a16="http://schemas.microsoft.com/office/drawing/2014/main" id="{AD6289DD-BE13-5E10-1119-81BCF86BBADE}"/>
                </a:ext>
              </a:extLst>
            </p:cNvPr>
            <p:cNvSpPr txBox="1"/>
            <p:nvPr/>
          </p:nvSpPr>
          <p:spPr>
            <a:xfrm>
              <a:off x="178307" y="5987340"/>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grpSp>
      <p:pic>
        <p:nvPicPr>
          <p:cNvPr id="3" name="图片 2">
            <a:extLst>
              <a:ext uri="{FF2B5EF4-FFF2-40B4-BE49-F238E27FC236}">
                <a16:creationId xmlns:a16="http://schemas.microsoft.com/office/drawing/2014/main" id="{D37C1098-5E7C-BD4A-4828-C8BA401CE4EF}"/>
              </a:ext>
            </a:extLst>
          </p:cNvPr>
          <p:cNvPicPr>
            <a:picLocks noChangeAspect="1"/>
          </p:cNvPicPr>
          <p:nvPr/>
        </p:nvPicPr>
        <p:blipFill>
          <a:blip r:embed="rId4"/>
          <a:stretch>
            <a:fillRect/>
          </a:stretch>
        </p:blipFill>
        <p:spPr>
          <a:xfrm>
            <a:off x="2529970" y="1992432"/>
            <a:ext cx="7701932" cy="3206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6B55A-FF0F-4292-FE0E-CA1E286D9736}"/>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643789EE-C0C4-EB83-EBA7-6E0BA125F1A1}"/>
              </a:ext>
            </a:extLst>
          </p:cNvPr>
          <p:cNvSpPr/>
          <p:nvPr/>
        </p:nvSpPr>
        <p:spPr>
          <a:xfrm flipV="1">
            <a:off x="2043767" y="4422098"/>
            <a:ext cx="8104466" cy="45719"/>
          </a:xfrm>
          <a:prstGeom prst="rect">
            <a:avLst/>
          </a:prstGeom>
          <a:solidFill>
            <a:schemeClr val="accent1">
              <a:alpha val="39918"/>
            </a:schemeClr>
          </a:solidFill>
          <a:ln>
            <a:noFill/>
          </a:ln>
          <a:effectLst>
            <a:outerShdw blurRad="387740" dist="38100" algn="l" rotWithShape="0">
              <a:schemeClr val="accent1">
                <a:lumMod val="75000"/>
                <a:alpha val="14476"/>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5">
                  <a:lumMod val="50000"/>
                </a:schemeClr>
              </a:solidFill>
            </a:endParaRPr>
          </a:p>
        </p:txBody>
      </p:sp>
      <p:sp>
        <p:nvSpPr>
          <p:cNvPr id="9" name="文本框 8">
            <a:extLst>
              <a:ext uri="{FF2B5EF4-FFF2-40B4-BE49-F238E27FC236}">
                <a16:creationId xmlns:a16="http://schemas.microsoft.com/office/drawing/2014/main" id="{571632F0-94D1-C70F-BA22-C428B2EB378A}"/>
              </a:ext>
            </a:extLst>
          </p:cNvPr>
          <p:cNvSpPr txBox="1"/>
          <p:nvPr/>
        </p:nvSpPr>
        <p:spPr>
          <a:xfrm>
            <a:off x="2176267" y="3149211"/>
            <a:ext cx="7839467" cy="769441"/>
          </a:xfrm>
          <a:prstGeom prst="rect">
            <a:avLst/>
          </a:prstGeom>
          <a:noFill/>
        </p:spPr>
        <p:txBody>
          <a:bodyPr wrap="square" rtlCol="0">
            <a:spAutoFit/>
          </a:bodyPr>
          <a:lstStyle/>
          <a:p>
            <a:pPr algn="ctr"/>
            <a:r>
              <a:rPr kumimoji="1" lang="zh-CN" altLang="en-US" sz="4400" b="1" dirty="0">
                <a:solidFill>
                  <a:srgbClr val="3B87CD"/>
                </a:solidFill>
                <a:latin typeface="方正小标宋简体" panose="02010601030101010101" pitchFamily="2" charset="-122"/>
                <a:ea typeface="方正小标宋简体" panose="02010601030101010101" pitchFamily="2" charset="-122"/>
                <a:cs typeface="Arial" panose="020B0604020202020204" pitchFamily="34" charset="0"/>
              </a:rPr>
              <a:t>感知模块技术路线演进脉络</a:t>
            </a:r>
            <a:endParaRPr kumimoji="1" lang="zh-CN" altLang="en-US" sz="4400" b="1" dirty="0">
              <a:solidFill>
                <a:schemeClr val="accent5">
                  <a:lumMod val="50000"/>
                </a:schemeClr>
              </a:solidFill>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3108E25F-4E43-9208-58E7-94B88121D108}"/>
              </a:ext>
            </a:extLst>
          </p:cNvPr>
          <p:cNvSpPr txBox="1"/>
          <p:nvPr/>
        </p:nvSpPr>
        <p:spPr>
          <a:xfrm>
            <a:off x="5033045" y="2128047"/>
            <a:ext cx="2125909" cy="769441"/>
          </a:xfrm>
          <a:prstGeom prst="rect">
            <a:avLst/>
          </a:prstGeom>
          <a:noFill/>
        </p:spPr>
        <p:txBody>
          <a:bodyPr wrap="square" rtlCol="0">
            <a:spAutoFit/>
          </a:bodyPr>
          <a:lstStyle/>
          <a:p>
            <a:pPr algn="ctr"/>
            <a:r>
              <a:rPr kumimoji="1" lang="en-US" altLang="zh-CN" sz="4400" b="1" dirty="0">
                <a:solidFill>
                  <a:schemeClr val="accent5">
                    <a:lumMod val="75000"/>
                  </a:schemeClr>
                </a:solidFill>
                <a:latin typeface="Arial" panose="020B0604020202020204" pitchFamily="34" charset="0"/>
                <a:cs typeface="Arial" panose="020B0604020202020204" pitchFamily="34" charset="0"/>
              </a:rPr>
              <a:t>02</a:t>
            </a:r>
            <a:endParaRPr kumimoji="1" lang="zh-CN" altLang="en-US" sz="4400" b="1" dirty="0">
              <a:solidFill>
                <a:schemeClr val="accent5">
                  <a:lumMod val="75000"/>
                </a:schemeClr>
              </a:solidFill>
              <a:latin typeface="Arial" panose="020B0604020202020204" pitchFamily="34" charset="0"/>
              <a:cs typeface="Arial" panose="020B0604020202020204" pitchFamily="34" charset="0"/>
            </a:endParaRPr>
          </a:p>
        </p:txBody>
      </p:sp>
      <p:sp>
        <p:nvSpPr>
          <p:cNvPr id="2" name="椭圆 1">
            <a:extLst>
              <a:ext uri="{FF2B5EF4-FFF2-40B4-BE49-F238E27FC236}">
                <a16:creationId xmlns:a16="http://schemas.microsoft.com/office/drawing/2014/main" id="{54DD9603-1CE4-D51C-B22B-D2C3AA27B1D7}"/>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灯片编号占位符 18">
            <a:extLst>
              <a:ext uri="{FF2B5EF4-FFF2-40B4-BE49-F238E27FC236}">
                <a16:creationId xmlns:a16="http://schemas.microsoft.com/office/drawing/2014/main" id="{2D5E1494-8E05-3767-6426-B05EC98D25E0}"/>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6</a:t>
            </a:fld>
            <a:endParaRPr kumimoji="1" lang="zh-CN" alt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3099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定位</a:t>
            </a:r>
          </a:p>
        </p:txBody>
      </p:sp>
      <p:sp>
        <p:nvSpPr>
          <p:cNvPr id="29" name="椭圆 28"/>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7</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6681D4DA-A920-4AC9-72EF-E352F1E701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B029255B-116F-31C5-A5C8-96CD112FB64A}"/>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82029C84-0EC6-3873-1619-2C46C6D7378B}"/>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C01D0F47-1D8F-75E5-1FAE-6933DDCB82A8}"/>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857B1E61-1D06-D061-15BC-EB34E3E0510A}"/>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E37B1ECC-4256-7FB1-F7C9-B941582972D0}"/>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66FE1420-479B-2651-4E82-DA960D82DF00}"/>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69464063-04B6-F6D2-3841-202BB235AE9E}"/>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3FBDE2A9-4559-90EE-355C-E02DB537E23B}"/>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741012BA-A9F6-7725-207F-528D45B4C5EF}"/>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6ACB28B8-CF2E-CE01-666C-74090AEDEFA4}"/>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A1206B4A-6A80-4BBA-E7D4-D3ED92405996}"/>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234B28BB-847F-D2B3-C217-4C367C161279}"/>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9034262C-8068-8026-82CB-CE12DD8FB7AF}"/>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48" name="文本框 47">
            <a:extLst>
              <a:ext uri="{FF2B5EF4-FFF2-40B4-BE49-F238E27FC236}">
                <a16:creationId xmlns:a16="http://schemas.microsoft.com/office/drawing/2014/main" id="{4B6539AB-3FA5-C94A-B1EF-41CB2F8CEDC4}"/>
              </a:ext>
            </a:extLst>
          </p:cNvPr>
          <p:cNvSpPr txBox="1"/>
          <p:nvPr/>
        </p:nvSpPr>
        <p:spPr>
          <a:xfrm>
            <a:off x="2991093" y="1927320"/>
            <a:ext cx="7527489" cy="369332"/>
          </a:xfrm>
          <a:prstGeom prst="rect">
            <a:avLst/>
          </a:prstGeom>
          <a:noFill/>
        </p:spPr>
        <p:txBody>
          <a:bodyPr wrap="square">
            <a:spAutoFit/>
          </a:bodyPr>
          <a:lstStyle/>
          <a:p>
            <a:r>
              <a:rPr lang="zh-CN" altLang="zh-CN" sz="1800" b="0" i="0" dirty="0">
                <a:solidFill>
                  <a:schemeClr val="tx1"/>
                </a:solidFill>
                <a:effectLst/>
                <a:latin typeface="方正小标宋简体" panose="02010601030101010101" pitchFamily="2" charset="-122"/>
                <a:ea typeface="方正小标宋简体" panose="02010601030101010101" pitchFamily="2" charset="-122"/>
              </a:rPr>
              <a:t>定位是驾驶平台获取自身位置和姿态的技术。它是规划和控制的重要前提</a:t>
            </a:r>
            <a:endParaRPr lang="zh-CN" altLang="en-US" dirty="0">
              <a:latin typeface="方正小标宋简体" panose="02010601030101010101" pitchFamily="2" charset="-122"/>
              <a:ea typeface="方正小标宋简体" panose="02010601030101010101" pitchFamily="2" charset="-122"/>
            </a:endParaRPr>
          </a:p>
        </p:txBody>
      </p:sp>
      <p:grpSp>
        <p:nvGrpSpPr>
          <p:cNvPr id="9216" name="组合 9215">
            <a:extLst>
              <a:ext uri="{FF2B5EF4-FFF2-40B4-BE49-F238E27FC236}">
                <a16:creationId xmlns:a16="http://schemas.microsoft.com/office/drawing/2014/main" id="{73F6E3DB-1F4C-9626-3A0D-B7E3020BA860}"/>
              </a:ext>
            </a:extLst>
          </p:cNvPr>
          <p:cNvGrpSpPr/>
          <p:nvPr/>
        </p:nvGrpSpPr>
        <p:grpSpPr>
          <a:xfrm>
            <a:off x="1880783" y="3219192"/>
            <a:ext cx="2220620" cy="2382699"/>
            <a:chOff x="1880783" y="3219192"/>
            <a:chExt cx="2220620" cy="2382699"/>
          </a:xfrm>
        </p:grpSpPr>
        <p:grpSp>
          <p:nvGrpSpPr>
            <p:cNvPr id="53" name="组合 52">
              <a:extLst>
                <a:ext uri="{FF2B5EF4-FFF2-40B4-BE49-F238E27FC236}">
                  <a16:creationId xmlns:a16="http://schemas.microsoft.com/office/drawing/2014/main" id="{7CB3EB26-EA93-8C9E-A910-38D69AC47FFE}"/>
                </a:ext>
              </a:extLst>
            </p:cNvPr>
            <p:cNvGrpSpPr/>
            <p:nvPr/>
          </p:nvGrpSpPr>
          <p:grpSpPr>
            <a:xfrm>
              <a:off x="1880783" y="3219192"/>
              <a:ext cx="2220620" cy="2382699"/>
              <a:chOff x="1923209" y="4365293"/>
              <a:chExt cx="2220620" cy="2382699"/>
            </a:xfrm>
            <a:solidFill>
              <a:schemeClr val="accent5"/>
            </a:solidFill>
          </p:grpSpPr>
          <p:sp>
            <p:nvSpPr>
              <p:cNvPr id="52" name="矩形 51">
                <a:extLst>
                  <a:ext uri="{FF2B5EF4-FFF2-40B4-BE49-F238E27FC236}">
                    <a16:creationId xmlns:a16="http://schemas.microsoft.com/office/drawing/2014/main" id="{CFC4BCEE-9AD4-5A0B-CAEB-56C4A465041D}"/>
                  </a:ext>
                </a:extLst>
              </p:cNvPr>
              <p:cNvSpPr/>
              <p:nvPr/>
            </p:nvSpPr>
            <p:spPr>
              <a:xfrm>
                <a:off x="1923209" y="4365293"/>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CCB155CE-862F-945A-CB65-AF706CBB3F50}"/>
                  </a:ext>
                </a:extLst>
              </p:cNvPr>
              <p:cNvSpPr txBox="1"/>
              <p:nvPr/>
            </p:nvSpPr>
            <p:spPr>
              <a:xfrm>
                <a:off x="2179818" y="4463294"/>
                <a:ext cx="1744770" cy="369332"/>
              </a:xfrm>
              <a:prstGeom prst="rect">
                <a:avLst/>
              </a:prstGeom>
              <a:grpFill/>
            </p:spPr>
            <p:txBody>
              <a:bodyPr wrap="square">
                <a:spAutoFit/>
              </a:bodyPr>
              <a:lstStyle/>
              <a:p>
                <a:pPr algn="ctr"/>
                <a:r>
                  <a:rPr lang="zh-CN" altLang="zh-CN" sz="1800" b="1" i="0" dirty="0">
                    <a:effectLst/>
                    <a:latin typeface="方正小标宋简体" panose="02010601030101010101" pitchFamily="2" charset="-122"/>
                    <a:ea typeface="方正小标宋简体" panose="02010601030101010101" pitchFamily="2" charset="-122"/>
                  </a:rPr>
                  <a:t>GNSS与IMU</a:t>
                </a:r>
                <a:endParaRPr lang="zh-CN" altLang="en-US" dirty="0">
                  <a:latin typeface="方正小标宋简体" panose="02010601030101010101" pitchFamily="2" charset="-122"/>
                  <a:ea typeface="方正小标宋简体" panose="02010601030101010101" pitchFamily="2" charset="-122"/>
                </a:endParaRPr>
              </a:p>
            </p:txBody>
          </p:sp>
        </p:grpSp>
        <p:pic>
          <p:nvPicPr>
            <p:cNvPr id="54" name="图片 53" descr="车载惯性导航产业分析：自动驾驶渐行渐近，惯性导航刚需爆发 - 知乎">
              <a:extLst>
                <a:ext uri="{FF2B5EF4-FFF2-40B4-BE49-F238E27FC236}">
                  <a16:creationId xmlns:a16="http://schemas.microsoft.com/office/drawing/2014/main" id="{549300A0-8584-A72E-B12A-DF7102D06203}"/>
                </a:ext>
              </a:extLst>
            </p:cNvPr>
            <p:cNvPicPr>
              <a:picLocks noChangeAspect="1"/>
            </p:cNvPicPr>
            <p:nvPr/>
          </p:nvPicPr>
          <p:blipFill>
            <a:blip r:embed="rId4"/>
            <a:srcRect t="8383" r="44127"/>
            <a:stretch>
              <a:fillRect/>
            </a:stretch>
          </p:blipFill>
          <p:spPr>
            <a:xfrm>
              <a:off x="1979312" y="3979433"/>
              <a:ext cx="1998719" cy="1472934"/>
            </a:xfrm>
            <a:prstGeom prst="rect">
              <a:avLst/>
            </a:prstGeom>
          </p:spPr>
        </p:pic>
      </p:grpSp>
      <p:grpSp>
        <p:nvGrpSpPr>
          <p:cNvPr id="9217" name="组合 9216">
            <a:extLst>
              <a:ext uri="{FF2B5EF4-FFF2-40B4-BE49-F238E27FC236}">
                <a16:creationId xmlns:a16="http://schemas.microsoft.com/office/drawing/2014/main" id="{3E4FDA06-3625-C801-7AB5-C06A0ED3EC39}"/>
              </a:ext>
            </a:extLst>
          </p:cNvPr>
          <p:cNvGrpSpPr/>
          <p:nvPr/>
        </p:nvGrpSpPr>
        <p:grpSpPr>
          <a:xfrm>
            <a:off x="4358012" y="3219193"/>
            <a:ext cx="2220620" cy="2382698"/>
            <a:chOff x="4957811" y="2538476"/>
            <a:chExt cx="2379160" cy="1772997"/>
          </a:xfrm>
        </p:grpSpPr>
        <p:grpSp>
          <p:nvGrpSpPr>
            <p:cNvPr id="55" name="组合 54">
              <a:extLst>
                <a:ext uri="{FF2B5EF4-FFF2-40B4-BE49-F238E27FC236}">
                  <a16:creationId xmlns:a16="http://schemas.microsoft.com/office/drawing/2014/main" id="{EDEFA413-5964-19E7-24BB-0DA6DDBBBCCC}"/>
                </a:ext>
              </a:extLst>
            </p:cNvPr>
            <p:cNvGrpSpPr/>
            <p:nvPr/>
          </p:nvGrpSpPr>
          <p:grpSpPr>
            <a:xfrm>
              <a:off x="4957811" y="2538476"/>
              <a:ext cx="2379160" cy="1772997"/>
              <a:chOff x="1923209" y="4365293"/>
              <a:chExt cx="2220620" cy="2382699"/>
            </a:xfrm>
            <a:solidFill>
              <a:schemeClr val="accent5"/>
            </a:solidFill>
          </p:grpSpPr>
          <p:sp>
            <p:nvSpPr>
              <p:cNvPr id="56" name="矩形 55">
                <a:extLst>
                  <a:ext uri="{FF2B5EF4-FFF2-40B4-BE49-F238E27FC236}">
                    <a16:creationId xmlns:a16="http://schemas.microsoft.com/office/drawing/2014/main" id="{5AC1AB4C-DB43-6DE2-838B-7153A0D05F88}"/>
                  </a:ext>
                </a:extLst>
              </p:cNvPr>
              <p:cNvSpPr/>
              <p:nvPr/>
            </p:nvSpPr>
            <p:spPr>
              <a:xfrm>
                <a:off x="1923209" y="4365293"/>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28EB2DB7-2E52-9967-3C7A-0F76DD7CB2FA}"/>
                  </a:ext>
                </a:extLst>
              </p:cNvPr>
              <p:cNvSpPr txBox="1"/>
              <p:nvPr/>
            </p:nvSpPr>
            <p:spPr>
              <a:xfrm>
                <a:off x="2399059" y="4450603"/>
                <a:ext cx="1744770" cy="682031"/>
              </a:xfrm>
              <a:prstGeom prst="rect">
                <a:avLst/>
              </a:prstGeom>
              <a:grp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视觉</a:t>
                </a:r>
                <a:r>
                  <a:rPr lang="en-US" altLang="zh-CN" sz="1800" b="1" i="0" dirty="0">
                    <a:effectLst/>
                    <a:latin typeface="方正小标宋简体" panose="02010601030101010101" pitchFamily="2" charset="-122"/>
                    <a:ea typeface="方正小标宋简体" panose="02010601030101010101" pitchFamily="2" charset="-122"/>
                  </a:rPr>
                  <a:t>SLAM</a:t>
                </a:r>
                <a:endParaRPr lang="zh-CN" altLang="en-US" dirty="0">
                  <a:latin typeface="方正小标宋简体" panose="02010601030101010101" pitchFamily="2" charset="-122"/>
                  <a:ea typeface="方正小标宋简体" panose="02010601030101010101" pitchFamily="2" charset="-122"/>
                </a:endParaRPr>
              </a:p>
            </p:txBody>
          </p:sp>
        </p:grpSp>
        <p:pic>
          <p:nvPicPr>
            <p:cNvPr id="63" name="图片 62">
              <a:extLst>
                <a:ext uri="{FF2B5EF4-FFF2-40B4-BE49-F238E27FC236}">
                  <a16:creationId xmlns:a16="http://schemas.microsoft.com/office/drawing/2014/main" id="{2CF46ED2-1088-2F5C-0961-B64E9CA41742}"/>
                </a:ext>
              </a:extLst>
            </p:cNvPr>
            <p:cNvPicPr>
              <a:picLocks noChangeAspect="1"/>
            </p:cNvPicPr>
            <p:nvPr/>
          </p:nvPicPr>
          <p:blipFill>
            <a:blip r:embed="rId5"/>
            <a:stretch>
              <a:fillRect/>
            </a:stretch>
          </p:blipFill>
          <p:spPr>
            <a:xfrm>
              <a:off x="5261793" y="3116260"/>
              <a:ext cx="1771195" cy="1044255"/>
            </a:xfrm>
            <a:prstGeom prst="rect">
              <a:avLst/>
            </a:prstGeom>
          </p:spPr>
        </p:pic>
      </p:grpSp>
      <p:grpSp>
        <p:nvGrpSpPr>
          <p:cNvPr id="9225" name="组合 9224">
            <a:extLst>
              <a:ext uri="{FF2B5EF4-FFF2-40B4-BE49-F238E27FC236}">
                <a16:creationId xmlns:a16="http://schemas.microsoft.com/office/drawing/2014/main" id="{29AE212A-FA02-B009-A9B1-884380C48ADA}"/>
              </a:ext>
            </a:extLst>
          </p:cNvPr>
          <p:cNvGrpSpPr/>
          <p:nvPr/>
        </p:nvGrpSpPr>
        <p:grpSpPr>
          <a:xfrm>
            <a:off x="6878497" y="3219194"/>
            <a:ext cx="2220620" cy="2382698"/>
            <a:chOff x="1923209" y="4365295"/>
            <a:chExt cx="2220620" cy="2382699"/>
          </a:xfrm>
          <a:solidFill>
            <a:schemeClr val="accent5"/>
          </a:solidFill>
        </p:grpSpPr>
        <p:sp>
          <p:nvSpPr>
            <p:cNvPr id="9227" name="矩形 9226">
              <a:extLst>
                <a:ext uri="{FF2B5EF4-FFF2-40B4-BE49-F238E27FC236}">
                  <a16:creationId xmlns:a16="http://schemas.microsoft.com/office/drawing/2014/main" id="{2526ACF0-C6AA-CD76-C153-D4D616AD16DF}"/>
                </a:ext>
              </a:extLst>
            </p:cNvPr>
            <p:cNvSpPr/>
            <p:nvPr/>
          </p:nvSpPr>
          <p:spPr>
            <a:xfrm>
              <a:off x="1923209" y="4365295"/>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28" name="文本框 9227">
              <a:extLst>
                <a:ext uri="{FF2B5EF4-FFF2-40B4-BE49-F238E27FC236}">
                  <a16:creationId xmlns:a16="http://schemas.microsoft.com/office/drawing/2014/main" id="{5A4040F0-743A-AB54-C2FB-B8DF3A1F57E8}"/>
                </a:ext>
              </a:extLst>
            </p:cNvPr>
            <p:cNvSpPr txBox="1"/>
            <p:nvPr/>
          </p:nvSpPr>
          <p:spPr>
            <a:xfrm>
              <a:off x="2206935" y="4453748"/>
              <a:ext cx="1744770" cy="369332"/>
            </a:xfrm>
            <a:prstGeom prst="rect">
              <a:avLst/>
            </a:prstGeom>
            <a:grpFill/>
          </p:spPr>
          <p:txBody>
            <a:bodyPr wrap="square">
              <a:spAutoFit/>
            </a:bodyPr>
            <a:lstStyle/>
            <a:p>
              <a:r>
                <a:rPr lang="en-US" altLang="zh-CN" sz="1800" b="1" i="0" dirty="0">
                  <a:effectLst/>
                  <a:latin typeface="方正小标宋简体" panose="02010601030101010101" pitchFamily="2" charset="-122"/>
                  <a:ea typeface="方正小标宋简体" panose="02010601030101010101" pitchFamily="2" charset="-122"/>
                </a:rPr>
                <a:t>LiDAR SLAM</a:t>
              </a:r>
              <a:endParaRPr lang="zh-CN" altLang="en-US" dirty="0">
                <a:latin typeface="方正小标宋简体" panose="02010601030101010101" pitchFamily="2" charset="-122"/>
                <a:ea typeface="方正小标宋简体" panose="02010601030101010101" pitchFamily="2" charset="-122"/>
              </a:endParaRPr>
            </a:p>
          </p:txBody>
        </p:sp>
      </p:grpSp>
      <p:pic>
        <p:nvPicPr>
          <p:cNvPr id="9230" name="图片 9229">
            <a:extLst>
              <a:ext uri="{FF2B5EF4-FFF2-40B4-BE49-F238E27FC236}">
                <a16:creationId xmlns:a16="http://schemas.microsoft.com/office/drawing/2014/main" id="{BC1D48DC-DC53-CF0D-C20E-AD90CF09B394}"/>
              </a:ext>
            </a:extLst>
          </p:cNvPr>
          <p:cNvPicPr>
            <a:picLocks noChangeAspect="1"/>
          </p:cNvPicPr>
          <p:nvPr/>
        </p:nvPicPr>
        <p:blipFill>
          <a:blip r:embed="rId6"/>
          <a:stretch>
            <a:fillRect/>
          </a:stretch>
        </p:blipFill>
        <p:spPr>
          <a:xfrm>
            <a:off x="7162223" y="4009105"/>
            <a:ext cx="1653168" cy="1345591"/>
          </a:xfrm>
          <a:prstGeom prst="rect">
            <a:avLst/>
          </a:prstGeom>
        </p:spPr>
      </p:pic>
      <p:grpSp>
        <p:nvGrpSpPr>
          <p:cNvPr id="9232" name="组合 9231">
            <a:extLst>
              <a:ext uri="{FF2B5EF4-FFF2-40B4-BE49-F238E27FC236}">
                <a16:creationId xmlns:a16="http://schemas.microsoft.com/office/drawing/2014/main" id="{2E78FF35-0875-F828-942C-DC23E8A189D1}"/>
              </a:ext>
            </a:extLst>
          </p:cNvPr>
          <p:cNvGrpSpPr/>
          <p:nvPr/>
        </p:nvGrpSpPr>
        <p:grpSpPr>
          <a:xfrm>
            <a:off x="9430852" y="3228953"/>
            <a:ext cx="2397917" cy="2382698"/>
            <a:chOff x="1923209" y="4365293"/>
            <a:chExt cx="2220620" cy="2382699"/>
          </a:xfrm>
          <a:solidFill>
            <a:schemeClr val="accent5"/>
          </a:solidFill>
        </p:grpSpPr>
        <p:sp>
          <p:nvSpPr>
            <p:cNvPr id="9234" name="矩形 9233">
              <a:extLst>
                <a:ext uri="{FF2B5EF4-FFF2-40B4-BE49-F238E27FC236}">
                  <a16:creationId xmlns:a16="http://schemas.microsoft.com/office/drawing/2014/main" id="{7BF00C92-EBE0-955B-7B36-60482680842C}"/>
                </a:ext>
              </a:extLst>
            </p:cNvPr>
            <p:cNvSpPr/>
            <p:nvPr/>
          </p:nvSpPr>
          <p:spPr>
            <a:xfrm>
              <a:off x="1923209" y="4365293"/>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35" name="文本框 9234">
              <a:extLst>
                <a:ext uri="{FF2B5EF4-FFF2-40B4-BE49-F238E27FC236}">
                  <a16:creationId xmlns:a16="http://schemas.microsoft.com/office/drawing/2014/main" id="{45AA01D5-6507-257E-A011-B55E48A695AA}"/>
                </a:ext>
              </a:extLst>
            </p:cNvPr>
            <p:cNvSpPr txBox="1"/>
            <p:nvPr/>
          </p:nvSpPr>
          <p:spPr>
            <a:xfrm>
              <a:off x="1973433" y="4453512"/>
              <a:ext cx="2170396" cy="369332"/>
            </a:xfrm>
            <a:prstGeom prst="rect">
              <a:avLst/>
            </a:prstGeom>
            <a:grp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多传感器融合</a:t>
              </a:r>
              <a:r>
                <a:rPr lang="en-US" altLang="zh-CN" sz="1800" b="1" i="0" dirty="0">
                  <a:effectLst/>
                  <a:latin typeface="方正小标宋简体" panose="02010601030101010101" pitchFamily="2" charset="-122"/>
                  <a:ea typeface="方正小标宋简体" panose="02010601030101010101" pitchFamily="2" charset="-122"/>
                </a:rPr>
                <a:t>SLAM</a:t>
              </a:r>
              <a:endParaRPr lang="zh-CN" altLang="en-US" dirty="0">
                <a:latin typeface="方正小标宋简体" panose="02010601030101010101" pitchFamily="2" charset="-122"/>
                <a:ea typeface="方正小标宋简体" panose="02010601030101010101" pitchFamily="2" charset="-122"/>
              </a:endParaRPr>
            </a:p>
          </p:txBody>
        </p:sp>
      </p:grpSp>
      <p:pic>
        <p:nvPicPr>
          <p:cNvPr id="9237" name="图片 9236">
            <a:extLst>
              <a:ext uri="{FF2B5EF4-FFF2-40B4-BE49-F238E27FC236}">
                <a16:creationId xmlns:a16="http://schemas.microsoft.com/office/drawing/2014/main" id="{7F1C0943-63CC-3ECD-8FCE-DFC2607F8343}"/>
              </a:ext>
            </a:extLst>
          </p:cNvPr>
          <p:cNvPicPr>
            <a:picLocks noChangeAspect="1"/>
          </p:cNvPicPr>
          <p:nvPr/>
        </p:nvPicPr>
        <p:blipFill>
          <a:blip r:embed="rId7"/>
          <a:srcRect r="6395" b="9365"/>
          <a:stretch>
            <a:fillRect/>
          </a:stretch>
        </p:blipFill>
        <p:spPr>
          <a:xfrm>
            <a:off x="9589772" y="4180726"/>
            <a:ext cx="2077839" cy="103323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5E138-493B-8F93-547A-10FB2B654403}"/>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3FB5457F-81CD-59F2-A76D-7A8028E061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61227B12-757E-8016-EF2C-755AB5F9C17A}"/>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9CC23424-6B1C-E537-E34B-5BD964D256C1}"/>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D1A2C688-488E-4B2F-73B9-6A54FEFF4EAC}"/>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1DA1506-6F03-B0EF-13C8-14CE03480BE8}"/>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1D51B62A-78E2-DF25-8CD6-3179DD550668}"/>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8AEBE9DA-2079-0FCB-F59B-B7F84655F1EC}"/>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74391263-F5EB-571F-D224-A4C51EADD950}"/>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定位</a:t>
            </a:r>
          </a:p>
        </p:txBody>
      </p:sp>
      <p:sp>
        <p:nvSpPr>
          <p:cNvPr id="29" name="椭圆 28">
            <a:extLst>
              <a:ext uri="{FF2B5EF4-FFF2-40B4-BE49-F238E27FC236}">
                <a16:creationId xmlns:a16="http://schemas.microsoft.com/office/drawing/2014/main" id="{A19081B9-C0BD-738A-253A-2267327D4370}"/>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26A640D9-E3A3-957D-387A-1310BFEE7949}"/>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8</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9EFDC3D3-785A-836C-1F6C-67BA1F4768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7629D5B6-3530-043E-AE86-4B421F94D4BF}"/>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3FEB1F76-F5B3-F0F9-425B-FDB2DF9AD31E}"/>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B612D14F-DFB8-5CE8-6B30-6E185C8393FB}"/>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44BFD872-7BFE-303A-D70B-895BA46F4363}"/>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261CB90F-C639-A88D-FA8B-D41C2DCA7793}"/>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84228607-6044-1D41-6E13-E0CD67B3A0B0}"/>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7E837993-A698-3B7D-2C83-6C7800CED75D}"/>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CA6D0904-8146-3CC0-D201-F7A15DF6AB92}"/>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328A845C-4822-56DC-01C3-3BF567C50452}"/>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03291016-EFFF-9DF3-B486-85557639378C}"/>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DA7435AB-C345-CEB4-2C7D-61FDE5CE2A75}"/>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2F9661B4-7541-B127-9DF3-E0F1477A8CB3}"/>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92F77C22-6813-E0B6-926B-F72846475763}"/>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6" name="文本框 5">
            <a:extLst>
              <a:ext uri="{FF2B5EF4-FFF2-40B4-BE49-F238E27FC236}">
                <a16:creationId xmlns:a16="http://schemas.microsoft.com/office/drawing/2014/main" id="{740B5654-76B9-265D-FFF7-91B0D7838B46}"/>
              </a:ext>
            </a:extLst>
          </p:cNvPr>
          <p:cNvSpPr txBox="1"/>
          <p:nvPr/>
        </p:nvSpPr>
        <p:spPr>
          <a:xfrm>
            <a:off x="4874426" y="2542708"/>
            <a:ext cx="6691932" cy="646331"/>
          </a:xfrm>
          <a:prstGeom prst="rect">
            <a:avLst/>
          </a:prstGeom>
          <a:noFill/>
        </p:spPr>
        <p:txBody>
          <a:bodyPr wrap="square">
            <a:spAutoFit/>
          </a:bodyPr>
          <a:lstStyle/>
          <a:p>
            <a:pPr>
              <a:lnSpc>
                <a:spcPct val="100000"/>
              </a:lnSpc>
            </a:pPr>
            <a:r>
              <a:rPr kumimoji="1" lang="zh-CN" altLang="en-US"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核心原理：</a:t>
            </a:r>
            <a:r>
              <a:rPr kumimoji="1" lang="en-US" altLang="zh-CN"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GNSS</a:t>
            </a:r>
            <a:r>
              <a:rPr kumimoji="1" lang="zh-CN" altLang="en-US"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提供绝对的三维坐标、速度和时间</a:t>
            </a:r>
            <a:endParaRPr kumimoji="1" lang="en-US" altLang="zh-CN"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00000"/>
              </a:lnSpc>
            </a:pPr>
            <a:r>
              <a:rPr kumimoji="1" lang="en-US" altLang="zh-CN"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IMU</a:t>
            </a:r>
            <a:r>
              <a:rPr kumimoji="1" lang="zh-CN" altLang="en-US"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（三轴加速度计</a:t>
            </a:r>
            <a:r>
              <a:rPr kumimoji="1" lang="en-US" altLang="zh-CN"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a:t>
            </a:r>
            <a:r>
              <a:rPr kumimoji="1" lang="zh-CN" altLang="en-US"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陀螺仪）提供高频的自身运动状态推算。</a:t>
            </a:r>
          </a:p>
        </p:txBody>
      </p:sp>
      <p:grpSp>
        <p:nvGrpSpPr>
          <p:cNvPr id="10" name="组合 9">
            <a:extLst>
              <a:ext uri="{FF2B5EF4-FFF2-40B4-BE49-F238E27FC236}">
                <a16:creationId xmlns:a16="http://schemas.microsoft.com/office/drawing/2014/main" id="{46D5846C-FE8C-CFC7-38E7-CE551E4C9490}"/>
              </a:ext>
            </a:extLst>
          </p:cNvPr>
          <p:cNvGrpSpPr/>
          <p:nvPr/>
        </p:nvGrpSpPr>
        <p:grpSpPr>
          <a:xfrm>
            <a:off x="4704205" y="3466259"/>
            <a:ext cx="2843492" cy="2846059"/>
            <a:chOff x="144310" y="2353138"/>
            <a:chExt cx="1967119" cy="2241863"/>
          </a:xfrm>
        </p:grpSpPr>
        <p:sp>
          <p:nvSpPr>
            <p:cNvPr id="12" name="Freeform: Shape 8">
              <a:extLst>
                <a:ext uri="{FF2B5EF4-FFF2-40B4-BE49-F238E27FC236}">
                  <a16:creationId xmlns:a16="http://schemas.microsoft.com/office/drawing/2014/main" id="{8F816588-E25B-E22C-E5C8-8848FC02D39A}"/>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1"/>
            </a:solidFill>
            <a:ln>
              <a:noFill/>
            </a:ln>
            <a:effectLst/>
          </p:spPr>
          <p:txBody>
            <a:bodyPr vert="horz" wrap="square" lIns="192000" tIns="2544000" rIns="192000" bIns="81280" anchor="t" anchorCtr="1" compatLnSpc="1">
              <a:normAutofit/>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DE3F8BE9-7A32-213B-6CDE-60C760AB76E3}"/>
                </a:ext>
              </a:extLst>
            </p:cNvPr>
            <p:cNvSpPr txBox="1"/>
            <p:nvPr/>
          </p:nvSpPr>
          <p:spPr>
            <a:xfrm>
              <a:off x="407706" y="2801223"/>
              <a:ext cx="1440326" cy="369332"/>
            </a:xfrm>
            <a:prstGeom prst="rect">
              <a:avLst/>
            </a:prstGeom>
            <a:noFill/>
          </p:spPr>
          <p:txBody>
            <a:bodyPr wrap="square">
              <a:spAutoFit/>
            </a:bodyPr>
            <a:lstStyle/>
            <a:p>
              <a:pPr algn="ctr">
                <a:defRPr/>
              </a:pPr>
              <a:r>
                <a:rPr lang="en-US" altLang="zh-CN" b="1" kern="0" dirty="0">
                  <a:solidFill>
                    <a:schemeClr val="bg1"/>
                  </a:solidFill>
                  <a:latin typeface="微软雅黑" panose="020B0503020204020204" pitchFamily="34" charset="-122"/>
                  <a:ea typeface="微软雅黑" panose="020B0503020204020204" pitchFamily="34" charset="-122"/>
                  <a:sym typeface="+mn-ea"/>
                </a:rPr>
                <a:t>GNSS</a:t>
              </a:r>
            </a:p>
          </p:txBody>
        </p:sp>
      </p:grpSp>
      <p:sp>
        <p:nvSpPr>
          <p:cNvPr id="28" name="文本框 27">
            <a:extLst>
              <a:ext uri="{FF2B5EF4-FFF2-40B4-BE49-F238E27FC236}">
                <a16:creationId xmlns:a16="http://schemas.microsoft.com/office/drawing/2014/main" id="{E07FB92C-61E2-C3CD-E51D-C0BA84E572FA}"/>
              </a:ext>
            </a:extLst>
          </p:cNvPr>
          <p:cNvSpPr txBox="1"/>
          <p:nvPr/>
        </p:nvSpPr>
        <p:spPr>
          <a:xfrm>
            <a:off x="4870217" y="4990058"/>
            <a:ext cx="2502568" cy="1200329"/>
          </a:xfrm>
          <a:prstGeom prst="rect">
            <a:avLst/>
          </a:prstGeom>
          <a:noFill/>
        </p:spPr>
        <p:txBody>
          <a:bodyPr wrap="square">
            <a:spAutoFit/>
          </a:bodyPr>
          <a:lstStyle/>
          <a:p>
            <a:r>
              <a:rPr lang="zh-CN" altLang="zh-CN" sz="1800" b="1" i="0" dirty="0">
                <a:solidFill>
                  <a:schemeClr val="tx1"/>
                </a:solidFill>
                <a:effectLst/>
                <a:latin typeface="+mn-lt"/>
              </a:rPr>
              <a:t>全球导航卫星系统</a:t>
            </a:r>
            <a:r>
              <a:rPr lang="zh-CN" altLang="en-US" dirty="0"/>
              <a:t>：</a:t>
            </a:r>
            <a:r>
              <a:rPr lang="zh-CN" altLang="zh-CN" sz="1800" b="0" i="0" dirty="0">
                <a:solidFill>
                  <a:schemeClr val="tx1"/>
                </a:solidFill>
                <a:effectLst/>
                <a:latin typeface="+mn-lt"/>
              </a:rPr>
              <a:t>是对所有能提供全球或区域定位、导航、授时服务的卫星系统的统称。</a:t>
            </a:r>
            <a:endParaRPr lang="zh-CN" altLang="en-US" dirty="0"/>
          </a:p>
        </p:txBody>
      </p:sp>
      <p:grpSp>
        <p:nvGrpSpPr>
          <p:cNvPr id="34" name="组合 33">
            <a:extLst>
              <a:ext uri="{FF2B5EF4-FFF2-40B4-BE49-F238E27FC236}">
                <a16:creationId xmlns:a16="http://schemas.microsoft.com/office/drawing/2014/main" id="{2D158F27-8338-84C3-20B3-9BF73F12FDC2}"/>
              </a:ext>
            </a:extLst>
          </p:cNvPr>
          <p:cNvGrpSpPr/>
          <p:nvPr/>
        </p:nvGrpSpPr>
        <p:grpSpPr>
          <a:xfrm>
            <a:off x="8129045" y="3466259"/>
            <a:ext cx="2843492" cy="2846059"/>
            <a:chOff x="144310" y="2353138"/>
            <a:chExt cx="1967119" cy="2241863"/>
          </a:xfrm>
        </p:grpSpPr>
        <p:sp>
          <p:nvSpPr>
            <p:cNvPr id="35" name="Freeform: Shape 8">
              <a:extLst>
                <a:ext uri="{FF2B5EF4-FFF2-40B4-BE49-F238E27FC236}">
                  <a16:creationId xmlns:a16="http://schemas.microsoft.com/office/drawing/2014/main" id="{2F13A5FE-4D79-A697-58DD-4947A2E259BD}"/>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5">
                <a:lumMod val="75000"/>
              </a:schemeClr>
            </a:solidFill>
            <a:ln>
              <a:noFill/>
            </a:ln>
            <a:effectLst/>
          </p:spPr>
          <p:txBody>
            <a:bodyPr vert="horz" wrap="square" lIns="192000" tIns="2544000" rIns="192000" bIns="81280" anchor="t" anchorCtr="1" compatLnSpc="1">
              <a:normAutofit/>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142854D1-D67A-825B-3736-CC5D9BADF651}"/>
                </a:ext>
              </a:extLst>
            </p:cNvPr>
            <p:cNvSpPr txBox="1"/>
            <p:nvPr/>
          </p:nvSpPr>
          <p:spPr>
            <a:xfrm>
              <a:off x="407706" y="2801223"/>
              <a:ext cx="1440326" cy="290926"/>
            </a:xfrm>
            <a:prstGeom prst="rect">
              <a:avLst/>
            </a:prstGeom>
            <a:noFill/>
          </p:spPr>
          <p:txBody>
            <a:bodyPr wrap="square">
              <a:spAutoFit/>
            </a:bodyPr>
            <a:lstStyle/>
            <a:p>
              <a:pPr algn="ctr">
                <a:defRPr/>
              </a:pPr>
              <a:r>
                <a:rPr lang="en-US" altLang="zh-CN" b="1" kern="0" dirty="0">
                  <a:solidFill>
                    <a:schemeClr val="bg1"/>
                  </a:solidFill>
                  <a:latin typeface="微软雅黑" panose="020B0503020204020204" pitchFamily="34" charset="-122"/>
                  <a:ea typeface="微软雅黑" panose="020B0503020204020204" pitchFamily="34" charset="-122"/>
                  <a:sym typeface="+mn-ea"/>
                </a:rPr>
                <a:t>IMU</a:t>
              </a:r>
            </a:p>
          </p:txBody>
        </p:sp>
      </p:grpSp>
      <p:sp>
        <p:nvSpPr>
          <p:cNvPr id="39" name="文本框 38">
            <a:extLst>
              <a:ext uri="{FF2B5EF4-FFF2-40B4-BE49-F238E27FC236}">
                <a16:creationId xmlns:a16="http://schemas.microsoft.com/office/drawing/2014/main" id="{9ACE44C2-B2E2-9590-D6DC-6CFE0F9D2DB6}"/>
              </a:ext>
            </a:extLst>
          </p:cNvPr>
          <p:cNvSpPr txBox="1"/>
          <p:nvPr/>
        </p:nvSpPr>
        <p:spPr>
          <a:xfrm>
            <a:off x="8247643" y="5081203"/>
            <a:ext cx="2890761" cy="923330"/>
          </a:xfrm>
          <a:prstGeom prst="rect">
            <a:avLst/>
          </a:prstGeom>
          <a:noFill/>
        </p:spPr>
        <p:txBody>
          <a:bodyPr wrap="square">
            <a:spAutoFit/>
          </a:bodyPr>
          <a:lstStyle/>
          <a:p>
            <a:r>
              <a:rPr lang="zh-CN" altLang="zh-CN" sz="1800" b="1" i="0" dirty="0">
                <a:solidFill>
                  <a:schemeClr val="tx1"/>
                </a:solidFill>
                <a:effectLst/>
                <a:latin typeface="+mn-lt"/>
              </a:rPr>
              <a:t>惯性测量单元</a:t>
            </a:r>
            <a:r>
              <a:rPr lang="zh-CN" altLang="en-US" sz="1800" b="1" i="0" dirty="0">
                <a:solidFill>
                  <a:schemeClr val="tx1"/>
                </a:solidFill>
                <a:effectLst/>
                <a:latin typeface="+mn-lt"/>
              </a:rPr>
              <a:t>：</a:t>
            </a:r>
            <a:r>
              <a:rPr lang="zh-CN" altLang="en-US" sz="1800" i="0" dirty="0">
                <a:solidFill>
                  <a:schemeClr val="tx1"/>
                </a:solidFill>
                <a:effectLst/>
                <a:latin typeface="+mn-lt"/>
              </a:rPr>
              <a:t>通过角速度和加速度得到</a:t>
            </a:r>
            <a:r>
              <a:rPr lang="zh-CN" altLang="zh-CN" dirty="0"/>
              <a:t>高精度姿态和位置</a:t>
            </a:r>
            <a:endParaRPr lang="zh-CN" altLang="en-US" dirty="0"/>
          </a:p>
        </p:txBody>
      </p:sp>
      <p:grpSp>
        <p:nvGrpSpPr>
          <p:cNvPr id="40" name="组合 39">
            <a:extLst>
              <a:ext uri="{FF2B5EF4-FFF2-40B4-BE49-F238E27FC236}">
                <a16:creationId xmlns:a16="http://schemas.microsoft.com/office/drawing/2014/main" id="{4F30C6A4-6CBF-113B-6A0B-8C8244B932D7}"/>
              </a:ext>
            </a:extLst>
          </p:cNvPr>
          <p:cNvGrpSpPr/>
          <p:nvPr/>
        </p:nvGrpSpPr>
        <p:grpSpPr>
          <a:xfrm>
            <a:off x="1880783" y="3219192"/>
            <a:ext cx="2220620" cy="2382699"/>
            <a:chOff x="1880783" y="3219192"/>
            <a:chExt cx="2220620" cy="2382699"/>
          </a:xfrm>
        </p:grpSpPr>
        <p:grpSp>
          <p:nvGrpSpPr>
            <p:cNvPr id="41" name="组合 40">
              <a:extLst>
                <a:ext uri="{FF2B5EF4-FFF2-40B4-BE49-F238E27FC236}">
                  <a16:creationId xmlns:a16="http://schemas.microsoft.com/office/drawing/2014/main" id="{24D98B18-9C4F-D69E-8C8D-BAD291CA08B4}"/>
                </a:ext>
              </a:extLst>
            </p:cNvPr>
            <p:cNvGrpSpPr/>
            <p:nvPr/>
          </p:nvGrpSpPr>
          <p:grpSpPr>
            <a:xfrm>
              <a:off x="1880783" y="3219192"/>
              <a:ext cx="2220620" cy="2382699"/>
              <a:chOff x="1923209" y="4365293"/>
              <a:chExt cx="2220620" cy="2382699"/>
            </a:xfrm>
            <a:solidFill>
              <a:schemeClr val="accent5"/>
            </a:solidFill>
          </p:grpSpPr>
          <p:sp>
            <p:nvSpPr>
              <p:cNvPr id="43" name="矩形 42">
                <a:extLst>
                  <a:ext uri="{FF2B5EF4-FFF2-40B4-BE49-F238E27FC236}">
                    <a16:creationId xmlns:a16="http://schemas.microsoft.com/office/drawing/2014/main" id="{6BA4B0C7-5A6D-911A-B3E3-35A4FBAC6A84}"/>
                  </a:ext>
                </a:extLst>
              </p:cNvPr>
              <p:cNvSpPr/>
              <p:nvPr/>
            </p:nvSpPr>
            <p:spPr>
              <a:xfrm>
                <a:off x="1923209" y="4365293"/>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82307277-4E6F-8060-8516-44730188463D}"/>
                  </a:ext>
                </a:extLst>
              </p:cNvPr>
              <p:cNvSpPr txBox="1"/>
              <p:nvPr/>
            </p:nvSpPr>
            <p:spPr>
              <a:xfrm>
                <a:off x="2179818" y="4463294"/>
                <a:ext cx="1744770" cy="369332"/>
              </a:xfrm>
              <a:prstGeom prst="rect">
                <a:avLst/>
              </a:prstGeom>
              <a:grpFill/>
            </p:spPr>
            <p:txBody>
              <a:bodyPr wrap="square">
                <a:spAutoFit/>
              </a:bodyPr>
              <a:lstStyle/>
              <a:p>
                <a:pPr algn="ctr"/>
                <a:r>
                  <a:rPr lang="zh-CN" altLang="zh-CN" sz="1800" b="1" i="0" dirty="0">
                    <a:effectLst/>
                    <a:latin typeface="方正小标宋简体" panose="02010601030101010101" pitchFamily="2" charset="-122"/>
                    <a:ea typeface="方正小标宋简体" panose="02010601030101010101" pitchFamily="2" charset="-122"/>
                  </a:rPr>
                  <a:t>GNSS与IMU</a:t>
                </a:r>
                <a:endParaRPr lang="zh-CN" altLang="en-US" dirty="0">
                  <a:latin typeface="方正小标宋简体" panose="02010601030101010101" pitchFamily="2" charset="-122"/>
                  <a:ea typeface="方正小标宋简体" panose="02010601030101010101" pitchFamily="2" charset="-122"/>
                </a:endParaRPr>
              </a:p>
            </p:txBody>
          </p:sp>
        </p:grpSp>
        <p:pic>
          <p:nvPicPr>
            <p:cNvPr id="42" name="图片 41" descr="车载惯性导航产业分析：自动驾驶渐行渐近，惯性导航刚需爆发 - 知乎">
              <a:extLst>
                <a:ext uri="{FF2B5EF4-FFF2-40B4-BE49-F238E27FC236}">
                  <a16:creationId xmlns:a16="http://schemas.microsoft.com/office/drawing/2014/main" id="{8B05B7E7-7C3D-E846-2937-F9A9A77F0A92}"/>
                </a:ext>
              </a:extLst>
            </p:cNvPr>
            <p:cNvPicPr>
              <a:picLocks noChangeAspect="1"/>
            </p:cNvPicPr>
            <p:nvPr/>
          </p:nvPicPr>
          <p:blipFill>
            <a:blip r:embed="rId4"/>
            <a:srcRect t="8383" r="44127"/>
            <a:stretch>
              <a:fillRect/>
            </a:stretch>
          </p:blipFill>
          <p:spPr>
            <a:xfrm>
              <a:off x="1979312" y="3979433"/>
              <a:ext cx="1998719" cy="1472934"/>
            </a:xfrm>
            <a:prstGeom prst="rect">
              <a:avLst/>
            </a:prstGeom>
          </p:spPr>
        </p:pic>
      </p:grpSp>
      <p:sp>
        <p:nvSpPr>
          <p:cNvPr id="4" name="文本框 3">
            <a:extLst>
              <a:ext uri="{FF2B5EF4-FFF2-40B4-BE49-F238E27FC236}">
                <a16:creationId xmlns:a16="http://schemas.microsoft.com/office/drawing/2014/main" id="{5787EFAD-9E6C-5D23-4746-66B899761CDF}"/>
              </a:ext>
            </a:extLst>
          </p:cNvPr>
          <p:cNvSpPr txBox="1"/>
          <p:nvPr/>
        </p:nvSpPr>
        <p:spPr>
          <a:xfrm>
            <a:off x="2680745" y="1947278"/>
            <a:ext cx="10401300" cy="369332"/>
          </a:xfrm>
          <a:prstGeom prst="rect">
            <a:avLst/>
          </a:prstGeom>
          <a:noFill/>
        </p:spPr>
        <p:txBody>
          <a:bodyPr wrap="square">
            <a:spAutoFit/>
          </a:bodyPr>
          <a:lstStyle/>
          <a:p>
            <a:r>
              <a:rPr lang="zh-CN" altLang="zh-CN" sz="1800" b="1" i="0" dirty="0">
                <a:effectLst/>
                <a:latin typeface="方正小标宋简体" panose="02010601030101010101" pitchFamily="2" charset="-122"/>
                <a:ea typeface="方正小标宋简体" panose="02010601030101010101" pitchFamily="2" charset="-122"/>
              </a:rPr>
              <a:t>阶段一：GNSS与IMU（卫星与惯性导航）—— 绝对定位的起点</a:t>
            </a:r>
            <a:endParaRPr lang="zh-CN" altLang="en-US" dirty="0">
              <a:latin typeface="方正小标宋简体" panose="02010601030101010101" pitchFamily="2" charset="-122"/>
              <a:ea typeface="方正小标宋简体" panose="02010601030101010101" pitchFamily="2" charset="-122"/>
            </a:endParaRPr>
          </a:p>
        </p:txBody>
      </p:sp>
    </p:spTree>
    <p:extLst>
      <p:ext uri="{BB962C8B-B14F-4D97-AF65-F5344CB8AC3E}">
        <p14:creationId xmlns:p14="http://schemas.microsoft.com/office/powerpoint/2010/main" val="1412643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2262D-510F-655D-1577-79A1D25DAB8E}"/>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CA64458D-B88C-A3A3-FE59-D7D503666A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05FC22E8-2B73-70CD-C055-DB1F47F2202E}"/>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8FCEB0AE-D6CA-1063-FACA-47C452CC6417}"/>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EAFE88DA-4A53-EF08-65BB-1357095A5D33}"/>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85104B25-9F05-0BDB-48BC-861222CF5CEA}"/>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10A2D1C4-A314-63C6-57A0-2F180D372781}"/>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1758748B-22F1-F224-B4D0-FFF3E8663B9A}"/>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D81716F8-7DB7-9E42-C2C8-892D4E7889D3}"/>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定位</a:t>
            </a:r>
          </a:p>
        </p:txBody>
      </p:sp>
      <p:sp>
        <p:nvSpPr>
          <p:cNvPr id="29" name="椭圆 28">
            <a:extLst>
              <a:ext uri="{FF2B5EF4-FFF2-40B4-BE49-F238E27FC236}">
                <a16:creationId xmlns:a16="http://schemas.microsoft.com/office/drawing/2014/main" id="{A1DCC50E-D645-1EF3-8882-528292366B3B}"/>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C5A7C5B8-25C0-B7F0-EB75-94B1044F1BA2}"/>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9</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5CDD4CC1-03C2-EE31-7F76-9BCB278263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05090E42-83FF-4909-D12F-DCA4B1B33344}"/>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3327F2EE-5531-2F5A-1B59-85107A09364C}"/>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284EB931-B5E2-A48A-545E-0121EFD076C0}"/>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91AAE6A4-2AD0-9F4E-62A0-F77F9FE2AD9F}"/>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7F411205-2BF4-1D19-0927-BE00C2A68289}"/>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0EF394CC-A545-149B-7D87-97B01DE3DE41}"/>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DEBC81FD-21F8-9A80-26AA-4F77F06F2FDC}"/>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B6B926AC-42AF-E2EB-4334-BAB55FECE01B}"/>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D6658FF9-1DB5-1205-7B14-C02A502B39D1}"/>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D57E0F0D-34ED-0522-7007-BC8D7CBDDB72}"/>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E2B79A31-3C0A-4CD6-0C15-6F0FB3437592}"/>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0B0D01FF-6BCF-953B-186D-F722EC0B2702}"/>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A242F107-FF7A-63F2-BA52-BF82D213952D}"/>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grpSp>
        <p:nvGrpSpPr>
          <p:cNvPr id="9217" name="组合 9216">
            <a:extLst>
              <a:ext uri="{FF2B5EF4-FFF2-40B4-BE49-F238E27FC236}">
                <a16:creationId xmlns:a16="http://schemas.microsoft.com/office/drawing/2014/main" id="{EB319D44-B8A1-7490-93DA-F0585D9CB90E}"/>
              </a:ext>
            </a:extLst>
          </p:cNvPr>
          <p:cNvGrpSpPr/>
          <p:nvPr/>
        </p:nvGrpSpPr>
        <p:grpSpPr>
          <a:xfrm>
            <a:off x="1856168" y="3219193"/>
            <a:ext cx="2220620" cy="2382698"/>
            <a:chOff x="4957811" y="2538476"/>
            <a:chExt cx="2379160" cy="1772997"/>
          </a:xfrm>
        </p:grpSpPr>
        <p:grpSp>
          <p:nvGrpSpPr>
            <p:cNvPr id="55" name="组合 54">
              <a:extLst>
                <a:ext uri="{FF2B5EF4-FFF2-40B4-BE49-F238E27FC236}">
                  <a16:creationId xmlns:a16="http://schemas.microsoft.com/office/drawing/2014/main" id="{5DD591F5-B676-3889-BD8C-0B3EE97B20C2}"/>
                </a:ext>
              </a:extLst>
            </p:cNvPr>
            <p:cNvGrpSpPr/>
            <p:nvPr/>
          </p:nvGrpSpPr>
          <p:grpSpPr>
            <a:xfrm>
              <a:off x="4957811" y="2538476"/>
              <a:ext cx="2379160" cy="1772997"/>
              <a:chOff x="1923209" y="4365293"/>
              <a:chExt cx="2220620" cy="2382699"/>
            </a:xfrm>
            <a:solidFill>
              <a:schemeClr val="accent5"/>
            </a:solidFill>
          </p:grpSpPr>
          <p:sp>
            <p:nvSpPr>
              <p:cNvPr id="56" name="矩形 55">
                <a:extLst>
                  <a:ext uri="{FF2B5EF4-FFF2-40B4-BE49-F238E27FC236}">
                    <a16:creationId xmlns:a16="http://schemas.microsoft.com/office/drawing/2014/main" id="{ECF5CC07-9CF4-8DC6-4CA5-6F944E8A81CF}"/>
                  </a:ext>
                </a:extLst>
              </p:cNvPr>
              <p:cNvSpPr/>
              <p:nvPr/>
            </p:nvSpPr>
            <p:spPr>
              <a:xfrm>
                <a:off x="1923209" y="4365293"/>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D24EEA0E-E012-48C4-8B02-A5DC1580E54F}"/>
                  </a:ext>
                </a:extLst>
              </p:cNvPr>
              <p:cNvSpPr txBox="1"/>
              <p:nvPr/>
            </p:nvSpPr>
            <p:spPr>
              <a:xfrm>
                <a:off x="2399059" y="4450603"/>
                <a:ext cx="1744770" cy="682031"/>
              </a:xfrm>
              <a:prstGeom prst="rect">
                <a:avLst/>
              </a:prstGeom>
              <a:grp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视觉</a:t>
                </a:r>
                <a:r>
                  <a:rPr lang="en-US" altLang="zh-CN" sz="1800" b="1" i="0" dirty="0">
                    <a:effectLst/>
                    <a:latin typeface="方正小标宋简体" panose="02010601030101010101" pitchFamily="2" charset="-122"/>
                    <a:ea typeface="方正小标宋简体" panose="02010601030101010101" pitchFamily="2" charset="-122"/>
                  </a:rPr>
                  <a:t>SLAM</a:t>
                </a:r>
                <a:endParaRPr lang="zh-CN" altLang="en-US" dirty="0">
                  <a:latin typeface="方正小标宋简体" panose="02010601030101010101" pitchFamily="2" charset="-122"/>
                  <a:ea typeface="方正小标宋简体" panose="02010601030101010101" pitchFamily="2" charset="-122"/>
                </a:endParaRPr>
              </a:p>
            </p:txBody>
          </p:sp>
        </p:grpSp>
        <p:pic>
          <p:nvPicPr>
            <p:cNvPr id="63" name="图片 62">
              <a:extLst>
                <a:ext uri="{FF2B5EF4-FFF2-40B4-BE49-F238E27FC236}">
                  <a16:creationId xmlns:a16="http://schemas.microsoft.com/office/drawing/2014/main" id="{0E1335B5-C1C2-5122-BDE4-638E604050DA}"/>
                </a:ext>
              </a:extLst>
            </p:cNvPr>
            <p:cNvPicPr>
              <a:picLocks noChangeAspect="1"/>
            </p:cNvPicPr>
            <p:nvPr/>
          </p:nvPicPr>
          <p:blipFill>
            <a:blip r:embed="rId4"/>
            <a:stretch>
              <a:fillRect/>
            </a:stretch>
          </p:blipFill>
          <p:spPr>
            <a:xfrm>
              <a:off x="5261793" y="3116260"/>
              <a:ext cx="1771195" cy="1044255"/>
            </a:xfrm>
            <a:prstGeom prst="rect">
              <a:avLst/>
            </a:prstGeom>
          </p:spPr>
        </p:pic>
      </p:grpSp>
      <p:sp>
        <p:nvSpPr>
          <p:cNvPr id="61" name="文本框 60">
            <a:extLst>
              <a:ext uri="{FF2B5EF4-FFF2-40B4-BE49-F238E27FC236}">
                <a16:creationId xmlns:a16="http://schemas.microsoft.com/office/drawing/2014/main" id="{F73CB6F8-995B-6227-3793-4C63810C7CFB}"/>
              </a:ext>
            </a:extLst>
          </p:cNvPr>
          <p:cNvSpPr txBox="1"/>
          <p:nvPr/>
        </p:nvSpPr>
        <p:spPr>
          <a:xfrm>
            <a:off x="2680745" y="1947278"/>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阶段二：视觉</a:t>
            </a:r>
            <a:r>
              <a:rPr lang="en-US" altLang="zh-CN" sz="1800" b="1" i="0" dirty="0">
                <a:effectLst/>
                <a:latin typeface="方正小标宋简体" panose="02010601030101010101" pitchFamily="2" charset="-122"/>
                <a:ea typeface="方正小标宋简体" panose="02010601030101010101" pitchFamily="2" charset="-122"/>
              </a:rPr>
              <a:t>SLAM</a:t>
            </a:r>
            <a:r>
              <a:rPr lang="zh-CN" altLang="en-US" sz="1800" b="1" i="0" dirty="0">
                <a:effectLst/>
                <a:latin typeface="方正小标宋简体" panose="02010601030101010101" pitchFamily="2" charset="-122"/>
                <a:ea typeface="方正小标宋简体" panose="02010601030101010101" pitchFamily="2" charset="-122"/>
              </a:rPr>
              <a:t>（</a:t>
            </a:r>
            <a:r>
              <a:rPr lang="en-US" altLang="zh-CN" sz="1800" b="1" i="0" dirty="0">
                <a:effectLst/>
                <a:latin typeface="方正小标宋简体" panose="02010601030101010101" pitchFamily="2" charset="-122"/>
                <a:ea typeface="方正小标宋简体" panose="02010601030101010101" pitchFamily="2" charset="-122"/>
              </a:rPr>
              <a:t>Visual SLAM</a:t>
            </a:r>
            <a:r>
              <a:rPr lang="zh-CN" altLang="en-US" sz="1800" b="1" i="0" dirty="0">
                <a:effectLst/>
                <a:latin typeface="方正小标宋简体" panose="02010601030101010101" pitchFamily="2" charset="-122"/>
                <a:ea typeface="方正小标宋简体" panose="02010601030101010101" pitchFamily="2" charset="-122"/>
              </a:rPr>
              <a:t>）</a:t>
            </a:r>
            <a:r>
              <a:rPr lang="en-US" altLang="zh-CN" sz="1800" b="1" i="0" dirty="0">
                <a:effectLst/>
                <a:latin typeface="方正小标宋简体" panose="02010601030101010101" pitchFamily="2" charset="-122"/>
                <a:ea typeface="方正小标宋简体" panose="02010601030101010101" pitchFamily="2" charset="-122"/>
              </a:rPr>
              <a:t>—— </a:t>
            </a:r>
            <a:r>
              <a:rPr lang="zh-CN" altLang="en-US" sz="1800" b="1" i="0" dirty="0">
                <a:effectLst/>
                <a:latin typeface="方正小标宋简体" panose="02010601030101010101" pitchFamily="2" charset="-122"/>
                <a:ea typeface="方正小标宋简体" panose="02010601030101010101" pitchFamily="2" charset="-122"/>
              </a:rPr>
              <a:t>低成本、富语义的探索</a:t>
            </a:r>
            <a:endParaRPr lang="zh-CN" altLang="en-US" dirty="0">
              <a:latin typeface="方正小标宋简体" panose="02010601030101010101" pitchFamily="2" charset="-122"/>
              <a:ea typeface="方正小标宋简体" panose="02010601030101010101" pitchFamily="2" charset="-122"/>
            </a:endParaRPr>
          </a:p>
        </p:txBody>
      </p:sp>
      <p:sp>
        <p:nvSpPr>
          <p:cNvPr id="9231" name="文本框 9230">
            <a:extLst>
              <a:ext uri="{FF2B5EF4-FFF2-40B4-BE49-F238E27FC236}">
                <a16:creationId xmlns:a16="http://schemas.microsoft.com/office/drawing/2014/main" id="{7130D8EE-0D1C-1439-7F9B-828E4F320336}"/>
              </a:ext>
            </a:extLst>
          </p:cNvPr>
          <p:cNvSpPr txBox="1"/>
          <p:nvPr/>
        </p:nvSpPr>
        <p:spPr>
          <a:xfrm>
            <a:off x="4708019" y="2495191"/>
            <a:ext cx="7225973" cy="1200329"/>
          </a:xfrm>
          <a:prstGeom prst="rect">
            <a:avLst/>
          </a:prstGeom>
          <a:noFill/>
        </p:spPr>
        <p:txBody>
          <a:bodyPr wrap="square">
            <a:spAutoFit/>
          </a:bodyPr>
          <a:lstStyle/>
          <a:p>
            <a:pPr>
              <a:lnSpc>
                <a:spcPct val="100000"/>
              </a:lnSpc>
            </a:pPr>
            <a:r>
              <a:rPr kumimoji="1" lang="en-US" altLang="zh-CN"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SLAM</a:t>
            </a:r>
            <a:r>
              <a:rPr kumimoji="1" lang="zh-CN" altLang="en-US"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核心原理：同时定位与建图</a:t>
            </a:r>
            <a:endParaRPr kumimoji="1" lang="en-US" altLang="zh-CN"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00000"/>
              </a:lnSpc>
            </a:pPr>
            <a:r>
              <a:rPr kumimoji="1" lang="zh-CN" altLang="en-US"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视觉</a:t>
            </a:r>
            <a:r>
              <a:rPr kumimoji="1" lang="en-US" altLang="zh-CN"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SLAM</a:t>
            </a:r>
            <a:r>
              <a:rPr kumimoji="1" lang="zh-CN" altLang="en-US"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：以相机图像序列为主要观测，利用图像中的特征、外观、纹理、形状等信息，在未知环境中同时估计相机</a:t>
            </a:r>
            <a:r>
              <a:rPr kumimoji="1" lang="en-US" altLang="zh-CN"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a:t>
            </a:r>
            <a:r>
              <a:rPr kumimoji="1" lang="zh-CN" altLang="en-US"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机器人自身运动轨迹并构建环境地图</a:t>
            </a:r>
          </a:p>
        </p:txBody>
      </p:sp>
      <p:pic>
        <p:nvPicPr>
          <p:cNvPr id="9239" name="图片 9238">
            <a:extLst>
              <a:ext uri="{FF2B5EF4-FFF2-40B4-BE49-F238E27FC236}">
                <a16:creationId xmlns:a16="http://schemas.microsoft.com/office/drawing/2014/main" id="{60990866-6709-E598-86BA-372CC53CEFBC}"/>
              </a:ext>
            </a:extLst>
          </p:cNvPr>
          <p:cNvPicPr>
            <a:picLocks noChangeAspect="1"/>
          </p:cNvPicPr>
          <p:nvPr/>
        </p:nvPicPr>
        <p:blipFill>
          <a:blip r:embed="rId5"/>
          <a:stretch>
            <a:fillRect/>
          </a:stretch>
        </p:blipFill>
        <p:spPr>
          <a:xfrm>
            <a:off x="9225795" y="3978951"/>
            <a:ext cx="1851103" cy="2406160"/>
          </a:xfrm>
          <a:prstGeom prst="rect">
            <a:avLst/>
          </a:prstGeom>
        </p:spPr>
      </p:pic>
      <p:pic>
        <p:nvPicPr>
          <p:cNvPr id="9241" name="图片 9240">
            <a:extLst>
              <a:ext uri="{FF2B5EF4-FFF2-40B4-BE49-F238E27FC236}">
                <a16:creationId xmlns:a16="http://schemas.microsoft.com/office/drawing/2014/main" id="{A7636E01-5876-A3C1-76A1-12D6855454DA}"/>
              </a:ext>
            </a:extLst>
          </p:cNvPr>
          <p:cNvPicPr>
            <a:picLocks noChangeAspect="1"/>
          </p:cNvPicPr>
          <p:nvPr/>
        </p:nvPicPr>
        <p:blipFill>
          <a:blip r:embed="rId6"/>
          <a:stretch>
            <a:fillRect/>
          </a:stretch>
        </p:blipFill>
        <p:spPr>
          <a:xfrm>
            <a:off x="6910755" y="3978951"/>
            <a:ext cx="1868889" cy="2425697"/>
          </a:xfrm>
          <a:prstGeom prst="rect">
            <a:avLst/>
          </a:prstGeom>
        </p:spPr>
      </p:pic>
      <p:pic>
        <p:nvPicPr>
          <p:cNvPr id="9243" name="图片 9242">
            <a:extLst>
              <a:ext uri="{FF2B5EF4-FFF2-40B4-BE49-F238E27FC236}">
                <a16:creationId xmlns:a16="http://schemas.microsoft.com/office/drawing/2014/main" id="{74AFFA93-12C8-424C-34CA-ED21D6C99101}"/>
              </a:ext>
            </a:extLst>
          </p:cNvPr>
          <p:cNvPicPr>
            <a:picLocks noChangeAspect="1"/>
          </p:cNvPicPr>
          <p:nvPr/>
        </p:nvPicPr>
        <p:blipFill>
          <a:blip r:embed="rId7"/>
          <a:stretch>
            <a:fillRect/>
          </a:stretch>
        </p:blipFill>
        <p:spPr>
          <a:xfrm>
            <a:off x="4762714" y="3988720"/>
            <a:ext cx="1872706" cy="2406160"/>
          </a:xfrm>
          <a:prstGeom prst="rect">
            <a:avLst/>
          </a:prstGeom>
        </p:spPr>
      </p:pic>
    </p:spTree>
    <p:extLst>
      <p:ext uri="{BB962C8B-B14F-4D97-AF65-F5344CB8AC3E}">
        <p14:creationId xmlns:p14="http://schemas.microsoft.com/office/powerpoint/2010/main" val="182776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28A11-F4C7-7735-AA62-907935F42B7C}"/>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EA596BEA-82CD-A54C-B66D-6C35FD312A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FBE20DC2-01EA-B2E2-60DA-C3BE44B4BC19}"/>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AC4380B0-F5C2-8496-0AFF-7E434BD80598}"/>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EA300816-D947-9575-265B-BEAF65854608}"/>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1CF06E37-C4B2-C9EE-09C1-DD12E34F2DF9}"/>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3EF89696-63FE-5BD7-FE9E-264EA82C191B}"/>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D70622EB-A2B4-08D4-C784-363738769996}"/>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C5683CDE-2419-257F-EFD1-2E456280DC40}"/>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定位</a:t>
            </a:r>
          </a:p>
        </p:txBody>
      </p:sp>
      <p:sp>
        <p:nvSpPr>
          <p:cNvPr id="29" name="椭圆 28">
            <a:extLst>
              <a:ext uri="{FF2B5EF4-FFF2-40B4-BE49-F238E27FC236}">
                <a16:creationId xmlns:a16="http://schemas.microsoft.com/office/drawing/2014/main" id="{306F7BDD-50B9-74BD-6FEC-1A6150966B6D}"/>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D89111CC-52B7-F3DD-2FFA-F885E7110656}"/>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10</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5C3354CB-C97B-4163-026D-0BCE15341D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7951A764-B262-D7F9-5796-3C58BF30359D}"/>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847ED902-B98B-78CB-B894-C1EEFDEEFB1F}"/>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87F2B8C8-C745-9748-B690-DC66E1E6DB56}"/>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58152770-48C4-729B-8BDF-42E447352645}"/>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9E9F2C7F-E6BA-FE7E-53C5-7D229CB00FB6}"/>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C974F567-7692-69C6-5C1A-CF0E1AF24132}"/>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0E5F3688-3D2C-E1EE-0CB7-E8D451C77338}"/>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CC5B530E-26D7-635C-79D5-65374EE1C4E3}"/>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3BB67649-91B9-1307-634D-BF1D065F4DF9}"/>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3D54D516-0952-2C4F-31D7-5AC9B4507DC1}"/>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88FDAEC3-E2C9-47ED-D6F1-11660D164FB5}"/>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73623398-F2CF-083B-14BB-A23E0B735268}"/>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43F24BA7-E874-4AA6-4595-2B51C25450BC}"/>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61" name="文本框 60">
            <a:extLst>
              <a:ext uri="{FF2B5EF4-FFF2-40B4-BE49-F238E27FC236}">
                <a16:creationId xmlns:a16="http://schemas.microsoft.com/office/drawing/2014/main" id="{EBC39AE7-FC22-5AB9-741C-DA3E791EA425}"/>
              </a:ext>
            </a:extLst>
          </p:cNvPr>
          <p:cNvSpPr txBox="1"/>
          <p:nvPr/>
        </p:nvSpPr>
        <p:spPr>
          <a:xfrm>
            <a:off x="2680745" y="1947278"/>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阶段二：视觉</a:t>
            </a:r>
            <a:r>
              <a:rPr lang="en-US" altLang="zh-CN" sz="1800" b="1" i="0" dirty="0">
                <a:effectLst/>
                <a:latin typeface="方正小标宋简体" panose="02010601030101010101" pitchFamily="2" charset="-122"/>
                <a:ea typeface="方正小标宋简体" panose="02010601030101010101" pitchFamily="2" charset="-122"/>
              </a:rPr>
              <a:t>SLAM</a:t>
            </a:r>
            <a:r>
              <a:rPr lang="zh-CN" altLang="en-US" sz="1800" b="1" i="0" dirty="0">
                <a:effectLst/>
                <a:latin typeface="方正小标宋简体" panose="02010601030101010101" pitchFamily="2" charset="-122"/>
                <a:ea typeface="方正小标宋简体" panose="02010601030101010101" pitchFamily="2" charset="-122"/>
              </a:rPr>
              <a:t>（</a:t>
            </a:r>
            <a:r>
              <a:rPr lang="en-US" altLang="zh-CN" sz="1800" b="1" i="0" dirty="0">
                <a:effectLst/>
                <a:latin typeface="方正小标宋简体" panose="02010601030101010101" pitchFamily="2" charset="-122"/>
                <a:ea typeface="方正小标宋简体" panose="02010601030101010101" pitchFamily="2" charset="-122"/>
              </a:rPr>
              <a:t>Visual SLAM</a:t>
            </a:r>
            <a:r>
              <a:rPr lang="zh-CN" altLang="en-US" sz="1800" b="1" i="0" dirty="0">
                <a:effectLst/>
                <a:latin typeface="方正小标宋简体" panose="02010601030101010101" pitchFamily="2" charset="-122"/>
                <a:ea typeface="方正小标宋简体" panose="02010601030101010101" pitchFamily="2" charset="-122"/>
              </a:rPr>
              <a:t>）</a:t>
            </a:r>
            <a:r>
              <a:rPr lang="en-US" altLang="zh-CN" sz="1800" b="1" i="0" dirty="0">
                <a:effectLst/>
                <a:latin typeface="方正小标宋简体" panose="02010601030101010101" pitchFamily="2" charset="-122"/>
                <a:ea typeface="方正小标宋简体" panose="02010601030101010101" pitchFamily="2" charset="-122"/>
              </a:rPr>
              <a:t>—— </a:t>
            </a:r>
            <a:r>
              <a:rPr lang="zh-CN" altLang="en-US" sz="1800" b="1" i="0" dirty="0">
                <a:effectLst/>
                <a:latin typeface="方正小标宋简体" panose="02010601030101010101" pitchFamily="2" charset="-122"/>
                <a:ea typeface="方正小标宋简体" panose="02010601030101010101" pitchFamily="2" charset="-122"/>
              </a:rPr>
              <a:t>低成本、富语义的探索</a:t>
            </a:r>
            <a:endParaRPr lang="zh-CN" altLang="en-US" dirty="0">
              <a:latin typeface="方正小标宋简体" panose="02010601030101010101" pitchFamily="2" charset="-122"/>
              <a:ea typeface="方正小标宋简体" panose="02010601030101010101" pitchFamily="2" charset="-122"/>
            </a:endParaRPr>
          </a:p>
        </p:txBody>
      </p:sp>
      <p:grpSp>
        <p:nvGrpSpPr>
          <p:cNvPr id="9222" name="组合 9221">
            <a:extLst>
              <a:ext uri="{FF2B5EF4-FFF2-40B4-BE49-F238E27FC236}">
                <a16:creationId xmlns:a16="http://schemas.microsoft.com/office/drawing/2014/main" id="{2D3C0262-FD5E-32D7-D146-ECD4EF024BF8}"/>
              </a:ext>
            </a:extLst>
          </p:cNvPr>
          <p:cNvGrpSpPr/>
          <p:nvPr/>
        </p:nvGrpSpPr>
        <p:grpSpPr>
          <a:xfrm>
            <a:off x="1738610" y="3096289"/>
            <a:ext cx="572478" cy="2587717"/>
            <a:chOff x="6749564" y="3087174"/>
            <a:chExt cx="779809" cy="3017901"/>
          </a:xfrm>
        </p:grpSpPr>
        <p:sp>
          <p:nvSpPr>
            <p:cNvPr id="9221" name="矩形: 圆角 9220">
              <a:extLst>
                <a:ext uri="{FF2B5EF4-FFF2-40B4-BE49-F238E27FC236}">
                  <a16:creationId xmlns:a16="http://schemas.microsoft.com/office/drawing/2014/main" id="{337731AB-745A-2E24-434D-7F4DA18BB7A3}"/>
                </a:ext>
              </a:extLst>
            </p:cNvPr>
            <p:cNvSpPr/>
            <p:nvPr/>
          </p:nvSpPr>
          <p:spPr>
            <a:xfrm>
              <a:off x="6749564" y="3087174"/>
              <a:ext cx="779809" cy="3017901"/>
            </a:xfrm>
            <a:prstGeom prst="roundRect">
              <a:avLst/>
            </a:prstGeom>
            <a:gradFill>
              <a:gsLst>
                <a:gs pos="56000">
                  <a:srgbClr val="2A628C"/>
                </a:gs>
                <a:gs pos="17000">
                  <a:schemeClr val="tx2">
                    <a:lumMod val="20000"/>
                    <a:lumOff val="80000"/>
                  </a:schemeClr>
                </a:gs>
              </a:gsLst>
              <a:lin ang="5400000" scaled="0"/>
            </a:gradFill>
            <a:ln>
              <a:noFill/>
            </a:ln>
            <a:effectLst>
              <a:outerShdw blurRad="241300" dist="38100" dir="2700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16" name="文本框 9215">
              <a:extLst>
                <a:ext uri="{FF2B5EF4-FFF2-40B4-BE49-F238E27FC236}">
                  <a16:creationId xmlns:a16="http://schemas.microsoft.com/office/drawing/2014/main" id="{5AD514A5-6B45-54D6-AD02-9B71E879072B}"/>
                </a:ext>
              </a:extLst>
            </p:cNvPr>
            <p:cNvSpPr txBox="1"/>
            <p:nvPr/>
          </p:nvSpPr>
          <p:spPr>
            <a:xfrm rot="16200000">
              <a:off x="6216140" y="4320451"/>
              <a:ext cx="1846659" cy="369332"/>
            </a:xfrm>
            <a:prstGeom prst="rect">
              <a:avLst/>
            </a:prstGeom>
            <a:noFill/>
          </p:spPr>
          <p:txBody>
            <a:bodyPr vert="vert" wrap="square">
              <a:spAutoFit/>
            </a:bodyPr>
            <a:lstStyle/>
            <a:p>
              <a:r>
                <a:rPr lang="zh-CN" altLang="en-US" sz="1800" b="1" i="0" dirty="0">
                  <a:solidFill>
                    <a:schemeClr val="bg1"/>
                  </a:solidFill>
                  <a:effectLst/>
                  <a:latin typeface="方正小标宋简体" panose="02010601030101010101" pitchFamily="2" charset="-122"/>
                  <a:ea typeface="方正小标宋简体" panose="02010601030101010101" pitchFamily="2" charset="-122"/>
                </a:rPr>
                <a:t>两大技术分支</a:t>
              </a:r>
              <a:endParaRPr lang="zh-CN" altLang="en-US" dirty="0">
                <a:solidFill>
                  <a:schemeClr val="bg1"/>
                </a:solidFill>
                <a:latin typeface="方正小标宋简体" panose="02010601030101010101" pitchFamily="2" charset="-122"/>
                <a:ea typeface="方正小标宋简体" panose="02010601030101010101" pitchFamily="2" charset="-122"/>
              </a:endParaRPr>
            </a:p>
          </p:txBody>
        </p:sp>
      </p:grpSp>
      <p:graphicFrame>
        <p:nvGraphicFramePr>
          <p:cNvPr id="24" name="表格 23">
            <a:extLst>
              <a:ext uri="{FF2B5EF4-FFF2-40B4-BE49-F238E27FC236}">
                <a16:creationId xmlns:a16="http://schemas.microsoft.com/office/drawing/2014/main" id="{8116BB2E-0273-BF96-D0E9-2E89DE00CD75}"/>
              </a:ext>
            </a:extLst>
          </p:cNvPr>
          <p:cNvGraphicFramePr>
            <a:graphicFrameLocks noGrp="1"/>
          </p:cNvGraphicFramePr>
          <p:nvPr>
            <p:extLst>
              <p:ext uri="{D42A27DB-BD31-4B8C-83A1-F6EECF244321}">
                <p14:modId xmlns:p14="http://schemas.microsoft.com/office/powerpoint/2010/main" val="3000183735"/>
              </p:ext>
            </p:extLst>
          </p:nvPr>
        </p:nvGraphicFramePr>
        <p:xfrm>
          <a:off x="2954867" y="2440946"/>
          <a:ext cx="8009466" cy="3861284"/>
        </p:xfrm>
        <a:graphic>
          <a:graphicData uri="http://schemas.openxmlformats.org/drawingml/2006/table">
            <a:tbl>
              <a:tblPr firstRow="1" bandRow="1">
                <a:tableStyleId>{7DF18680-E054-41AD-8BC1-D1AEF772440D}</a:tableStyleId>
              </a:tblPr>
              <a:tblGrid>
                <a:gridCol w="1786466">
                  <a:extLst>
                    <a:ext uri="{9D8B030D-6E8A-4147-A177-3AD203B41FA5}">
                      <a16:colId xmlns:a16="http://schemas.microsoft.com/office/drawing/2014/main" val="20000"/>
                    </a:ext>
                  </a:extLst>
                </a:gridCol>
                <a:gridCol w="3166534">
                  <a:extLst>
                    <a:ext uri="{9D8B030D-6E8A-4147-A177-3AD203B41FA5}">
                      <a16:colId xmlns:a16="http://schemas.microsoft.com/office/drawing/2014/main" val="20001"/>
                    </a:ext>
                  </a:extLst>
                </a:gridCol>
                <a:gridCol w="3056466">
                  <a:extLst>
                    <a:ext uri="{9D8B030D-6E8A-4147-A177-3AD203B41FA5}">
                      <a16:colId xmlns:a16="http://schemas.microsoft.com/office/drawing/2014/main" val="20002"/>
                    </a:ext>
                  </a:extLst>
                </a:gridCol>
              </a:tblGrid>
              <a:tr h="501195">
                <a:tc>
                  <a:txBody>
                    <a:bodyPr/>
                    <a:lstStyle/>
                    <a:p>
                      <a:pPr marL="0" algn="ctr" defTabSz="914400" rtl="0" eaLnBrk="1" latinLnBrk="0" hangingPunct="1"/>
                      <a:endParaRPr lang="zh-CN" altLang="en-US" sz="1800" b="1" i="0" kern="1200" dirty="0">
                        <a:solidFill>
                          <a:schemeClr val="lt1"/>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800" b="1" dirty="0">
                          <a:solidFill>
                            <a:schemeClr val="tx1"/>
                          </a:solidFill>
                          <a:effectLst/>
                          <a:latin typeface="方正小标宋简体" panose="02010601030101010101" pitchFamily="2" charset="-122"/>
                          <a:ea typeface="方正小标宋简体" panose="02010601030101010101" pitchFamily="2" charset="-122"/>
                        </a:rPr>
                        <a:t>关键点法</a:t>
                      </a:r>
                      <a:endParaRPr lang="zh-CN" altLang="en-US" sz="1800" b="1" i="0" kern="1200" dirty="0">
                        <a:solidFill>
                          <a:schemeClr val="lt1"/>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en-US" sz="1800" b="1" i="0" kern="1200" dirty="0">
                          <a:solidFill>
                            <a:schemeClr val="tx1"/>
                          </a:solidFill>
                          <a:latin typeface="方正小标宋简体" panose="02010601030101010101" pitchFamily="2" charset="-122"/>
                          <a:ea typeface="方正小标宋简体" panose="02010601030101010101" pitchFamily="2" charset="-122"/>
                          <a:cs typeface="Arial" panose="020B0604020202020204" pitchFamily="34" charset="0"/>
                        </a:rPr>
                        <a:t>光流法</a:t>
                      </a:r>
                    </a:p>
                  </a:txBody>
                  <a:tcPr anchor="ctr"/>
                </a:tc>
                <a:extLst>
                  <a:ext uri="{0D108BD9-81ED-4DB2-BD59-A6C34878D82A}">
                    <a16:rowId xmlns:a16="http://schemas.microsoft.com/office/drawing/2014/main" val="10000"/>
                  </a:ext>
                </a:extLst>
              </a:tr>
              <a:tr h="1493423">
                <a:tc>
                  <a:txBody>
                    <a:bodyPr/>
                    <a:lstStyle/>
                    <a:p>
                      <a:pPr marL="0" algn="ctr" defTabSz="914400" rtl="0" eaLnBrk="1" latinLnBrk="0" hangingPunct="1"/>
                      <a:r>
                        <a:rPr lang="zh-CN" altLang="en-US" sz="1800" b="1" i="0" kern="1200" dirty="0">
                          <a:solidFill>
                            <a:schemeClr val="tx1">
                              <a:lumMod val="95000"/>
                              <a:lumOff val="5000"/>
                            </a:schemeClr>
                          </a:solidFill>
                          <a:latin typeface="Arial" panose="020B0604020202020204" pitchFamily="34" charset="0"/>
                          <a:ea typeface="+mn-ea"/>
                          <a:cs typeface="Arial" panose="020B0604020202020204" pitchFamily="34" charset="0"/>
                        </a:rPr>
                        <a:t>原理</a:t>
                      </a:r>
                    </a:p>
                  </a:txBody>
                  <a:tcPr anchor="ctr"/>
                </a:tc>
                <a:tc>
                  <a:txBody>
                    <a:bodyPr/>
                    <a:lstStyle/>
                    <a:p>
                      <a:pPr marL="0" algn="ctr" defTabSz="914400" rtl="0" eaLnBrk="1" latinLnBrk="0" hangingPunct="1"/>
                      <a:r>
                        <a:rPr lang="zh-CN" altLang="en-US" sz="1400" b="1" i="0" kern="1200" dirty="0">
                          <a:solidFill>
                            <a:schemeClr val="tx1">
                              <a:lumMod val="95000"/>
                              <a:lumOff val="5000"/>
                            </a:schemeClr>
                          </a:solidFill>
                          <a:latin typeface="Arial" panose="020B0604020202020204" pitchFamily="34" charset="0"/>
                          <a:ea typeface="+mn-ea"/>
                          <a:cs typeface="Arial" panose="020B0604020202020204" pitchFamily="34" charset="0"/>
                        </a:rPr>
                        <a:t>从图像中提取稀疏的关键点</a:t>
                      </a:r>
                      <a:r>
                        <a:rPr lang="en-US" altLang="zh-CN" sz="1400" b="1" i="0" kern="1200" dirty="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400" b="1" i="0" kern="1200" dirty="0">
                          <a:solidFill>
                            <a:schemeClr val="tx1">
                              <a:lumMod val="95000"/>
                              <a:lumOff val="5000"/>
                            </a:schemeClr>
                          </a:solidFill>
                          <a:latin typeface="Arial" panose="020B0604020202020204" pitchFamily="34" charset="0"/>
                          <a:ea typeface="+mn-ea"/>
                          <a:cs typeface="Arial" panose="020B0604020202020204" pitchFamily="34" charset="0"/>
                        </a:rPr>
                        <a:t>特征，通过匹配建立帧间或帧与地图之间的对应关系，再估计相机运动和优化地图。</a:t>
                      </a:r>
                    </a:p>
                  </a:txBody>
                  <a:tcPr anchor="ctr"/>
                </a:tc>
                <a:tc>
                  <a:txBody>
                    <a:bodyPr/>
                    <a:lstStyle/>
                    <a:p>
                      <a:pPr marL="0" algn="ctr" defTabSz="914400" rtl="0" eaLnBrk="1" latinLnBrk="0" hangingPunct="1"/>
                      <a:r>
                        <a:rPr lang="zh-CN" altLang="en-US" sz="1400" b="0" i="0" kern="1200" dirty="0">
                          <a:solidFill>
                            <a:schemeClr val="dk1"/>
                          </a:solidFill>
                          <a:effectLst/>
                          <a:latin typeface="+mn-lt"/>
                          <a:ea typeface="+mn-ea"/>
                          <a:cs typeface="+mn-cs"/>
                        </a:rPr>
                        <a:t>分析</a:t>
                      </a:r>
                      <a:r>
                        <a:rPr lang="zh-CN" altLang="zh-CN" sz="1400" b="0" i="0" kern="1200" dirty="0">
                          <a:solidFill>
                            <a:schemeClr val="dk1"/>
                          </a:solidFill>
                          <a:effectLst/>
                          <a:latin typeface="+mn-lt"/>
                          <a:ea typeface="+mn-ea"/>
                          <a:cs typeface="+mn-cs"/>
                        </a:rPr>
                        <a:t>像素在图像间的运动。核心假设是</a:t>
                      </a:r>
                      <a:r>
                        <a:rPr lang="zh-CN" altLang="zh-CN" sz="1400" b="1" i="0" kern="1200" dirty="0">
                          <a:solidFill>
                            <a:schemeClr val="dk1"/>
                          </a:solidFill>
                          <a:effectLst/>
                          <a:latin typeface="+mn-lt"/>
                          <a:ea typeface="+mn-ea"/>
                          <a:cs typeface="+mn-cs"/>
                        </a:rPr>
                        <a:t>亮度恒定</a:t>
                      </a:r>
                      <a:r>
                        <a:rPr lang="zh-CN" altLang="en-US" sz="1400" b="1" i="0" kern="1200" dirty="0">
                          <a:solidFill>
                            <a:schemeClr val="dk1"/>
                          </a:solidFill>
                          <a:effectLst/>
                          <a:latin typeface="+mn-lt"/>
                          <a:ea typeface="+mn-ea"/>
                          <a:cs typeface="+mn-cs"/>
                        </a:rPr>
                        <a:t>，用光流直接跟踪特征点在下一帧中的位置，从而建立帧间数据关联。后端仍然用多视图几何和优化来估计相机位姿与地图点。</a:t>
                      </a:r>
                      <a:endParaRPr lang="zh-CN" altLang="en-US" sz="14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0001"/>
                  </a:ext>
                </a:extLst>
              </a:tr>
              <a:tr h="933333">
                <a:tc>
                  <a:txBody>
                    <a:bodyPr/>
                    <a:lstStyle/>
                    <a:p>
                      <a:pPr marL="0" algn="ctr" defTabSz="914400" rtl="0" eaLnBrk="1" latinLnBrk="0" hangingPunct="1"/>
                      <a:r>
                        <a:rPr lang="zh-CN" altLang="en-US" sz="1800" b="1" i="0" kern="1200" dirty="0">
                          <a:solidFill>
                            <a:schemeClr val="tx1">
                              <a:lumMod val="95000"/>
                              <a:lumOff val="5000"/>
                            </a:schemeClr>
                          </a:solidFill>
                          <a:latin typeface="Arial" panose="020B0604020202020204" pitchFamily="34" charset="0"/>
                          <a:ea typeface="+mn-ea"/>
                          <a:cs typeface="Arial" panose="020B0604020202020204" pitchFamily="34" charset="0"/>
                        </a:rPr>
                        <a:t>优点</a:t>
                      </a:r>
                    </a:p>
                  </a:txBody>
                  <a:tcPr anchor="ctr"/>
                </a:tc>
                <a:tc>
                  <a:txBody>
                    <a:bodyPr/>
                    <a:lstStyle/>
                    <a:p>
                      <a:pPr marL="0" algn="ctr" defTabSz="914400" rtl="0" eaLnBrk="1" latinLnBrk="0" hangingPunct="1"/>
                      <a:r>
                        <a:rPr lang="zh-CN" altLang="zh-CN" sz="1800" b="1" i="0" kern="1200" dirty="0">
                          <a:solidFill>
                            <a:schemeClr val="dk1"/>
                          </a:solidFill>
                          <a:effectLst/>
                          <a:latin typeface="+mn-lt"/>
                          <a:ea typeface="+mn-ea"/>
                          <a:cs typeface="+mn-cs"/>
                        </a:rPr>
                        <a:t>光照和视角鲁棒性较好</a:t>
                      </a:r>
                      <a:endParaRPr lang="en-US" altLang="zh-CN" sz="1800" b="1" i="0" kern="1200" dirty="0">
                        <a:solidFill>
                          <a:schemeClr val="dk1"/>
                        </a:solidFill>
                        <a:effectLst/>
                        <a:latin typeface="+mn-lt"/>
                        <a:ea typeface="+mn-ea"/>
                        <a:cs typeface="+mn-cs"/>
                      </a:endParaRPr>
                    </a:p>
                    <a:p>
                      <a:pPr marL="0" algn="ctr" defTabSz="914400" rtl="0" eaLnBrk="1" latinLnBrk="0" hangingPunct="1"/>
                      <a:r>
                        <a:rPr lang="zh-CN" altLang="zh-CN" sz="1800" b="1" i="0" kern="1200" dirty="0">
                          <a:solidFill>
                            <a:schemeClr val="dk1"/>
                          </a:solidFill>
                          <a:effectLst/>
                          <a:latin typeface="+mn-lt"/>
                          <a:ea typeface="+mn-ea"/>
                          <a:cs typeface="+mn-cs"/>
                        </a:rPr>
                        <a:t>回环检测和重定位能力强</a:t>
                      </a:r>
                      <a:endParaRPr lang="en-US" altLang="zh-CN" sz="1800" b="1" i="0" kern="1200" dirty="0">
                        <a:solidFill>
                          <a:schemeClr val="dk1"/>
                        </a:solidFill>
                        <a:effectLst/>
                        <a:latin typeface="+mn-lt"/>
                        <a:ea typeface="+mn-ea"/>
                        <a:cs typeface="+mn-cs"/>
                      </a:endParaRPr>
                    </a:p>
                    <a:p>
                      <a:pPr marL="0" algn="ctr" defTabSz="914400" rtl="0" eaLnBrk="1" latinLnBrk="0" hangingPunct="1"/>
                      <a:r>
                        <a:rPr lang="zh-CN" altLang="zh-CN" sz="1800" b="1" i="0" kern="1200" dirty="0">
                          <a:solidFill>
                            <a:schemeClr val="dk1"/>
                          </a:solidFill>
                          <a:effectLst/>
                          <a:latin typeface="+mn-lt"/>
                          <a:ea typeface="+mn-ea"/>
                          <a:cs typeface="+mn-cs"/>
                        </a:rPr>
                        <a:t>可以跨帧、跨视角匹配</a:t>
                      </a:r>
                      <a:endParaRPr lang="zh-CN" altLang="en-US" sz="18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800" b="1" i="0" kern="1200" dirty="0">
                          <a:solidFill>
                            <a:schemeClr val="dk1"/>
                          </a:solidFill>
                          <a:effectLst/>
                          <a:latin typeface="+mn-lt"/>
                          <a:ea typeface="+mn-ea"/>
                          <a:cs typeface="+mn-cs"/>
                        </a:rPr>
                        <a:t>速度快，前端轻</a:t>
                      </a:r>
                      <a:endParaRPr lang="en-US" altLang="zh-CN" sz="1800" b="1" i="0" kern="1200" dirty="0">
                        <a:solidFill>
                          <a:schemeClr val="dk1"/>
                        </a:solidFill>
                        <a:effectLst/>
                        <a:latin typeface="+mn-lt"/>
                        <a:ea typeface="+mn-ea"/>
                        <a:cs typeface="+mn-cs"/>
                      </a:endParaRPr>
                    </a:p>
                    <a:p>
                      <a:pPr marL="0" algn="ctr" defTabSz="914400" rtl="0" eaLnBrk="1" latinLnBrk="0" hangingPunct="1"/>
                      <a:r>
                        <a:rPr lang="zh-CN" altLang="zh-CN" sz="1800" b="1" i="0" kern="1200" dirty="0">
                          <a:solidFill>
                            <a:schemeClr val="dk1"/>
                          </a:solidFill>
                          <a:effectLst/>
                          <a:latin typeface="+mn-lt"/>
                          <a:ea typeface="+mn-ea"/>
                          <a:cs typeface="+mn-cs"/>
                        </a:rPr>
                        <a:t>短期精度高</a:t>
                      </a:r>
                      <a:endParaRPr lang="en-US" altLang="zh-CN" sz="1800" b="1" i="0" kern="1200" dirty="0">
                        <a:solidFill>
                          <a:schemeClr val="dk1"/>
                        </a:solidFill>
                        <a:effectLst/>
                        <a:latin typeface="+mn-lt"/>
                        <a:ea typeface="+mn-ea"/>
                        <a:cs typeface="+mn-cs"/>
                      </a:endParaRPr>
                    </a:p>
                    <a:p>
                      <a:pPr marL="0" algn="ctr" defTabSz="914400" rtl="0" eaLnBrk="1" latinLnBrk="0" hangingPunct="1"/>
                      <a:r>
                        <a:rPr lang="zh-CN" altLang="zh-CN" sz="1800" b="1" i="0" kern="1200" dirty="0">
                          <a:solidFill>
                            <a:schemeClr val="dk1"/>
                          </a:solidFill>
                          <a:effectLst/>
                          <a:latin typeface="+mn-lt"/>
                          <a:ea typeface="+mn-ea"/>
                          <a:cs typeface="+mn-cs"/>
                        </a:rPr>
                        <a:t>实现简单</a:t>
                      </a:r>
                      <a:endParaRPr lang="zh-CN" altLang="en-US" sz="18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3591990814"/>
                  </a:ext>
                </a:extLst>
              </a:tr>
              <a:tr h="933333">
                <a:tc>
                  <a:txBody>
                    <a:bodyPr/>
                    <a:lstStyle/>
                    <a:p>
                      <a:pPr marL="0" algn="ctr" defTabSz="914400" rtl="0" eaLnBrk="1" latinLnBrk="0" hangingPunct="1"/>
                      <a:r>
                        <a:rPr lang="zh-CN" altLang="en-US" sz="1800" b="1" i="0" kern="1200" dirty="0">
                          <a:solidFill>
                            <a:schemeClr val="tx1">
                              <a:lumMod val="95000"/>
                              <a:lumOff val="5000"/>
                            </a:schemeClr>
                          </a:solidFill>
                          <a:latin typeface="Arial" panose="020B0604020202020204" pitchFamily="34" charset="0"/>
                          <a:ea typeface="+mn-ea"/>
                          <a:cs typeface="Arial" panose="020B0604020202020204" pitchFamily="34" charset="0"/>
                        </a:rPr>
                        <a:t>缺点</a:t>
                      </a:r>
                    </a:p>
                  </a:txBody>
                  <a:tcPr anchor="ctr"/>
                </a:tc>
                <a:tc>
                  <a:txBody>
                    <a:bodyPr/>
                    <a:lstStyle/>
                    <a:p>
                      <a:pPr marL="0" algn="ctr" defTabSz="914400" rtl="0" eaLnBrk="1" latinLnBrk="0" hangingPunct="1"/>
                      <a:r>
                        <a:rPr lang="zh-CN" altLang="zh-CN" sz="1800" b="1" i="0" kern="1200" dirty="0">
                          <a:solidFill>
                            <a:schemeClr val="dk1"/>
                          </a:solidFill>
                          <a:effectLst/>
                          <a:latin typeface="+mn-lt"/>
                          <a:ea typeface="+mn-ea"/>
                          <a:cs typeface="+mn-cs"/>
                        </a:rPr>
                        <a:t>描述子计算和匹配耗时</a:t>
                      </a:r>
                      <a:endParaRPr lang="en-US" altLang="zh-CN" sz="1800" b="1" i="0" kern="1200" dirty="0">
                        <a:solidFill>
                          <a:schemeClr val="dk1"/>
                        </a:solidFill>
                        <a:effectLst/>
                        <a:latin typeface="+mn-lt"/>
                        <a:ea typeface="+mn-ea"/>
                        <a:cs typeface="+mn-cs"/>
                      </a:endParaRPr>
                    </a:p>
                    <a:p>
                      <a:pPr marL="0" algn="ctr" defTabSz="914400" rtl="0" eaLnBrk="1" latinLnBrk="0" hangingPunct="1"/>
                      <a:r>
                        <a:rPr lang="zh-CN" altLang="zh-CN" sz="1800" b="1" i="0" kern="1200" dirty="0">
                          <a:solidFill>
                            <a:schemeClr val="dk1"/>
                          </a:solidFill>
                          <a:effectLst/>
                          <a:latin typeface="+mn-lt"/>
                          <a:ea typeface="+mn-ea"/>
                          <a:cs typeface="+mn-cs"/>
                        </a:rPr>
                        <a:t>弱纹理场景容易失败</a:t>
                      </a:r>
                      <a:r>
                        <a:rPr lang="zh-CN" altLang="en-US" sz="1800" b="1" i="0" kern="1200" dirty="0">
                          <a:solidFill>
                            <a:schemeClr val="dk1"/>
                          </a:solidFill>
                          <a:effectLst/>
                          <a:latin typeface="+mn-lt"/>
                          <a:ea typeface="+mn-ea"/>
                          <a:cs typeface="+mn-cs"/>
                        </a:rPr>
                        <a:t>（白墙）</a:t>
                      </a:r>
                      <a:endParaRPr lang="en-US" altLang="zh-CN" sz="1800" b="1" i="0" kern="1200" dirty="0">
                        <a:solidFill>
                          <a:schemeClr val="dk1"/>
                        </a:solidFill>
                        <a:effectLst/>
                        <a:latin typeface="+mn-lt"/>
                        <a:ea typeface="+mn-ea"/>
                        <a:cs typeface="+mn-cs"/>
                      </a:endParaRPr>
                    </a:p>
                    <a:p>
                      <a:pPr marL="0" algn="ctr" defTabSz="914400" rtl="0" eaLnBrk="1" latinLnBrk="0" hangingPunct="1"/>
                      <a:r>
                        <a:rPr lang="zh-CN" altLang="zh-CN" sz="1800" b="1" i="0" kern="1200" dirty="0">
                          <a:solidFill>
                            <a:schemeClr val="dk1"/>
                          </a:solidFill>
                          <a:effectLst/>
                          <a:latin typeface="+mn-lt"/>
                          <a:ea typeface="+mn-ea"/>
                          <a:cs typeface="+mn-cs"/>
                        </a:rPr>
                        <a:t> 动态物体影响大</a:t>
                      </a:r>
                      <a:endParaRPr lang="zh-CN" altLang="en-US" sz="18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800" b="1" i="0" kern="1200" dirty="0">
                          <a:solidFill>
                            <a:schemeClr val="dk1"/>
                          </a:solidFill>
                          <a:effectLst/>
                          <a:latin typeface="+mn-lt"/>
                          <a:ea typeface="+mn-ea"/>
                          <a:cs typeface="+mn-cs"/>
                        </a:rPr>
                        <a:t>对光照和曝光非常敏感</a:t>
                      </a:r>
                      <a:endParaRPr lang="en-US" altLang="zh-CN" sz="1800" b="1" i="0" kern="1200" dirty="0">
                        <a:solidFill>
                          <a:schemeClr val="dk1"/>
                        </a:solidFill>
                        <a:effectLst/>
                        <a:latin typeface="+mn-lt"/>
                        <a:ea typeface="+mn-ea"/>
                        <a:cs typeface="+mn-cs"/>
                      </a:endParaRPr>
                    </a:p>
                    <a:p>
                      <a:pPr marL="0" algn="ctr" defTabSz="914400" rtl="0" eaLnBrk="1" latinLnBrk="0" hangingPunct="1"/>
                      <a:r>
                        <a:rPr lang="zh-CN" altLang="zh-CN" sz="1800" b="1" i="0" kern="1200" dirty="0">
                          <a:solidFill>
                            <a:schemeClr val="dk1"/>
                          </a:solidFill>
                          <a:effectLst/>
                          <a:latin typeface="+mn-lt"/>
                          <a:ea typeface="+mn-ea"/>
                          <a:cs typeface="+mn-cs"/>
                        </a:rPr>
                        <a:t>长期跟踪会漂移</a:t>
                      </a:r>
                      <a:endParaRPr lang="en-US" altLang="zh-CN" sz="1800" b="1" i="0" kern="1200" dirty="0">
                        <a:solidFill>
                          <a:schemeClr val="dk1"/>
                        </a:solidFill>
                        <a:effectLst/>
                        <a:latin typeface="+mn-lt"/>
                        <a:ea typeface="+mn-ea"/>
                        <a:cs typeface="+mn-cs"/>
                      </a:endParaRPr>
                    </a:p>
                    <a:p>
                      <a:pPr marL="0" algn="ctr" defTabSz="914400" rtl="0" eaLnBrk="1" latinLnBrk="0" hangingPunct="1"/>
                      <a:r>
                        <a:rPr lang="zh-CN" altLang="zh-CN" sz="1800" b="1" i="0" kern="1200" dirty="0">
                          <a:solidFill>
                            <a:schemeClr val="dk1"/>
                          </a:solidFill>
                          <a:effectLst/>
                          <a:latin typeface="+mn-lt"/>
                          <a:ea typeface="+mn-ea"/>
                          <a:cs typeface="+mn-cs"/>
                        </a:rPr>
                        <a:t>没有描述子，回环重定位弱</a:t>
                      </a:r>
                      <a:endParaRPr lang="zh-CN" altLang="en-US" sz="18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86262575"/>
                  </a:ext>
                </a:extLst>
              </a:tr>
            </a:tbl>
          </a:graphicData>
        </a:graphic>
      </p:graphicFrame>
    </p:spTree>
    <p:extLst>
      <p:ext uri="{BB962C8B-B14F-4D97-AF65-F5344CB8AC3E}">
        <p14:creationId xmlns:p14="http://schemas.microsoft.com/office/powerpoint/2010/main" val="4021091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FFBB-FE7E-90B7-E1AA-8219F00FB0DA}"/>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69735E34-F174-4812-E81F-0545051B40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783C35D0-E70A-48A6-C589-90988E38A873}"/>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35FF46B9-CCC5-CD88-A01C-93CCB5A11F9A}"/>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448B9DDD-7B8F-0991-19D3-54826DE288D2}"/>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4888ADD-9C38-118D-B865-332B30EF6381}"/>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33D6FD92-CEC8-FE36-A089-0A2171CBC058}"/>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ABAA2033-FB48-C05F-C42C-50F3D6EC4408}"/>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0B60E296-8BD2-71A5-99BF-6B562D0E7BE7}"/>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定位</a:t>
            </a:r>
          </a:p>
        </p:txBody>
      </p:sp>
      <p:sp>
        <p:nvSpPr>
          <p:cNvPr id="29" name="椭圆 28">
            <a:extLst>
              <a:ext uri="{FF2B5EF4-FFF2-40B4-BE49-F238E27FC236}">
                <a16:creationId xmlns:a16="http://schemas.microsoft.com/office/drawing/2014/main" id="{2565B688-BE25-B085-AE8A-6E62A20552EB}"/>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0CDBAB1C-6DB6-E19F-F61B-DAADDA477352}"/>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11</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4182DDCD-6486-4ED2-D638-385FC5C952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33CD0130-9915-3C62-E766-90C65C39FA31}"/>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EA507D5F-96AB-2520-1377-45172109F8ED}"/>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AD0841D6-2348-5365-3D66-E91C4D21CEA2}"/>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94AC1B67-6722-CFCB-C94E-9914D30DDD28}"/>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FDC8D35B-49EF-B2D6-C6D7-AA532E2C2116}"/>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65D05CD8-7515-DE7A-33A6-EF1B528B5688}"/>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46BE3FCF-EFF7-8D78-2D12-F389E536615A}"/>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1EC3FC7E-1E78-3421-C934-72112992ADAE}"/>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BDFEA918-E24C-70B5-7F60-F2671B466F63}"/>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4B8D1462-C5A3-B4BD-A645-4D1C4423DD2E}"/>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BFDEB58C-305B-9DC1-4915-5D5DA7AC3B6F}"/>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04324067-CEBE-6690-3ADE-50E529F23A7C}"/>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3875A43A-6E48-77B9-EA1A-168315920407}"/>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61" name="文本框 60">
            <a:extLst>
              <a:ext uri="{FF2B5EF4-FFF2-40B4-BE49-F238E27FC236}">
                <a16:creationId xmlns:a16="http://schemas.microsoft.com/office/drawing/2014/main" id="{37E471CB-F739-AA93-1127-9F549BF67175}"/>
              </a:ext>
            </a:extLst>
          </p:cNvPr>
          <p:cNvSpPr txBox="1"/>
          <p:nvPr/>
        </p:nvSpPr>
        <p:spPr>
          <a:xfrm>
            <a:off x="2680745" y="1947278"/>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阶段三：</a:t>
            </a:r>
            <a:r>
              <a:rPr lang="en-US" altLang="zh-CN" sz="1800" b="1" i="0" dirty="0" err="1">
                <a:effectLst/>
                <a:latin typeface="方正小标宋简体" panose="02010601030101010101" pitchFamily="2" charset="-122"/>
                <a:ea typeface="方正小标宋简体" panose="02010601030101010101" pitchFamily="2" charset="-122"/>
              </a:rPr>
              <a:t>LidarSLAM</a:t>
            </a:r>
            <a:r>
              <a:rPr lang="zh-CN" altLang="en-US" sz="1800" b="1" i="0" dirty="0">
                <a:effectLst/>
                <a:latin typeface="方正小标宋简体" panose="02010601030101010101" pitchFamily="2" charset="-122"/>
                <a:ea typeface="方正小标宋简体" panose="02010601030101010101" pitchFamily="2" charset="-122"/>
              </a:rPr>
              <a:t>（激光雷达</a:t>
            </a:r>
            <a:r>
              <a:rPr lang="en-US" altLang="zh-CN" sz="1800" b="1" i="0" dirty="0">
                <a:effectLst/>
                <a:latin typeface="方正小标宋简体" panose="02010601030101010101" pitchFamily="2" charset="-122"/>
                <a:ea typeface="方正小标宋简体" panose="02010601030101010101" pitchFamily="2" charset="-122"/>
              </a:rPr>
              <a:t>SLAM</a:t>
            </a:r>
            <a:r>
              <a:rPr lang="zh-CN" altLang="en-US" sz="1800" b="1" i="0" dirty="0">
                <a:effectLst/>
                <a:latin typeface="方正小标宋简体" panose="02010601030101010101" pitchFamily="2" charset="-122"/>
                <a:ea typeface="方正小标宋简体" panose="02010601030101010101" pitchFamily="2" charset="-122"/>
              </a:rPr>
              <a:t>）</a:t>
            </a:r>
            <a:r>
              <a:rPr lang="en-US" altLang="zh-CN" sz="1800" b="1" i="0" dirty="0">
                <a:effectLst/>
                <a:latin typeface="方正小标宋简体" panose="02010601030101010101" pitchFamily="2" charset="-122"/>
                <a:ea typeface="方正小标宋简体" panose="02010601030101010101" pitchFamily="2" charset="-122"/>
              </a:rPr>
              <a:t>—— </a:t>
            </a:r>
            <a:r>
              <a:rPr lang="zh-CN" altLang="en-US" sz="1800" b="1" i="0" dirty="0">
                <a:effectLst/>
                <a:latin typeface="方正小标宋简体" panose="02010601030101010101" pitchFamily="2" charset="-122"/>
                <a:ea typeface="方正小标宋简体" panose="02010601030101010101" pitchFamily="2" charset="-122"/>
              </a:rPr>
              <a:t>高精度、稠密地图的构建</a:t>
            </a:r>
            <a:endParaRPr lang="zh-CN" altLang="en-US" dirty="0">
              <a:latin typeface="方正小标宋简体" panose="02010601030101010101" pitchFamily="2" charset="-122"/>
              <a:ea typeface="方正小标宋简体" panose="02010601030101010101" pitchFamily="2" charset="-122"/>
            </a:endParaRPr>
          </a:p>
        </p:txBody>
      </p:sp>
      <p:grpSp>
        <p:nvGrpSpPr>
          <p:cNvPr id="6" name="组合 5">
            <a:extLst>
              <a:ext uri="{FF2B5EF4-FFF2-40B4-BE49-F238E27FC236}">
                <a16:creationId xmlns:a16="http://schemas.microsoft.com/office/drawing/2014/main" id="{FD156402-00EB-B8C9-7402-9DBB40D69DEB}"/>
              </a:ext>
            </a:extLst>
          </p:cNvPr>
          <p:cNvGrpSpPr/>
          <p:nvPr/>
        </p:nvGrpSpPr>
        <p:grpSpPr>
          <a:xfrm>
            <a:off x="1984763" y="3198799"/>
            <a:ext cx="2220620" cy="2382698"/>
            <a:chOff x="1923209" y="4365295"/>
            <a:chExt cx="2220620" cy="2382699"/>
          </a:xfrm>
          <a:solidFill>
            <a:schemeClr val="accent5"/>
          </a:solidFill>
        </p:grpSpPr>
        <p:sp>
          <p:nvSpPr>
            <p:cNvPr id="10" name="矩形 9">
              <a:extLst>
                <a:ext uri="{FF2B5EF4-FFF2-40B4-BE49-F238E27FC236}">
                  <a16:creationId xmlns:a16="http://schemas.microsoft.com/office/drawing/2014/main" id="{6F3D5EE5-ED0F-9250-3D65-ACA0B2436B7B}"/>
                </a:ext>
              </a:extLst>
            </p:cNvPr>
            <p:cNvSpPr/>
            <p:nvPr/>
          </p:nvSpPr>
          <p:spPr>
            <a:xfrm>
              <a:off x="1923209" y="4365295"/>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0E9C510-31A6-117F-254C-BBB27F71E713}"/>
                </a:ext>
              </a:extLst>
            </p:cNvPr>
            <p:cNvSpPr txBox="1"/>
            <p:nvPr/>
          </p:nvSpPr>
          <p:spPr>
            <a:xfrm>
              <a:off x="2206935" y="4453748"/>
              <a:ext cx="1744770" cy="369332"/>
            </a:xfrm>
            <a:prstGeom prst="rect">
              <a:avLst/>
            </a:prstGeom>
            <a:grpFill/>
          </p:spPr>
          <p:txBody>
            <a:bodyPr wrap="square">
              <a:spAutoFit/>
            </a:bodyPr>
            <a:lstStyle/>
            <a:p>
              <a:r>
                <a:rPr lang="en-US" altLang="zh-CN" sz="1800" b="1" i="0" dirty="0">
                  <a:effectLst/>
                  <a:latin typeface="方正小标宋简体" panose="02010601030101010101" pitchFamily="2" charset="-122"/>
                  <a:ea typeface="方正小标宋简体" panose="02010601030101010101" pitchFamily="2" charset="-122"/>
                </a:rPr>
                <a:t>LiDAR SLAM</a:t>
              </a:r>
              <a:endParaRPr lang="zh-CN" altLang="en-US" dirty="0">
                <a:latin typeface="方正小标宋简体" panose="02010601030101010101" pitchFamily="2" charset="-122"/>
                <a:ea typeface="方正小标宋简体" panose="02010601030101010101" pitchFamily="2" charset="-122"/>
              </a:endParaRPr>
            </a:p>
          </p:txBody>
        </p:sp>
      </p:grpSp>
      <p:pic>
        <p:nvPicPr>
          <p:cNvPr id="13" name="图片 12">
            <a:extLst>
              <a:ext uri="{FF2B5EF4-FFF2-40B4-BE49-F238E27FC236}">
                <a16:creationId xmlns:a16="http://schemas.microsoft.com/office/drawing/2014/main" id="{619D0A9F-1DBF-338D-45BD-A4A6B564BFF0}"/>
              </a:ext>
            </a:extLst>
          </p:cNvPr>
          <p:cNvPicPr>
            <a:picLocks noChangeAspect="1"/>
          </p:cNvPicPr>
          <p:nvPr/>
        </p:nvPicPr>
        <p:blipFill>
          <a:blip r:embed="rId4"/>
          <a:stretch>
            <a:fillRect/>
          </a:stretch>
        </p:blipFill>
        <p:spPr>
          <a:xfrm>
            <a:off x="2268489" y="3988710"/>
            <a:ext cx="1653168" cy="1345591"/>
          </a:xfrm>
          <a:prstGeom prst="rect">
            <a:avLst/>
          </a:prstGeom>
        </p:spPr>
      </p:pic>
      <p:sp>
        <p:nvSpPr>
          <p:cNvPr id="34" name="文本框 33">
            <a:extLst>
              <a:ext uri="{FF2B5EF4-FFF2-40B4-BE49-F238E27FC236}">
                <a16:creationId xmlns:a16="http://schemas.microsoft.com/office/drawing/2014/main" id="{04973238-6109-4A72-5C7A-ABB7C2885DF5}"/>
              </a:ext>
            </a:extLst>
          </p:cNvPr>
          <p:cNvSpPr txBox="1"/>
          <p:nvPr/>
        </p:nvSpPr>
        <p:spPr>
          <a:xfrm>
            <a:off x="5231222" y="2826246"/>
            <a:ext cx="5300346" cy="646331"/>
          </a:xfrm>
          <a:prstGeom prst="rect">
            <a:avLst/>
          </a:prstGeom>
          <a:noFill/>
        </p:spPr>
        <p:txBody>
          <a:bodyPr wrap="square">
            <a:spAutoFit/>
          </a:bodyPr>
          <a:lstStyle/>
          <a:p>
            <a:r>
              <a:rPr lang="zh-CN" altLang="zh-CN" b="0" i="0" dirty="0">
                <a:solidFill>
                  <a:schemeClr val="accent5">
                    <a:lumMod val="50000"/>
                  </a:schemeClr>
                </a:solidFill>
                <a:effectLst/>
                <a:latin typeface="方正小标宋简体" panose="02010601030101010101" pitchFamily="2" charset="-122"/>
                <a:ea typeface="方正小标宋简体" panose="02010601030101010101" pitchFamily="2" charset="-122"/>
              </a:rPr>
              <a:t>利用 LiDAR 主动探测周围环境，获取精确 3D 信息，估计自车运动并构建地图。</a:t>
            </a:r>
            <a:endParaRPr lang="zh-CN" altLang="en-US" dirty="0">
              <a:solidFill>
                <a:schemeClr val="accent5">
                  <a:lumMod val="50000"/>
                </a:schemeClr>
              </a:solidFill>
              <a:latin typeface="方正小标宋简体" panose="02010601030101010101" pitchFamily="2" charset="-122"/>
              <a:ea typeface="方正小标宋简体" panose="02010601030101010101" pitchFamily="2" charset="-122"/>
            </a:endParaRPr>
          </a:p>
        </p:txBody>
      </p:sp>
      <p:sp>
        <p:nvSpPr>
          <p:cNvPr id="37" name="文本框 36">
            <a:extLst>
              <a:ext uri="{FF2B5EF4-FFF2-40B4-BE49-F238E27FC236}">
                <a16:creationId xmlns:a16="http://schemas.microsoft.com/office/drawing/2014/main" id="{ACE69874-85C4-0ABA-2879-B05226B33C5A}"/>
              </a:ext>
            </a:extLst>
          </p:cNvPr>
          <p:cNvSpPr txBox="1"/>
          <p:nvPr/>
        </p:nvSpPr>
        <p:spPr>
          <a:xfrm>
            <a:off x="4872406" y="3552814"/>
            <a:ext cx="6525157" cy="2862322"/>
          </a:xfrm>
          <a:prstGeom prst="rect">
            <a:avLst/>
          </a:prstGeom>
          <a:noFill/>
        </p:spPr>
        <p:txBody>
          <a:bodyPr wrap="square">
            <a:spAutoFit/>
          </a:bodyPr>
          <a:lstStyle/>
          <a:p>
            <a:r>
              <a:rPr lang="zh-CN" altLang="zh-CN" sz="1800" b="0" i="0" dirty="0">
                <a:solidFill>
                  <a:schemeClr val="tx1"/>
                </a:solidFill>
                <a:effectLst/>
                <a:latin typeface="+mn-lt"/>
              </a:rPr>
              <a:t>雷达SLAM（通常指激光雷达SLAM）是以激光雷达或雷达传感器获取的距离与方位测量、点云或扫描数据为主要观测，通过扫描匹配、特征提取与关联、位姿估计和地图优化，在未知环境中同时估计载体运动轨迹并构建环境地图的技术；相比视觉SLAM，它直接提供较精确的几何距离信息，对光照变化不敏感，适合室内外及三维场景，但也面临点云稀疏、数据关联易错、动态物体干扰和大规模地图计算复杂度随路标数增长等问题，因此常结合子图分解、信息形式稀疏化、批量验证、延迟融合和轨迹优化等方法，以在保证估计一致性的同时实现实时、鲁棒的定位与建图。</a:t>
            </a:r>
            <a:endParaRPr lang="zh-CN" altLang="en-US" dirty="0"/>
          </a:p>
        </p:txBody>
      </p:sp>
    </p:spTree>
    <p:extLst>
      <p:ext uri="{BB962C8B-B14F-4D97-AF65-F5344CB8AC3E}">
        <p14:creationId xmlns:p14="http://schemas.microsoft.com/office/powerpoint/2010/main" val="1171008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F4E49-7A48-7AE4-6D0F-EBDBBF006FF0}"/>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9E905197-8EA0-BCE8-44DB-609F15FA9A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4A02E9ED-27C1-BA87-5A2F-0685CDF24793}"/>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962FFECA-3C36-6807-E549-F5F2C82FF455}"/>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085A3F74-6C75-C0C7-BD41-3710D79F9284}"/>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D6BF48C-A5F4-CBAC-149A-A6CBF4E68931}"/>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014A5D2F-4517-487F-7DF3-EC4B36F7D3BF}"/>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833E9E33-395B-9941-98B4-CC21B20C8DD0}"/>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EE028FB6-0719-CA9D-2440-B122F40A0D30}"/>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定位</a:t>
            </a:r>
          </a:p>
        </p:txBody>
      </p:sp>
      <p:sp>
        <p:nvSpPr>
          <p:cNvPr id="29" name="椭圆 28">
            <a:extLst>
              <a:ext uri="{FF2B5EF4-FFF2-40B4-BE49-F238E27FC236}">
                <a16:creationId xmlns:a16="http://schemas.microsoft.com/office/drawing/2014/main" id="{C92FC627-BDE3-D192-A20C-40F07AFE9295}"/>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8B697D61-86BA-0A9A-B60E-8009DCF5A048}"/>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12</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56E7F3DF-0DA8-D25F-BDD0-338E7F1A95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278F2C5F-7662-2AEE-6DB9-32D1A0CAD556}"/>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02DA1C98-8A46-2DC4-7532-1F693DB0342C}"/>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F497F306-35CB-81AA-93D5-22C1BEDDAE68}"/>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2AE1C546-411E-E2B7-48D8-BA874467F845}"/>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6ED5FCAB-6012-9F80-50E0-A1C048E076DA}"/>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90D49A1D-91EE-7934-0947-05B6642B7232}"/>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8BFD0D71-86D9-4F30-0C09-52CCCBBE340C}"/>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83145523-ECFB-910E-D12A-06F0BB44F2D0}"/>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7AE66C71-1D80-F209-44D2-E2BB2DB50760}"/>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2B8551A0-E77F-D8A0-1F06-18AE710BAA4F}"/>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E01B7659-BC1A-3A23-EFE3-4375BB7B81C7}"/>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92314363-42B1-21D0-1666-CAD49FF951F8}"/>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4B937AB5-E0D4-9974-019B-9C44BC47FF2A}"/>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61" name="文本框 60">
            <a:extLst>
              <a:ext uri="{FF2B5EF4-FFF2-40B4-BE49-F238E27FC236}">
                <a16:creationId xmlns:a16="http://schemas.microsoft.com/office/drawing/2014/main" id="{8C02A2B9-A2BA-1CD1-6632-D15FB260F384}"/>
              </a:ext>
            </a:extLst>
          </p:cNvPr>
          <p:cNvSpPr txBox="1"/>
          <p:nvPr/>
        </p:nvSpPr>
        <p:spPr>
          <a:xfrm>
            <a:off x="2680745" y="1947278"/>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阶段四：多传感器融合</a:t>
            </a:r>
            <a:r>
              <a:rPr lang="en-US" altLang="zh-CN" sz="1800" b="1" i="0" dirty="0">
                <a:effectLst/>
                <a:latin typeface="方正小标宋简体" panose="02010601030101010101" pitchFamily="2" charset="-122"/>
                <a:ea typeface="方正小标宋简体" panose="02010601030101010101" pitchFamily="2" charset="-122"/>
              </a:rPr>
              <a:t>SLAM</a:t>
            </a:r>
            <a:r>
              <a:rPr lang="zh-CN" altLang="en-US" sz="1800" b="1" i="0" dirty="0">
                <a:effectLst/>
                <a:latin typeface="方正小标宋简体" panose="02010601030101010101" pitchFamily="2" charset="-122"/>
                <a:ea typeface="方正小标宋简体" panose="02010601030101010101" pitchFamily="2" charset="-122"/>
              </a:rPr>
              <a:t>（</a:t>
            </a:r>
            <a:r>
              <a:rPr lang="en-US" altLang="zh-CN" sz="1800" b="1" i="0" dirty="0">
                <a:effectLst/>
                <a:latin typeface="方正小标宋简体" panose="02010601030101010101" pitchFamily="2" charset="-122"/>
                <a:ea typeface="方正小标宋简体" panose="02010601030101010101" pitchFamily="2" charset="-122"/>
              </a:rPr>
              <a:t>Fusion-Based SLAM</a:t>
            </a:r>
            <a:r>
              <a:rPr lang="zh-CN" altLang="en-US" sz="1800" b="1" i="0" dirty="0">
                <a:effectLst/>
                <a:latin typeface="方正小标宋简体" panose="02010601030101010101" pitchFamily="2" charset="-122"/>
                <a:ea typeface="方正小标宋简体" panose="02010601030101010101" pitchFamily="2" charset="-122"/>
              </a:rPr>
              <a:t>）</a:t>
            </a:r>
            <a:endParaRPr lang="zh-CN" altLang="en-US" dirty="0">
              <a:latin typeface="方正小标宋简体" panose="02010601030101010101" pitchFamily="2" charset="-122"/>
              <a:ea typeface="方正小标宋简体" panose="02010601030101010101" pitchFamily="2" charset="-122"/>
            </a:endParaRPr>
          </a:p>
        </p:txBody>
      </p:sp>
      <p:sp>
        <p:nvSpPr>
          <p:cNvPr id="34" name="文本框 33">
            <a:extLst>
              <a:ext uri="{FF2B5EF4-FFF2-40B4-BE49-F238E27FC236}">
                <a16:creationId xmlns:a16="http://schemas.microsoft.com/office/drawing/2014/main" id="{3BF4B0E8-E224-F78C-92DA-6E678A3792BE}"/>
              </a:ext>
            </a:extLst>
          </p:cNvPr>
          <p:cNvSpPr txBox="1"/>
          <p:nvPr/>
        </p:nvSpPr>
        <p:spPr>
          <a:xfrm>
            <a:off x="5034599" y="2629638"/>
            <a:ext cx="5724646" cy="646331"/>
          </a:xfrm>
          <a:prstGeom prst="rect">
            <a:avLst/>
          </a:prstGeom>
          <a:noFill/>
        </p:spPr>
        <p:txBody>
          <a:bodyPr wrap="square">
            <a:spAutoFit/>
          </a:bodyPr>
          <a:lstStyle/>
          <a:p>
            <a:r>
              <a:rPr lang="zh-CN" altLang="en-US" b="0" i="0" dirty="0">
                <a:solidFill>
                  <a:schemeClr val="accent5">
                    <a:lumMod val="50000"/>
                  </a:schemeClr>
                </a:solidFill>
                <a:effectLst/>
                <a:latin typeface="方正小标宋简体" panose="02010601030101010101" pitchFamily="2" charset="-122"/>
                <a:ea typeface="方正小标宋简体" panose="02010601030101010101" pitchFamily="2" charset="-122"/>
              </a:rPr>
              <a:t>单一传感器总会在某个场景下退化，要把不同传感器的原始观测和运动约束放进同一个优化问题里联合求解。</a:t>
            </a:r>
            <a:endParaRPr lang="zh-CN" altLang="en-US" dirty="0">
              <a:solidFill>
                <a:schemeClr val="accent5">
                  <a:lumMod val="50000"/>
                </a:schemeClr>
              </a:solidFill>
              <a:latin typeface="方正小标宋简体" panose="02010601030101010101" pitchFamily="2" charset="-122"/>
              <a:ea typeface="方正小标宋简体" panose="02010601030101010101" pitchFamily="2" charset="-122"/>
            </a:endParaRPr>
          </a:p>
        </p:txBody>
      </p:sp>
      <p:grpSp>
        <p:nvGrpSpPr>
          <p:cNvPr id="15" name="组合 14">
            <a:extLst>
              <a:ext uri="{FF2B5EF4-FFF2-40B4-BE49-F238E27FC236}">
                <a16:creationId xmlns:a16="http://schemas.microsoft.com/office/drawing/2014/main" id="{815B8645-5263-8B8D-AF39-CEC26B79F577}"/>
              </a:ext>
            </a:extLst>
          </p:cNvPr>
          <p:cNvGrpSpPr/>
          <p:nvPr/>
        </p:nvGrpSpPr>
        <p:grpSpPr>
          <a:xfrm>
            <a:off x="1953936" y="3350955"/>
            <a:ext cx="2397917" cy="2382698"/>
            <a:chOff x="1923209" y="4365293"/>
            <a:chExt cx="2220620" cy="2382699"/>
          </a:xfrm>
          <a:solidFill>
            <a:schemeClr val="accent5"/>
          </a:solidFill>
        </p:grpSpPr>
        <p:sp>
          <p:nvSpPr>
            <p:cNvPr id="17" name="矩形 16">
              <a:extLst>
                <a:ext uri="{FF2B5EF4-FFF2-40B4-BE49-F238E27FC236}">
                  <a16:creationId xmlns:a16="http://schemas.microsoft.com/office/drawing/2014/main" id="{54CEB19A-5A9A-2391-B70B-A2A56F9E0EEB}"/>
                </a:ext>
              </a:extLst>
            </p:cNvPr>
            <p:cNvSpPr/>
            <p:nvPr/>
          </p:nvSpPr>
          <p:spPr>
            <a:xfrm>
              <a:off x="1923209" y="4365293"/>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E14D973D-C5DC-9BFB-F831-54A2AD2C1941}"/>
                </a:ext>
              </a:extLst>
            </p:cNvPr>
            <p:cNvSpPr txBox="1"/>
            <p:nvPr/>
          </p:nvSpPr>
          <p:spPr>
            <a:xfrm>
              <a:off x="1973433" y="4453512"/>
              <a:ext cx="2170396" cy="369332"/>
            </a:xfrm>
            <a:prstGeom prst="rect">
              <a:avLst/>
            </a:prstGeom>
            <a:grp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多传感器融合</a:t>
              </a:r>
              <a:r>
                <a:rPr lang="en-US" altLang="zh-CN" sz="1800" b="1" i="0" dirty="0">
                  <a:effectLst/>
                  <a:latin typeface="方正小标宋简体" panose="02010601030101010101" pitchFamily="2" charset="-122"/>
                  <a:ea typeface="方正小标宋简体" panose="02010601030101010101" pitchFamily="2" charset="-122"/>
                </a:rPr>
                <a:t>SLAM</a:t>
              </a:r>
              <a:endParaRPr lang="zh-CN" altLang="en-US" dirty="0">
                <a:latin typeface="方正小标宋简体" panose="02010601030101010101" pitchFamily="2" charset="-122"/>
                <a:ea typeface="方正小标宋简体" panose="02010601030101010101" pitchFamily="2" charset="-122"/>
              </a:endParaRPr>
            </a:p>
          </p:txBody>
        </p:sp>
      </p:grpSp>
      <p:pic>
        <p:nvPicPr>
          <p:cNvPr id="28" name="图片 27">
            <a:extLst>
              <a:ext uri="{FF2B5EF4-FFF2-40B4-BE49-F238E27FC236}">
                <a16:creationId xmlns:a16="http://schemas.microsoft.com/office/drawing/2014/main" id="{46560D2C-25C9-E58D-7028-4665D97D071A}"/>
              </a:ext>
            </a:extLst>
          </p:cNvPr>
          <p:cNvPicPr>
            <a:picLocks noChangeAspect="1"/>
          </p:cNvPicPr>
          <p:nvPr/>
        </p:nvPicPr>
        <p:blipFill>
          <a:blip r:embed="rId4"/>
          <a:srcRect r="6395" b="9365"/>
          <a:stretch>
            <a:fillRect/>
          </a:stretch>
        </p:blipFill>
        <p:spPr>
          <a:xfrm>
            <a:off x="2112856" y="4302728"/>
            <a:ext cx="2077839" cy="1033233"/>
          </a:xfrm>
          <a:prstGeom prst="rect">
            <a:avLst/>
          </a:prstGeom>
        </p:spPr>
      </p:pic>
      <p:grpSp>
        <p:nvGrpSpPr>
          <p:cNvPr id="35" name="组合 34">
            <a:extLst>
              <a:ext uri="{FF2B5EF4-FFF2-40B4-BE49-F238E27FC236}">
                <a16:creationId xmlns:a16="http://schemas.microsoft.com/office/drawing/2014/main" id="{3C4511AC-0408-DB83-6C02-64E70D194766}"/>
              </a:ext>
            </a:extLst>
          </p:cNvPr>
          <p:cNvGrpSpPr/>
          <p:nvPr/>
        </p:nvGrpSpPr>
        <p:grpSpPr>
          <a:xfrm>
            <a:off x="4704205" y="3808506"/>
            <a:ext cx="1656943" cy="2503812"/>
            <a:chOff x="144310" y="2353138"/>
            <a:chExt cx="1967119" cy="2241863"/>
          </a:xfrm>
        </p:grpSpPr>
        <p:sp>
          <p:nvSpPr>
            <p:cNvPr id="38" name="Freeform: Shape 8">
              <a:extLst>
                <a:ext uri="{FF2B5EF4-FFF2-40B4-BE49-F238E27FC236}">
                  <a16:creationId xmlns:a16="http://schemas.microsoft.com/office/drawing/2014/main" id="{5277611E-AC58-8115-528D-E3A507D6299B}"/>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1"/>
            </a:solidFill>
            <a:ln>
              <a:noFill/>
            </a:ln>
            <a:effectLst/>
          </p:spPr>
          <p:txBody>
            <a:bodyPr vert="horz" wrap="square" lIns="192000" tIns="2544000" rIns="192000" bIns="81280" anchor="t" anchorCtr="1" compatLnSpc="1">
              <a:normAutofit fontScale="25000" lnSpcReduction="20000"/>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E67DA732-ECD7-E73E-DFC1-442A22040A2D}"/>
                </a:ext>
              </a:extLst>
            </p:cNvPr>
            <p:cNvSpPr txBox="1"/>
            <p:nvPr/>
          </p:nvSpPr>
          <p:spPr>
            <a:xfrm>
              <a:off x="144310" y="2801223"/>
              <a:ext cx="1967119" cy="578712"/>
            </a:xfrm>
            <a:prstGeom prst="rect">
              <a:avLst/>
            </a:prstGeom>
            <a:noFill/>
          </p:spPr>
          <p:txBody>
            <a:bodyPr wrap="square">
              <a:spAutoFit/>
            </a:bodyPr>
            <a:lstStyle/>
            <a:p>
              <a:pPr algn="ctr">
                <a:defRPr/>
              </a:pPr>
              <a:r>
                <a:rPr lang="en-US" altLang="zh-CN" b="1" kern="0" dirty="0">
                  <a:solidFill>
                    <a:schemeClr val="bg1"/>
                  </a:solidFill>
                  <a:latin typeface="微软雅黑" panose="020B0503020204020204" pitchFamily="34" charset="-122"/>
                  <a:ea typeface="微软雅黑" panose="020B0503020204020204" pitchFamily="34" charset="-122"/>
                  <a:sym typeface="+mn-ea"/>
                </a:rPr>
                <a:t>VINS-Mono</a:t>
              </a:r>
            </a:p>
            <a:p>
              <a:pPr algn="ctr">
                <a:defRPr/>
              </a:pPr>
              <a:r>
                <a:rPr lang="zh-CN" altLang="en-US" b="1" kern="0" dirty="0">
                  <a:solidFill>
                    <a:schemeClr val="bg1"/>
                  </a:solidFill>
                  <a:latin typeface="微软雅黑" panose="020B0503020204020204" pitchFamily="34" charset="-122"/>
                  <a:ea typeface="微软雅黑" panose="020B0503020204020204" pitchFamily="34" charset="-122"/>
                  <a:sym typeface="+mn-ea"/>
                </a:rPr>
                <a:t>（</a:t>
              </a:r>
              <a:r>
                <a:rPr lang="en-US" altLang="zh-CN" b="1" kern="0" dirty="0">
                  <a:solidFill>
                    <a:schemeClr val="bg1"/>
                  </a:solidFill>
                  <a:latin typeface="微软雅黑" panose="020B0503020204020204" pitchFamily="34" charset="-122"/>
                  <a:ea typeface="微软雅黑" panose="020B0503020204020204" pitchFamily="34" charset="-122"/>
                  <a:sym typeface="+mn-ea"/>
                </a:rPr>
                <a:t>2018</a:t>
              </a:r>
              <a:r>
                <a:rPr lang="zh-CN" altLang="en-US" b="1" kern="0" dirty="0">
                  <a:solidFill>
                    <a:schemeClr val="bg1"/>
                  </a:solidFill>
                  <a:latin typeface="微软雅黑" panose="020B0503020204020204" pitchFamily="34" charset="-122"/>
                  <a:ea typeface="微软雅黑" panose="020B0503020204020204" pitchFamily="34" charset="-122"/>
                  <a:sym typeface="+mn-ea"/>
                </a:rPr>
                <a:t>）</a:t>
              </a:r>
              <a:endParaRPr lang="en-US" altLang="zh-CN" b="1" kern="0" dirty="0">
                <a:solidFill>
                  <a:schemeClr val="bg1"/>
                </a:solidFill>
                <a:latin typeface="微软雅黑" panose="020B0503020204020204" pitchFamily="34" charset="-122"/>
                <a:ea typeface="微软雅黑" panose="020B0503020204020204" pitchFamily="34" charset="-122"/>
                <a:sym typeface="+mn-ea"/>
              </a:endParaRPr>
            </a:p>
          </p:txBody>
        </p:sp>
      </p:grpSp>
      <p:sp>
        <p:nvSpPr>
          <p:cNvPr id="41" name="文本框 40">
            <a:extLst>
              <a:ext uri="{FF2B5EF4-FFF2-40B4-BE49-F238E27FC236}">
                <a16:creationId xmlns:a16="http://schemas.microsoft.com/office/drawing/2014/main" id="{B95A5F1D-8A18-8A18-2D62-A213871C91C9}"/>
              </a:ext>
            </a:extLst>
          </p:cNvPr>
          <p:cNvSpPr txBox="1"/>
          <p:nvPr/>
        </p:nvSpPr>
        <p:spPr>
          <a:xfrm>
            <a:off x="4825809" y="5301764"/>
            <a:ext cx="1595199" cy="1200329"/>
          </a:xfrm>
          <a:prstGeom prst="rect">
            <a:avLst/>
          </a:prstGeom>
          <a:noFill/>
        </p:spPr>
        <p:txBody>
          <a:bodyPr wrap="square">
            <a:spAutoFit/>
          </a:bodyPr>
          <a:lstStyle/>
          <a:p>
            <a:pPr algn="ctr"/>
            <a:r>
              <a:rPr lang="zh-CN" altLang="zh-CN" sz="1200" b="0" i="0" dirty="0">
                <a:solidFill>
                  <a:schemeClr val="tx1"/>
                </a:solidFill>
                <a:effectLst/>
                <a:latin typeface="方正小标宋简体" panose="02010601030101010101" pitchFamily="2" charset="-122"/>
                <a:ea typeface="方正小标宋简体" panose="02010601030101010101" pitchFamily="2" charset="-122"/>
              </a:rPr>
              <a:t>视觉-</a:t>
            </a:r>
            <a:r>
              <a:rPr lang="en-US" altLang="zh-CN" sz="1200" b="0" i="0" dirty="0">
                <a:solidFill>
                  <a:schemeClr val="tx1"/>
                </a:solidFill>
                <a:effectLst/>
                <a:latin typeface="方正小标宋简体" panose="02010601030101010101" pitchFamily="2" charset="-122"/>
                <a:ea typeface="方正小标宋简体" panose="02010601030101010101" pitchFamily="2" charset="-122"/>
              </a:rPr>
              <a:t>IMU</a:t>
            </a:r>
            <a:endParaRPr lang="en-US" altLang="zh-CN" sz="1200" dirty="0">
              <a:latin typeface="方正小标宋简体" panose="02010601030101010101" pitchFamily="2" charset="-122"/>
              <a:ea typeface="方正小标宋简体" panose="02010601030101010101" pitchFamily="2" charset="-122"/>
            </a:endParaRPr>
          </a:p>
          <a:p>
            <a:pPr algn="ctr"/>
            <a:r>
              <a:rPr lang="zh-CN" altLang="zh-CN" sz="1200" dirty="0">
                <a:latin typeface="方正小标宋简体" panose="02010601030101010101" pitchFamily="2" charset="-122"/>
                <a:ea typeface="方正小标宋简体" panose="02010601030101010101" pitchFamily="2" charset="-122"/>
              </a:rPr>
              <a:t>解决单目尺度不确定、快速运动跟踪丢失、短时光照失效。</a:t>
            </a:r>
          </a:p>
          <a:p>
            <a:pPr algn="ctr"/>
            <a:br>
              <a:rPr lang="zh-CN" altLang="zh-CN" sz="1200" dirty="0"/>
            </a:br>
            <a:endParaRPr lang="en-US" altLang="zh-CN" sz="1200" b="0" i="0" dirty="0">
              <a:solidFill>
                <a:schemeClr val="tx1"/>
              </a:solidFill>
              <a:effectLst/>
              <a:latin typeface="+mn-lt"/>
            </a:endParaRPr>
          </a:p>
        </p:txBody>
      </p:sp>
      <p:grpSp>
        <p:nvGrpSpPr>
          <p:cNvPr id="42" name="组合 41">
            <a:extLst>
              <a:ext uri="{FF2B5EF4-FFF2-40B4-BE49-F238E27FC236}">
                <a16:creationId xmlns:a16="http://schemas.microsoft.com/office/drawing/2014/main" id="{36D7AF3B-6904-8AFD-F1EE-0501923D5E6D}"/>
              </a:ext>
            </a:extLst>
          </p:cNvPr>
          <p:cNvGrpSpPr/>
          <p:nvPr/>
        </p:nvGrpSpPr>
        <p:grpSpPr>
          <a:xfrm>
            <a:off x="6491941" y="3820311"/>
            <a:ext cx="1656943" cy="2503812"/>
            <a:chOff x="144310" y="2353138"/>
            <a:chExt cx="1967119" cy="2241863"/>
          </a:xfrm>
        </p:grpSpPr>
        <p:sp>
          <p:nvSpPr>
            <p:cNvPr id="43" name="Freeform: Shape 8">
              <a:extLst>
                <a:ext uri="{FF2B5EF4-FFF2-40B4-BE49-F238E27FC236}">
                  <a16:creationId xmlns:a16="http://schemas.microsoft.com/office/drawing/2014/main" id="{D4F108B0-3AE8-08DB-84A7-0EAC90E3AC68}"/>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1"/>
            </a:solidFill>
            <a:ln>
              <a:noFill/>
            </a:ln>
            <a:effectLst/>
          </p:spPr>
          <p:txBody>
            <a:bodyPr vert="horz" wrap="square" lIns="192000" tIns="2544000" rIns="192000" bIns="81280" anchor="t" anchorCtr="1" compatLnSpc="1">
              <a:normAutofit fontScale="25000" lnSpcReduction="20000"/>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97FD81B4-16CA-963C-E043-352FDFCC52DD}"/>
                </a:ext>
              </a:extLst>
            </p:cNvPr>
            <p:cNvSpPr txBox="1"/>
            <p:nvPr/>
          </p:nvSpPr>
          <p:spPr>
            <a:xfrm>
              <a:off x="144310" y="2801223"/>
              <a:ext cx="1967119" cy="578712"/>
            </a:xfrm>
            <a:prstGeom prst="rect">
              <a:avLst/>
            </a:prstGeom>
            <a:noFill/>
          </p:spPr>
          <p:txBody>
            <a:bodyPr wrap="square">
              <a:spAutoFit/>
            </a:bodyPr>
            <a:lstStyle/>
            <a:p>
              <a:pPr algn="ctr">
                <a:defRPr/>
              </a:pPr>
              <a:r>
                <a:rPr lang="en-US" altLang="zh-CN" b="1" kern="0" dirty="0">
                  <a:solidFill>
                    <a:schemeClr val="bg1"/>
                  </a:solidFill>
                  <a:latin typeface="微软雅黑" panose="020B0503020204020204" pitchFamily="34" charset="-122"/>
                  <a:ea typeface="微软雅黑" panose="020B0503020204020204" pitchFamily="34" charset="-122"/>
                  <a:sym typeface="+mn-ea"/>
                </a:rPr>
                <a:t>LIO-SAM </a:t>
              </a:r>
              <a:r>
                <a:rPr lang="zh-CN" altLang="en-US" b="1" kern="0" dirty="0">
                  <a:solidFill>
                    <a:schemeClr val="bg1"/>
                  </a:solidFill>
                  <a:latin typeface="微软雅黑" panose="020B0503020204020204" pitchFamily="34" charset="-122"/>
                  <a:ea typeface="微软雅黑" panose="020B0503020204020204" pitchFamily="34" charset="-122"/>
                  <a:sym typeface="+mn-ea"/>
                </a:rPr>
                <a:t>（</a:t>
              </a:r>
              <a:r>
                <a:rPr lang="en-US" altLang="zh-CN" b="1" kern="0" dirty="0">
                  <a:solidFill>
                    <a:schemeClr val="bg1"/>
                  </a:solidFill>
                  <a:latin typeface="微软雅黑" panose="020B0503020204020204" pitchFamily="34" charset="-122"/>
                  <a:ea typeface="微软雅黑" panose="020B0503020204020204" pitchFamily="34" charset="-122"/>
                  <a:sym typeface="+mn-ea"/>
                </a:rPr>
                <a:t>2020</a:t>
              </a:r>
              <a:r>
                <a:rPr lang="zh-CN" altLang="en-US" b="1" kern="0" dirty="0">
                  <a:solidFill>
                    <a:schemeClr val="bg1"/>
                  </a:solidFill>
                  <a:latin typeface="微软雅黑" panose="020B0503020204020204" pitchFamily="34" charset="-122"/>
                  <a:ea typeface="微软雅黑" panose="020B0503020204020204" pitchFamily="34" charset="-122"/>
                  <a:sym typeface="+mn-ea"/>
                </a:rPr>
                <a:t>）</a:t>
              </a:r>
              <a:endParaRPr lang="en-US" altLang="zh-CN" b="1" kern="0" dirty="0">
                <a:solidFill>
                  <a:schemeClr val="bg1"/>
                </a:solidFill>
                <a:latin typeface="微软雅黑" panose="020B0503020204020204" pitchFamily="34" charset="-122"/>
                <a:ea typeface="微软雅黑" panose="020B0503020204020204" pitchFamily="34" charset="-122"/>
                <a:sym typeface="+mn-ea"/>
              </a:endParaRPr>
            </a:p>
          </p:txBody>
        </p:sp>
      </p:grpSp>
      <p:sp>
        <p:nvSpPr>
          <p:cNvPr id="47" name="文本框 46">
            <a:extLst>
              <a:ext uri="{FF2B5EF4-FFF2-40B4-BE49-F238E27FC236}">
                <a16:creationId xmlns:a16="http://schemas.microsoft.com/office/drawing/2014/main" id="{9D18F1D2-D01C-7B71-9208-B8D7C257C6CA}"/>
              </a:ext>
            </a:extLst>
          </p:cNvPr>
          <p:cNvSpPr txBox="1"/>
          <p:nvPr/>
        </p:nvSpPr>
        <p:spPr>
          <a:xfrm>
            <a:off x="6519712" y="5467524"/>
            <a:ext cx="1595199" cy="646331"/>
          </a:xfrm>
          <a:prstGeom prst="rect">
            <a:avLst/>
          </a:prstGeom>
          <a:noFill/>
        </p:spPr>
        <p:txBody>
          <a:bodyPr wrap="square">
            <a:spAutoFit/>
          </a:bodyPr>
          <a:lstStyle/>
          <a:p>
            <a:pPr algn="ctr"/>
            <a:r>
              <a:rPr lang="en-US" altLang="zh-CN" sz="1200" b="0" i="0" dirty="0">
                <a:solidFill>
                  <a:schemeClr val="tx1"/>
                </a:solidFill>
                <a:effectLst/>
                <a:latin typeface="方正小标宋简体" panose="02010601030101010101" pitchFamily="2" charset="-122"/>
                <a:ea typeface="方正小标宋简体" panose="02010601030101010101" pitchFamily="2" charset="-122"/>
              </a:rPr>
              <a:t>Lidar-</a:t>
            </a:r>
            <a:r>
              <a:rPr lang="en-US" altLang="zh-CN" sz="1200" dirty="0">
                <a:latin typeface="方正小标宋简体" panose="02010601030101010101" pitchFamily="2" charset="-122"/>
                <a:ea typeface="方正小标宋简体" panose="02010601030101010101" pitchFamily="2" charset="-122"/>
              </a:rPr>
              <a:t>IMU-GPS</a:t>
            </a:r>
          </a:p>
          <a:p>
            <a:pPr algn="ctr"/>
            <a:r>
              <a:rPr lang="zh-CN" altLang="en-US" sz="1200" dirty="0">
                <a:latin typeface="方正小标宋简体" panose="02010601030101010101" pitchFamily="2" charset="-122"/>
                <a:ea typeface="方正小标宋简体" panose="02010601030101010101" pitchFamily="2" charset="-122"/>
              </a:rPr>
              <a:t>城市级高精度建图</a:t>
            </a:r>
            <a:br>
              <a:rPr lang="zh-CN" altLang="zh-CN" sz="1200" dirty="0"/>
            </a:br>
            <a:endParaRPr lang="en-US" altLang="zh-CN" sz="1200" b="0" i="0" dirty="0">
              <a:solidFill>
                <a:schemeClr val="tx1"/>
              </a:solidFill>
              <a:effectLst/>
              <a:latin typeface="+mn-lt"/>
            </a:endParaRPr>
          </a:p>
        </p:txBody>
      </p:sp>
      <p:grpSp>
        <p:nvGrpSpPr>
          <p:cNvPr id="48" name="组合 47">
            <a:extLst>
              <a:ext uri="{FF2B5EF4-FFF2-40B4-BE49-F238E27FC236}">
                <a16:creationId xmlns:a16="http://schemas.microsoft.com/office/drawing/2014/main" id="{18FFF74B-4BAC-56CA-42F0-845B84DDDBF7}"/>
              </a:ext>
            </a:extLst>
          </p:cNvPr>
          <p:cNvGrpSpPr/>
          <p:nvPr/>
        </p:nvGrpSpPr>
        <p:grpSpPr>
          <a:xfrm>
            <a:off x="8323666" y="3820311"/>
            <a:ext cx="1656943" cy="2503812"/>
            <a:chOff x="144310" y="2353138"/>
            <a:chExt cx="1967119" cy="2241863"/>
          </a:xfrm>
        </p:grpSpPr>
        <p:sp>
          <p:nvSpPr>
            <p:cNvPr id="49" name="Freeform: Shape 8">
              <a:extLst>
                <a:ext uri="{FF2B5EF4-FFF2-40B4-BE49-F238E27FC236}">
                  <a16:creationId xmlns:a16="http://schemas.microsoft.com/office/drawing/2014/main" id="{B7927366-1EC1-0BF5-B345-6F7DE732AA50}"/>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1"/>
            </a:solidFill>
            <a:ln>
              <a:noFill/>
            </a:ln>
            <a:effectLst/>
          </p:spPr>
          <p:txBody>
            <a:bodyPr vert="horz" wrap="square" lIns="192000" tIns="2544000" rIns="192000" bIns="81280" anchor="t" anchorCtr="1" compatLnSpc="1">
              <a:normAutofit fontScale="25000" lnSpcReduction="20000"/>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0" name="文本框 49">
              <a:extLst>
                <a:ext uri="{FF2B5EF4-FFF2-40B4-BE49-F238E27FC236}">
                  <a16:creationId xmlns:a16="http://schemas.microsoft.com/office/drawing/2014/main" id="{3BD9E671-BF37-ABDC-320C-1CF4FABC8E6C}"/>
                </a:ext>
              </a:extLst>
            </p:cNvPr>
            <p:cNvSpPr txBox="1"/>
            <p:nvPr/>
          </p:nvSpPr>
          <p:spPr>
            <a:xfrm>
              <a:off x="144310" y="2801223"/>
              <a:ext cx="1967119" cy="578712"/>
            </a:xfrm>
            <a:prstGeom prst="rect">
              <a:avLst/>
            </a:prstGeom>
            <a:noFill/>
          </p:spPr>
          <p:txBody>
            <a:bodyPr wrap="square">
              <a:spAutoFit/>
            </a:bodyPr>
            <a:lstStyle/>
            <a:p>
              <a:pPr algn="ctr">
                <a:defRPr/>
              </a:pPr>
              <a:r>
                <a:rPr lang="en-US" altLang="zh-CN" b="1" kern="0" dirty="0">
                  <a:solidFill>
                    <a:schemeClr val="bg1"/>
                  </a:solidFill>
                  <a:latin typeface="微软雅黑" panose="020B0503020204020204" pitchFamily="34" charset="-122"/>
                  <a:ea typeface="微软雅黑" panose="020B0503020204020204" pitchFamily="34" charset="-122"/>
                  <a:sym typeface="+mn-ea"/>
                </a:rPr>
                <a:t>LVI-SAM</a:t>
              </a:r>
              <a:r>
                <a:rPr lang="zh-CN" altLang="en-US" b="1" kern="0" dirty="0">
                  <a:solidFill>
                    <a:schemeClr val="bg1"/>
                  </a:solidFill>
                  <a:latin typeface="微软雅黑" panose="020B0503020204020204" pitchFamily="34" charset="-122"/>
                  <a:ea typeface="微软雅黑" panose="020B0503020204020204" pitchFamily="34" charset="-122"/>
                  <a:sym typeface="+mn-ea"/>
                </a:rPr>
                <a:t>（</a:t>
              </a:r>
              <a:r>
                <a:rPr lang="en-US" altLang="zh-CN" b="1" kern="0" dirty="0">
                  <a:solidFill>
                    <a:schemeClr val="bg1"/>
                  </a:solidFill>
                  <a:latin typeface="微软雅黑" panose="020B0503020204020204" pitchFamily="34" charset="-122"/>
                  <a:ea typeface="微软雅黑" panose="020B0503020204020204" pitchFamily="34" charset="-122"/>
                  <a:sym typeface="+mn-ea"/>
                </a:rPr>
                <a:t>2021</a:t>
              </a:r>
              <a:r>
                <a:rPr lang="zh-CN" altLang="en-US" b="1" kern="0" dirty="0">
                  <a:solidFill>
                    <a:schemeClr val="bg1"/>
                  </a:solidFill>
                  <a:latin typeface="微软雅黑" panose="020B0503020204020204" pitchFamily="34" charset="-122"/>
                  <a:ea typeface="微软雅黑" panose="020B0503020204020204" pitchFamily="34" charset="-122"/>
                  <a:sym typeface="+mn-ea"/>
                </a:rPr>
                <a:t>）</a:t>
              </a:r>
              <a:endParaRPr lang="en-US" altLang="zh-CN" b="1" kern="0" dirty="0">
                <a:solidFill>
                  <a:schemeClr val="bg1"/>
                </a:solidFill>
                <a:latin typeface="微软雅黑" panose="020B0503020204020204" pitchFamily="34" charset="-122"/>
                <a:ea typeface="微软雅黑" panose="020B0503020204020204" pitchFamily="34" charset="-122"/>
                <a:sym typeface="+mn-ea"/>
              </a:endParaRPr>
            </a:p>
          </p:txBody>
        </p:sp>
      </p:grpSp>
      <p:sp>
        <p:nvSpPr>
          <p:cNvPr id="52" name="文本框 51">
            <a:extLst>
              <a:ext uri="{FF2B5EF4-FFF2-40B4-BE49-F238E27FC236}">
                <a16:creationId xmlns:a16="http://schemas.microsoft.com/office/drawing/2014/main" id="{711B776A-6793-8B82-4034-91B6B655E722}"/>
              </a:ext>
            </a:extLst>
          </p:cNvPr>
          <p:cNvSpPr txBox="1"/>
          <p:nvPr/>
        </p:nvSpPr>
        <p:spPr>
          <a:xfrm>
            <a:off x="8385410" y="5467523"/>
            <a:ext cx="1595199" cy="830997"/>
          </a:xfrm>
          <a:prstGeom prst="rect">
            <a:avLst/>
          </a:prstGeom>
          <a:noFill/>
        </p:spPr>
        <p:txBody>
          <a:bodyPr wrap="square">
            <a:spAutoFit/>
          </a:bodyPr>
          <a:lstStyle/>
          <a:p>
            <a:pPr algn="ctr"/>
            <a:r>
              <a:rPr lang="en-US" altLang="zh-CN" sz="1200" b="0" i="0" dirty="0">
                <a:solidFill>
                  <a:schemeClr val="tx1"/>
                </a:solidFill>
                <a:effectLst/>
                <a:latin typeface="方正小标宋简体" panose="02010601030101010101" pitchFamily="2" charset="-122"/>
                <a:ea typeface="方正小标宋简体" panose="02010601030101010101" pitchFamily="2" charset="-122"/>
              </a:rPr>
              <a:t>Lidar-</a:t>
            </a:r>
            <a:r>
              <a:rPr lang="en-US" altLang="zh-CN" sz="1200" dirty="0">
                <a:latin typeface="方正小标宋简体" panose="02010601030101010101" pitchFamily="2" charset="-122"/>
                <a:ea typeface="方正小标宋简体" panose="02010601030101010101" pitchFamily="2" charset="-122"/>
              </a:rPr>
              <a:t>IMU-</a:t>
            </a:r>
            <a:r>
              <a:rPr lang="zh-CN" altLang="en-US" sz="1200" dirty="0">
                <a:latin typeface="方正小标宋简体" panose="02010601030101010101" pitchFamily="2" charset="-122"/>
                <a:ea typeface="方正小标宋简体" panose="02010601030101010101" pitchFamily="2" charset="-122"/>
              </a:rPr>
              <a:t>视觉</a:t>
            </a:r>
            <a:endParaRPr lang="en-US" altLang="zh-CN" sz="1200" dirty="0">
              <a:latin typeface="方正小标宋简体" panose="02010601030101010101" pitchFamily="2" charset="-122"/>
              <a:ea typeface="方正小标宋简体" panose="02010601030101010101" pitchFamily="2" charset="-122"/>
            </a:endParaRPr>
          </a:p>
          <a:p>
            <a:pPr algn="ctr"/>
            <a:r>
              <a:rPr lang="zh-CN" altLang="en-US" sz="1200" dirty="0">
                <a:latin typeface="方正小标宋简体" panose="02010601030101010101" pitchFamily="2" charset="-122"/>
                <a:ea typeface="方正小标宋简体" panose="02010601030101010101" pitchFamily="2" charset="-122"/>
              </a:rPr>
              <a:t>在视觉或</a:t>
            </a:r>
            <a:r>
              <a:rPr lang="en-US" altLang="zh-CN" sz="1200" dirty="0">
                <a:latin typeface="方正小标宋简体" panose="02010601030101010101" pitchFamily="2" charset="-122"/>
                <a:ea typeface="方正小标宋简体" panose="02010601030101010101" pitchFamily="2" charset="-122"/>
              </a:rPr>
              <a:t>LiDAR</a:t>
            </a:r>
            <a:r>
              <a:rPr lang="zh-CN" altLang="en-US" sz="1200" dirty="0">
                <a:latin typeface="方正小标宋简体" panose="02010601030101010101" pitchFamily="2" charset="-122"/>
                <a:ea typeface="方正小标宋简体" panose="02010601030101010101" pitchFamily="2" charset="-122"/>
              </a:rPr>
              <a:t>退化时仍能工作</a:t>
            </a:r>
            <a:br>
              <a:rPr lang="zh-CN" altLang="zh-CN" sz="1200" dirty="0"/>
            </a:br>
            <a:endParaRPr lang="en-US" altLang="zh-CN" sz="1200" b="0" i="0" dirty="0">
              <a:solidFill>
                <a:schemeClr val="tx1"/>
              </a:solidFill>
              <a:effectLst/>
              <a:latin typeface="+mn-lt"/>
            </a:endParaRPr>
          </a:p>
        </p:txBody>
      </p:sp>
      <p:grpSp>
        <p:nvGrpSpPr>
          <p:cNvPr id="53" name="组合 52">
            <a:extLst>
              <a:ext uri="{FF2B5EF4-FFF2-40B4-BE49-F238E27FC236}">
                <a16:creationId xmlns:a16="http://schemas.microsoft.com/office/drawing/2014/main" id="{991F063F-D2F2-8A96-EC57-FD3053810C15}"/>
              </a:ext>
            </a:extLst>
          </p:cNvPr>
          <p:cNvGrpSpPr/>
          <p:nvPr/>
        </p:nvGrpSpPr>
        <p:grpSpPr>
          <a:xfrm>
            <a:off x="10171827" y="3820311"/>
            <a:ext cx="1656943" cy="2503812"/>
            <a:chOff x="144310" y="2353138"/>
            <a:chExt cx="1967119" cy="2241863"/>
          </a:xfrm>
        </p:grpSpPr>
        <p:sp>
          <p:nvSpPr>
            <p:cNvPr id="54" name="Freeform: Shape 8">
              <a:extLst>
                <a:ext uri="{FF2B5EF4-FFF2-40B4-BE49-F238E27FC236}">
                  <a16:creationId xmlns:a16="http://schemas.microsoft.com/office/drawing/2014/main" id="{F750515B-0D07-4BE2-1784-0B5363C4CB33}"/>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1"/>
            </a:solidFill>
            <a:ln>
              <a:noFill/>
            </a:ln>
            <a:effectLst/>
          </p:spPr>
          <p:txBody>
            <a:bodyPr vert="horz" wrap="square" lIns="192000" tIns="2544000" rIns="192000" bIns="81280" anchor="t" anchorCtr="1" compatLnSpc="1">
              <a:normAutofit fontScale="25000" lnSpcReduction="20000"/>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5F0E077B-3262-8465-629D-08AF95237B70}"/>
                </a:ext>
              </a:extLst>
            </p:cNvPr>
            <p:cNvSpPr txBox="1"/>
            <p:nvPr/>
          </p:nvSpPr>
          <p:spPr>
            <a:xfrm>
              <a:off x="144310" y="2801223"/>
              <a:ext cx="1967119" cy="578712"/>
            </a:xfrm>
            <a:prstGeom prst="rect">
              <a:avLst/>
            </a:prstGeom>
            <a:noFill/>
          </p:spPr>
          <p:txBody>
            <a:bodyPr wrap="square">
              <a:spAutoFit/>
            </a:bodyPr>
            <a:lstStyle/>
            <a:p>
              <a:pPr algn="ctr">
                <a:defRPr/>
              </a:pPr>
              <a:r>
                <a:rPr lang="en-US" altLang="zh-CN" b="1" kern="0" dirty="0">
                  <a:solidFill>
                    <a:schemeClr val="bg1"/>
                  </a:solidFill>
                  <a:latin typeface="微软雅黑" panose="020B0503020204020204" pitchFamily="34" charset="-122"/>
                  <a:ea typeface="微软雅黑" panose="020B0503020204020204" pitchFamily="34" charset="-122"/>
                  <a:sym typeface="+mn-ea"/>
                </a:rPr>
                <a:t>LVI-SAM</a:t>
              </a:r>
              <a:r>
                <a:rPr lang="zh-CN" altLang="en-US" b="1" kern="0" dirty="0">
                  <a:solidFill>
                    <a:schemeClr val="bg1"/>
                  </a:solidFill>
                  <a:latin typeface="微软雅黑" panose="020B0503020204020204" pitchFamily="34" charset="-122"/>
                  <a:ea typeface="微软雅黑" panose="020B0503020204020204" pitchFamily="34" charset="-122"/>
                  <a:sym typeface="+mn-ea"/>
                </a:rPr>
                <a:t>（</a:t>
              </a:r>
              <a:r>
                <a:rPr lang="en-US" altLang="zh-CN" b="1" kern="0" dirty="0">
                  <a:solidFill>
                    <a:schemeClr val="bg1"/>
                  </a:solidFill>
                  <a:latin typeface="微软雅黑" panose="020B0503020204020204" pitchFamily="34" charset="-122"/>
                  <a:ea typeface="微软雅黑" panose="020B0503020204020204" pitchFamily="34" charset="-122"/>
                  <a:sym typeface="+mn-ea"/>
                </a:rPr>
                <a:t>2021</a:t>
              </a:r>
              <a:r>
                <a:rPr lang="zh-CN" altLang="en-US" b="1" kern="0" dirty="0">
                  <a:solidFill>
                    <a:schemeClr val="bg1"/>
                  </a:solidFill>
                  <a:latin typeface="微软雅黑" panose="020B0503020204020204" pitchFamily="34" charset="-122"/>
                  <a:ea typeface="微软雅黑" panose="020B0503020204020204" pitchFamily="34" charset="-122"/>
                  <a:sym typeface="+mn-ea"/>
                </a:rPr>
                <a:t>）</a:t>
              </a:r>
              <a:endParaRPr lang="en-US" altLang="zh-CN" b="1" kern="0" dirty="0">
                <a:solidFill>
                  <a:schemeClr val="bg1"/>
                </a:solidFill>
                <a:latin typeface="微软雅黑" panose="020B0503020204020204" pitchFamily="34" charset="-122"/>
                <a:ea typeface="微软雅黑" panose="020B0503020204020204" pitchFamily="34" charset="-122"/>
                <a:sym typeface="+mn-ea"/>
              </a:endParaRPr>
            </a:p>
          </p:txBody>
        </p:sp>
      </p:grpSp>
      <p:sp>
        <p:nvSpPr>
          <p:cNvPr id="57" name="文本框 56">
            <a:extLst>
              <a:ext uri="{FF2B5EF4-FFF2-40B4-BE49-F238E27FC236}">
                <a16:creationId xmlns:a16="http://schemas.microsoft.com/office/drawing/2014/main" id="{81E6A26D-7F29-25EA-AB38-F7790EB3FBF5}"/>
              </a:ext>
            </a:extLst>
          </p:cNvPr>
          <p:cNvSpPr txBox="1"/>
          <p:nvPr/>
        </p:nvSpPr>
        <p:spPr>
          <a:xfrm>
            <a:off x="10196586" y="5483744"/>
            <a:ext cx="1595199" cy="646331"/>
          </a:xfrm>
          <a:prstGeom prst="rect">
            <a:avLst/>
          </a:prstGeom>
          <a:noFill/>
        </p:spPr>
        <p:txBody>
          <a:bodyPr wrap="square">
            <a:spAutoFit/>
          </a:bodyPr>
          <a:lstStyle/>
          <a:p>
            <a:pPr algn="ctr"/>
            <a:r>
              <a:rPr lang="en-US" altLang="zh-CN" sz="1200" b="0" i="0" dirty="0">
                <a:solidFill>
                  <a:schemeClr val="tx1"/>
                </a:solidFill>
                <a:effectLst/>
                <a:latin typeface="方正小标宋简体" panose="02010601030101010101" pitchFamily="2" charset="-122"/>
                <a:ea typeface="方正小标宋简体" panose="02010601030101010101" pitchFamily="2" charset="-122"/>
              </a:rPr>
              <a:t>Lidar-</a:t>
            </a:r>
            <a:r>
              <a:rPr lang="en-US" altLang="zh-CN" sz="1200" dirty="0">
                <a:latin typeface="方正小标宋简体" panose="02010601030101010101" pitchFamily="2" charset="-122"/>
                <a:ea typeface="方正小标宋简体" panose="02010601030101010101" pitchFamily="2" charset="-122"/>
              </a:rPr>
              <a:t>IMU-</a:t>
            </a:r>
            <a:r>
              <a:rPr lang="zh-CN" altLang="en-US" sz="1200" dirty="0">
                <a:latin typeface="方正小标宋简体" panose="02010601030101010101" pitchFamily="2" charset="-122"/>
                <a:ea typeface="方正小标宋简体" panose="02010601030101010101" pitchFamily="2" charset="-122"/>
              </a:rPr>
              <a:t>视觉</a:t>
            </a:r>
            <a:endParaRPr lang="en-US" altLang="zh-CN" sz="1200" dirty="0">
              <a:latin typeface="方正小标宋简体" panose="02010601030101010101" pitchFamily="2" charset="-122"/>
              <a:ea typeface="方正小标宋简体" panose="02010601030101010101" pitchFamily="2" charset="-122"/>
            </a:endParaRPr>
          </a:p>
          <a:p>
            <a:pPr algn="ctr"/>
            <a:r>
              <a:rPr lang="zh-CN" altLang="en-US" sz="1200" dirty="0">
                <a:latin typeface="方正小标宋简体" panose="02010601030101010101" pitchFamily="2" charset="-122"/>
                <a:ea typeface="方正小标宋简体" panose="02010601030101010101" pitchFamily="2" charset="-122"/>
              </a:rPr>
              <a:t>多模态统一优化，稠密彩色建图</a:t>
            </a:r>
            <a:endParaRPr lang="en-US" altLang="zh-CN" sz="1200" b="0" i="0" dirty="0">
              <a:solidFill>
                <a:schemeClr val="tx1"/>
              </a:solidFill>
              <a:effectLst/>
              <a:latin typeface="+mn-lt"/>
            </a:endParaRPr>
          </a:p>
        </p:txBody>
      </p:sp>
    </p:spTree>
    <p:extLst>
      <p:ext uri="{BB962C8B-B14F-4D97-AF65-F5344CB8AC3E}">
        <p14:creationId xmlns:p14="http://schemas.microsoft.com/office/powerpoint/2010/main" val="1200575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D1FC4-139F-8622-3D2A-5B8EEF42B03E}"/>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38B898DC-92DA-3360-4336-78B8C23A8A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1F40F0E3-03D6-AF39-87FD-927BA59680CB}"/>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C11BB1A6-7628-CCD6-19DD-9CEB89FB3BB5}"/>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C3940819-9F91-3390-16F7-88847F296AAD}"/>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CE3401F-908A-DB2F-D31C-0BC38980E8F2}"/>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49E04667-39DC-7DC1-AC7E-75139221028E}"/>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05D4E761-2F57-766E-4990-61EE603CF88D}"/>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2563440F-9273-C23B-D4EB-F1CD6139EDED}"/>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定位</a:t>
            </a:r>
          </a:p>
        </p:txBody>
      </p:sp>
      <p:sp>
        <p:nvSpPr>
          <p:cNvPr id="29" name="椭圆 28">
            <a:extLst>
              <a:ext uri="{FF2B5EF4-FFF2-40B4-BE49-F238E27FC236}">
                <a16:creationId xmlns:a16="http://schemas.microsoft.com/office/drawing/2014/main" id="{3D98C5DA-FEA9-2163-0EDB-18AB7789CB9A}"/>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A9C32590-EB0C-A1E1-4E0E-905326915D69}"/>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13</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13B7065C-2B52-8A69-80DE-B10A0FEFCF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DB779D0C-4B78-8E5F-285F-C521B135A4D2}"/>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56361493-C7E5-55CC-F80E-A261AE00B984}"/>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E374677B-0FE9-2ADE-DDD5-A457B16F2E82}"/>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1DD2D2FD-A550-1C9B-9FD4-3F3C64FA9E9B}"/>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952C86FD-2BF2-32DA-F1AA-BAD2A2A215B0}"/>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36D80005-D130-861B-EC81-EDBA17D02A85}"/>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3C8601A0-0719-06CF-5187-3D870E6B2FE9}"/>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0B193C04-0FFD-BD25-0389-4276423BD620}"/>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6AA23B6A-D771-5435-4AF3-88777AAF7055}"/>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67F5F065-4774-984F-0516-E0FA2B790CF4}"/>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F23D8377-96DE-1D86-2B58-ABB0AA9FAEF0}"/>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9ABD3FDE-81FB-D8E7-CC38-A8928D391056}"/>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B15E871B-AEC6-8CAB-0297-9CC92D1634B8}"/>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61" name="文本框 60">
            <a:extLst>
              <a:ext uri="{FF2B5EF4-FFF2-40B4-BE49-F238E27FC236}">
                <a16:creationId xmlns:a16="http://schemas.microsoft.com/office/drawing/2014/main" id="{0D209273-167B-D52D-3315-A095BA4FAC97}"/>
              </a:ext>
            </a:extLst>
          </p:cNvPr>
          <p:cNvSpPr txBox="1"/>
          <p:nvPr/>
        </p:nvSpPr>
        <p:spPr>
          <a:xfrm>
            <a:off x="2680745" y="1947278"/>
            <a:ext cx="10401300" cy="369332"/>
          </a:xfrm>
          <a:prstGeom prst="rect">
            <a:avLst/>
          </a:prstGeom>
          <a:noFill/>
        </p:spPr>
        <p:txBody>
          <a:bodyPr wrap="square">
            <a:spAutoFit/>
          </a:bodyPr>
          <a:lstStyle/>
          <a:p>
            <a:r>
              <a:rPr lang="zh-CN" altLang="en-US" b="1" dirty="0">
                <a:latin typeface="方正小标宋简体" panose="02010601030101010101" pitchFamily="2" charset="-122"/>
                <a:ea typeface="方正小标宋简体" panose="02010601030101010101" pitchFamily="2" charset="-122"/>
              </a:rPr>
              <a:t>未来</a:t>
            </a:r>
            <a:r>
              <a:rPr lang="zh-CN" altLang="en-US" sz="1800" b="1" i="0" dirty="0">
                <a:effectLst/>
                <a:latin typeface="方正小标宋简体" panose="02010601030101010101" pitchFamily="2" charset="-122"/>
                <a:ea typeface="方正小标宋简体" panose="02010601030101010101" pitchFamily="2" charset="-122"/>
              </a:rPr>
              <a:t>阶段：车路协同定位</a:t>
            </a:r>
            <a:endParaRPr lang="zh-CN" altLang="en-US" dirty="0">
              <a:latin typeface="方正小标宋简体" panose="02010601030101010101" pitchFamily="2" charset="-122"/>
              <a:ea typeface="方正小标宋简体" panose="02010601030101010101" pitchFamily="2" charset="-122"/>
            </a:endParaRPr>
          </a:p>
        </p:txBody>
      </p:sp>
      <p:sp>
        <p:nvSpPr>
          <p:cNvPr id="4" name="文本框 3">
            <a:extLst>
              <a:ext uri="{FF2B5EF4-FFF2-40B4-BE49-F238E27FC236}">
                <a16:creationId xmlns:a16="http://schemas.microsoft.com/office/drawing/2014/main" id="{5D65EC5E-1527-B519-D70A-BC04BAC36A44}"/>
              </a:ext>
            </a:extLst>
          </p:cNvPr>
          <p:cNvSpPr txBox="1"/>
          <p:nvPr/>
        </p:nvSpPr>
        <p:spPr>
          <a:xfrm>
            <a:off x="2618226" y="2548354"/>
            <a:ext cx="6955548" cy="923330"/>
          </a:xfrm>
          <a:prstGeom prst="rect">
            <a:avLst/>
          </a:prstGeom>
          <a:noFill/>
        </p:spPr>
        <p:txBody>
          <a:bodyPr wrap="square">
            <a:spAutoFit/>
          </a:bodyPr>
          <a:lstStyle/>
          <a:p>
            <a:r>
              <a:rPr lang="zh-CN" altLang="zh-CN" sz="1800" b="0" i="0" dirty="0">
                <a:solidFill>
                  <a:schemeClr val="tx1"/>
                </a:solidFill>
                <a:effectLst/>
                <a:latin typeface="方正小标宋简体" panose="02010601030101010101" pitchFamily="2" charset="-122"/>
                <a:ea typeface="方正小标宋简体" panose="02010601030101010101" pitchFamily="2" charset="-122"/>
              </a:rPr>
              <a:t>车路协同定位是智能交通系统（ITS）与自动驾驶的核心技术之一，通过V2V和V2I融合多源信息，突破单一传感器在复杂环境下的定位瓶颈。</a:t>
            </a:r>
            <a:endParaRPr lang="zh-CN" altLang="en-US" dirty="0">
              <a:latin typeface="方正小标宋简体" panose="02010601030101010101" pitchFamily="2" charset="-122"/>
              <a:ea typeface="方正小标宋简体" panose="02010601030101010101" pitchFamily="2" charset="-122"/>
            </a:endParaRPr>
          </a:p>
        </p:txBody>
      </p:sp>
      <p:grpSp>
        <p:nvGrpSpPr>
          <p:cNvPr id="12" name="组合 11">
            <a:extLst>
              <a:ext uri="{FF2B5EF4-FFF2-40B4-BE49-F238E27FC236}">
                <a16:creationId xmlns:a16="http://schemas.microsoft.com/office/drawing/2014/main" id="{FB81C20C-811A-462F-8458-E0BEB7AF0512}"/>
              </a:ext>
            </a:extLst>
          </p:cNvPr>
          <p:cNvGrpSpPr/>
          <p:nvPr/>
        </p:nvGrpSpPr>
        <p:grpSpPr>
          <a:xfrm>
            <a:off x="2618226" y="3783646"/>
            <a:ext cx="10510521" cy="276999"/>
            <a:chOff x="2618226" y="3783646"/>
            <a:chExt cx="10510521" cy="276999"/>
          </a:xfrm>
        </p:grpSpPr>
        <p:sp>
          <p:nvSpPr>
            <p:cNvPr id="5" name="椭圆 4">
              <a:extLst>
                <a:ext uri="{FF2B5EF4-FFF2-40B4-BE49-F238E27FC236}">
                  <a16:creationId xmlns:a16="http://schemas.microsoft.com/office/drawing/2014/main" id="{2A8609CA-55D4-24B9-A004-436F4DD5202C}"/>
                </a:ext>
              </a:extLst>
            </p:cNvPr>
            <p:cNvSpPr/>
            <p:nvPr/>
          </p:nvSpPr>
          <p:spPr>
            <a:xfrm>
              <a:off x="2618226" y="3898597"/>
              <a:ext cx="106681" cy="1158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80A6CAB3-0960-1BB8-8146-C3AB47C2C660}"/>
                </a:ext>
              </a:extLst>
            </p:cNvPr>
            <p:cNvSpPr txBox="1"/>
            <p:nvPr/>
          </p:nvSpPr>
          <p:spPr>
            <a:xfrm>
              <a:off x="2724907" y="3783646"/>
              <a:ext cx="10403840" cy="276999"/>
            </a:xfrm>
            <a:prstGeom prst="rect">
              <a:avLst/>
            </a:prstGeom>
            <a:noFill/>
          </p:spPr>
          <p:txBody>
            <a:bodyPr wrap="square">
              <a:spAutoFit/>
            </a:bodyPr>
            <a:lstStyle/>
            <a:p>
              <a:r>
                <a:rPr lang="zh-CN" altLang="zh-CN" sz="1800" b="1" i="0" dirty="0">
                  <a:solidFill>
                    <a:schemeClr val="tx1"/>
                  </a:solidFill>
                  <a:effectLst/>
                  <a:latin typeface="+mn-lt"/>
                </a:rPr>
                <a:t>协同层级从V2V扩展到V2I、V2X和云边端协同</a:t>
              </a:r>
              <a:endParaRPr lang="zh-CN" altLang="en-US" dirty="0"/>
            </a:p>
          </p:txBody>
        </p:sp>
      </p:grpSp>
      <p:grpSp>
        <p:nvGrpSpPr>
          <p:cNvPr id="13" name="组合 12">
            <a:extLst>
              <a:ext uri="{FF2B5EF4-FFF2-40B4-BE49-F238E27FC236}">
                <a16:creationId xmlns:a16="http://schemas.microsoft.com/office/drawing/2014/main" id="{872C60E1-FD3F-BF12-696D-6769C158AC1E}"/>
              </a:ext>
            </a:extLst>
          </p:cNvPr>
          <p:cNvGrpSpPr/>
          <p:nvPr/>
        </p:nvGrpSpPr>
        <p:grpSpPr>
          <a:xfrm>
            <a:off x="2618226" y="5177772"/>
            <a:ext cx="10510521" cy="369332"/>
            <a:chOff x="2618226" y="3783646"/>
            <a:chExt cx="10510521" cy="369332"/>
          </a:xfrm>
        </p:grpSpPr>
        <p:sp>
          <p:nvSpPr>
            <p:cNvPr id="37" name="椭圆 36">
              <a:extLst>
                <a:ext uri="{FF2B5EF4-FFF2-40B4-BE49-F238E27FC236}">
                  <a16:creationId xmlns:a16="http://schemas.microsoft.com/office/drawing/2014/main" id="{8FB721F8-6551-C192-6FF3-192ACFFF803E}"/>
                </a:ext>
              </a:extLst>
            </p:cNvPr>
            <p:cNvSpPr/>
            <p:nvPr/>
          </p:nvSpPr>
          <p:spPr>
            <a:xfrm>
              <a:off x="2618226" y="3898597"/>
              <a:ext cx="106681" cy="1158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98E2D946-2EDC-DDA7-20B5-40C8224A3B5C}"/>
                </a:ext>
              </a:extLst>
            </p:cNvPr>
            <p:cNvSpPr txBox="1"/>
            <p:nvPr/>
          </p:nvSpPr>
          <p:spPr>
            <a:xfrm>
              <a:off x="2724907" y="3783646"/>
              <a:ext cx="10403840" cy="369332"/>
            </a:xfrm>
            <a:prstGeom prst="rect">
              <a:avLst/>
            </a:prstGeom>
            <a:noFill/>
          </p:spPr>
          <p:txBody>
            <a:bodyPr wrap="square">
              <a:spAutoFit/>
            </a:bodyPr>
            <a:lstStyle/>
            <a:p>
              <a:r>
                <a:rPr lang="zh-CN" altLang="zh-CN" b="1" dirty="0"/>
                <a:t>场景从静态验证走向高速动态、复杂环境</a:t>
              </a:r>
              <a:endParaRPr lang="zh-CN" altLang="en-US" dirty="0"/>
            </a:p>
          </p:txBody>
        </p:sp>
      </p:grpSp>
      <p:grpSp>
        <p:nvGrpSpPr>
          <p:cNvPr id="46" name="组合 45">
            <a:extLst>
              <a:ext uri="{FF2B5EF4-FFF2-40B4-BE49-F238E27FC236}">
                <a16:creationId xmlns:a16="http://schemas.microsoft.com/office/drawing/2014/main" id="{25704711-B3F7-17CA-4CC6-52B01AC95F46}"/>
              </a:ext>
            </a:extLst>
          </p:cNvPr>
          <p:cNvGrpSpPr/>
          <p:nvPr/>
        </p:nvGrpSpPr>
        <p:grpSpPr>
          <a:xfrm>
            <a:off x="2618226" y="4682285"/>
            <a:ext cx="10510521" cy="369332"/>
            <a:chOff x="2618226" y="3783646"/>
            <a:chExt cx="10510521" cy="369332"/>
          </a:xfrm>
        </p:grpSpPr>
        <p:sp>
          <p:nvSpPr>
            <p:cNvPr id="51" name="椭圆 50">
              <a:extLst>
                <a:ext uri="{FF2B5EF4-FFF2-40B4-BE49-F238E27FC236}">
                  <a16:creationId xmlns:a16="http://schemas.microsoft.com/office/drawing/2014/main" id="{6BF0EA43-4D42-01AD-07C5-68E99D8DB8BA}"/>
                </a:ext>
              </a:extLst>
            </p:cNvPr>
            <p:cNvSpPr/>
            <p:nvPr/>
          </p:nvSpPr>
          <p:spPr>
            <a:xfrm>
              <a:off x="2618226" y="3898597"/>
              <a:ext cx="106681" cy="1158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C6A636A8-6990-1328-617F-C597960602D3}"/>
                </a:ext>
              </a:extLst>
            </p:cNvPr>
            <p:cNvSpPr txBox="1"/>
            <p:nvPr/>
          </p:nvSpPr>
          <p:spPr>
            <a:xfrm>
              <a:off x="2724907" y="3783646"/>
              <a:ext cx="10403840" cy="369332"/>
            </a:xfrm>
            <a:prstGeom prst="rect">
              <a:avLst/>
            </a:prstGeom>
            <a:noFill/>
          </p:spPr>
          <p:txBody>
            <a:bodyPr wrap="square">
              <a:spAutoFit/>
            </a:bodyPr>
            <a:lstStyle/>
            <a:p>
              <a:r>
                <a:rPr lang="zh-CN" altLang="zh-CN" b="1" dirty="0"/>
                <a:t>算法从纯分布式优化走向分布式+集中式/边缘式混合</a:t>
              </a:r>
              <a:endParaRPr lang="zh-CN" altLang="en-US" dirty="0"/>
            </a:p>
          </p:txBody>
        </p:sp>
      </p:grpSp>
      <p:grpSp>
        <p:nvGrpSpPr>
          <p:cNvPr id="58" name="组合 57">
            <a:extLst>
              <a:ext uri="{FF2B5EF4-FFF2-40B4-BE49-F238E27FC236}">
                <a16:creationId xmlns:a16="http://schemas.microsoft.com/office/drawing/2014/main" id="{9150502A-B930-1F47-4D77-5CF82D14AC7C}"/>
              </a:ext>
            </a:extLst>
          </p:cNvPr>
          <p:cNvGrpSpPr/>
          <p:nvPr/>
        </p:nvGrpSpPr>
        <p:grpSpPr>
          <a:xfrm>
            <a:off x="2618226" y="4230856"/>
            <a:ext cx="10510521" cy="369332"/>
            <a:chOff x="2618226" y="3783646"/>
            <a:chExt cx="10510521" cy="369332"/>
          </a:xfrm>
        </p:grpSpPr>
        <p:sp>
          <p:nvSpPr>
            <p:cNvPr id="59" name="椭圆 58">
              <a:extLst>
                <a:ext uri="{FF2B5EF4-FFF2-40B4-BE49-F238E27FC236}">
                  <a16:creationId xmlns:a16="http://schemas.microsoft.com/office/drawing/2014/main" id="{6396785D-8DE2-DBE5-82EE-CAFCA742DA02}"/>
                </a:ext>
              </a:extLst>
            </p:cNvPr>
            <p:cNvSpPr/>
            <p:nvPr/>
          </p:nvSpPr>
          <p:spPr>
            <a:xfrm>
              <a:off x="2618226" y="3898597"/>
              <a:ext cx="106681" cy="1158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EE0E8580-080C-C321-3EC7-B6623F984B79}"/>
                </a:ext>
              </a:extLst>
            </p:cNvPr>
            <p:cNvSpPr txBox="1"/>
            <p:nvPr/>
          </p:nvSpPr>
          <p:spPr>
            <a:xfrm>
              <a:off x="2724907" y="3783646"/>
              <a:ext cx="10403840" cy="369332"/>
            </a:xfrm>
            <a:prstGeom prst="rect">
              <a:avLst/>
            </a:prstGeom>
            <a:noFill/>
          </p:spPr>
          <p:txBody>
            <a:bodyPr wrap="square">
              <a:spAutoFit/>
            </a:bodyPr>
            <a:lstStyle/>
            <a:p>
              <a:r>
                <a:rPr lang="zh-CN" altLang="zh-CN" b="1" dirty="0"/>
                <a:t>测量源从GPS伪距+DSRC扩展到多源融合</a:t>
              </a:r>
              <a:endParaRPr lang="zh-CN" altLang="en-US" dirty="0"/>
            </a:p>
          </p:txBody>
        </p:sp>
      </p:grpSp>
    </p:spTree>
    <p:extLst>
      <p:ext uri="{BB962C8B-B14F-4D97-AF65-F5344CB8AC3E}">
        <p14:creationId xmlns:p14="http://schemas.microsoft.com/office/powerpoint/2010/main" val="131296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D6198-655B-1A09-7515-5AE311ED7BBA}"/>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3DC0AC43-DFAF-4098-6D5E-5435B15474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9216192C-20B3-CF27-4760-D8442C913171}"/>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FAB0FAC6-7156-0D3C-0689-19570C84D4C9}"/>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8284DD10-301D-6544-CBE0-D15922F2BE6E}"/>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650EF5F-8372-A978-F47C-3FA835D3922D}"/>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F2DE1EFA-91E7-493D-A099-4190B17B5632}"/>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E89318C8-5D78-4897-AE52-96189211B27F}"/>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84CBB284-25B1-435D-7E67-5F25003E1E84}"/>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目标检测</a:t>
            </a:r>
          </a:p>
        </p:txBody>
      </p:sp>
      <p:sp>
        <p:nvSpPr>
          <p:cNvPr id="29" name="椭圆 28">
            <a:extLst>
              <a:ext uri="{FF2B5EF4-FFF2-40B4-BE49-F238E27FC236}">
                <a16:creationId xmlns:a16="http://schemas.microsoft.com/office/drawing/2014/main" id="{442F2730-B614-4CAA-65A8-E95706F21E51}"/>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8ED7D6D4-F59A-E0FA-4B6C-C1790DE38080}"/>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14</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979C3640-739E-3CDD-75EA-9A353C8AC0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1DFCEB43-1714-9A57-659C-15A1A32AA7B1}"/>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1C90CCF1-F243-0318-C716-148B1F28ED6F}"/>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3DDD0E35-9B07-8BCC-6F25-5B755ACFAFA0}"/>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28135927-4FC5-4C56-0C26-0C044E9B65CF}"/>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07A76397-DFF0-626C-12A7-FD24140018C2}"/>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59751891-BB11-804F-80B9-44B5ABD020D7}"/>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4C3215BB-F270-D9C8-BC49-B691DB75D3CE}"/>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6187F85E-5602-0C4E-8424-7BBF41EFED42}"/>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24C92ACC-C633-2CC7-0C3D-A3AABF6ED4E7}"/>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F2AB8927-FDDF-47F6-2D80-688C95DDDA0D}"/>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F67BE912-0BFC-DC08-B753-4503DE4062D9}"/>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F5FC332F-9D37-6C9C-28B5-91B77599646B}"/>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69D90BC4-5E76-55A6-DFD2-8B7CCDDD76A4}"/>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4" name="文本框 3">
            <a:extLst>
              <a:ext uri="{FF2B5EF4-FFF2-40B4-BE49-F238E27FC236}">
                <a16:creationId xmlns:a16="http://schemas.microsoft.com/office/drawing/2014/main" id="{4C27D18F-13B2-3A5E-3759-F3FEFF2D157D}"/>
              </a:ext>
            </a:extLst>
          </p:cNvPr>
          <p:cNvSpPr txBox="1"/>
          <p:nvPr/>
        </p:nvSpPr>
        <p:spPr>
          <a:xfrm>
            <a:off x="2991093" y="1927320"/>
            <a:ext cx="7527489" cy="1200329"/>
          </a:xfrm>
          <a:prstGeom prst="rect">
            <a:avLst/>
          </a:prstGeom>
          <a:noFill/>
        </p:spPr>
        <p:txBody>
          <a:bodyPr wrap="square">
            <a:spAutoFit/>
          </a:bodyPr>
          <a:lstStyle/>
          <a:p>
            <a:r>
              <a:rPr lang="zh-CN" altLang="en-US" sz="1800" b="0" i="0" dirty="0">
                <a:solidFill>
                  <a:schemeClr val="tx1"/>
                </a:solidFill>
                <a:effectLst/>
                <a:latin typeface="方正小标宋简体" panose="02010601030101010101" pitchFamily="2" charset="-122"/>
                <a:ea typeface="方正小标宋简体" panose="02010601030101010101" pitchFamily="2" charset="-122"/>
              </a:rPr>
              <a:t>目标检测的演进，本质是在“检测精度、传感器成本、场景鲁棒性”三者之间找平衡；它从 </a:t>
            </a:r>
            <a:r>
              <a:rPr lang="en-US" altLang="zh-CN" sz="1800" b="0" i="0" dirty="0">
                <a:solidFill>
                  <a:schemeClr val="tx1"/>
                </a:solidFill>
                <a:effectLst/>
                <a:latin typeface="方正小标宋简体" panose="02010601030101010101" pitchFamily="2" charset="-122"/>
                <a:ea typeface="方正小标宋简体" panose="02010601030101010101" pitchFamily="2" charset="-122"/>
              </a:rPr>
              <a:t>2D </a:t>
            </a:r>
            <a:r>
              <a:rPr lang="zh-CN" altLang="en-US" sz="1800" b="0" i="0" dirty="0">
                <a:solidFill>
                  <a:schemeClr val="tx1"/>
                </a:solidFill>
                <a:effectLst/>
                <a:latin typeface="方正小标宋简体" panose="02010601030101010101" pitchFamily="2" charset="-122"/>
                <a:ea typeface="方正小标宋简体" panose="02010601030101010101" pitchFamily="2" charset="-122"/>
              </a:rPr>
              <a:t>图像上的车道线</a:t>
            </a:r>
            <a:r>
              <a:rPr lang="en-US" altLang="zh-CN" sz="1800" b="0" i="0" dirty="0">
                <a:solidFill>
                  <a:schemeClr val="tx1"/>
                </a:solidFill>
                <a:effectLst/>
                <a:latin typeface="方正小标宋简体" panose="02010601030101010101" pitchFamily="2" charset="-122"/>
                <a:ea typeface="方正小标宋简体" panose="02010601030101010101" pitchFamily="2" charset="-122"/>
              </a:rPr>
              <a:t>/</a:t>
            </a:r>
            <a:r>
              <a:rPr lang="zh-CN" altLang="en-US" sz="1800" b="0" i="0" dirty="0">
                <a:solidFill>
                  <a:schemeClr val="tx1"/>
                </a:solidFill>
                <a:effectLst/>
                <a:latin typeface="方正小标宋简体" panose="02010601030101010101" pitchFamily="2" charset="-122"/>
                <a:ea typeface="方正小标宋简体" panose="02010601030101010101" pitchFamily="2" charset="-122"/>
              </a:rPr>
              <a:t>交通标志检测，走向 </a:t>
            </a:r>
            <a:r>
              <a:rPr lang="en-US" altLang="zh-CN" sz="1800" b="0" i="0" dirty="0">
                <a:solidFill>
                  <a:schemeClr val="tx1"/>
                </a:solidFill>
                <a:effectLst/>
                <a:latin typeface="方正小标宋简体" panose="02010601030101010101" pitchFamily="2" charset="-122"/>
                <a:ea typeface="方正小标宋简体" panose="02010601030101010101" pitchFamily="2" charset="-122"/>
              </a:rPr>
              <a:t>3D </a:t>
            </a:r>
            <a:r>
              <a:rPr lang="zh-CN" altLang="en-US" sz="1800" b="0" i="0" dirty="0">
                <a:solidFill>
                  <a:schemeClr val="tx1"/>
                </a:solidFill>
                <a:effectLst/>
                <a:latin typeface="方正小标宋简体" panose="02010601030101010101" pitchFamily="2" charset="-122"/>
                <a:ea typeface="方正小标宋简体" panose="02010601030101010101" pitchFamily="2" charset="-122"/>
              </a:rPr>
              <a:t>空间中的单目</a:t>
            </a:r>
            <a:r>
              <a:rPr lang="en-US" altLang="zh-CN" sz="1800" b="0" i="0" dirty="0">
                <a:solidFill>
                  <a:schemeClr val="tx1"/>
                </a:solidFill>
                <a:effectLst/>
                <a:latin typeface="方正小标宋简体" panose="02010601030101010101" pitchFamily="2" charset="-122"/>
                <a:ea typeface="方正小标宋简体" panose="02010601030101010101" pitchFamily="2" charset="-122"/>
              </a:rPr>
              <a:t>/</a:t>
            </a:r>
            <a:r>
              <a:rPr lang="zh-CN" altLang="en-US" sz="1800" b="0" i="0" dirty="0">
                <a:solidFill>
                  <a:schemeClr val="tx1"/>
                </a:solidFill>
                <a:effectLst/>
                <a:latin typeface="方正小标宋简体" panose="02010601030101010101" pitchFamily="2" charset="-122"/>
                <a:ea typeface="方正小标宋简体" panose="02010601030101010101" pitchFamily="2" charset="-122"/>
              </a:rPr>
              <a:t>双目</a:t>
            </a:r>
            <a:r>
              <a:rPr lang="en-US" altLang="zh-CN" sz="1800" b="0" i="0" dirty="0">
                <a:solidFill>
                  <a:schemeClr val="tx1"/>
                </a:solidFill>
                <a:effectLst/>
                <a:latin typeface="方正小标宋简体" panose="02010601030101010101" pitchFamily="2" charset="-122"/>
                <a:ea typeface="方正小标宋简体" panose="02010601030101010101" pitchFamily="2" charset="-122"/>
              </a:rPr>
              <a:t>/LiDAR </a:t>
            </a:r>
            <a:r>
              <a:rPr lang="zh-CN" altLang="en-US" sz="1800" b="0" i="0" dirty="0">
                <a:solidFill>
                  <a:schemeClr val="tx1"/>
                </a:solidFill>
                <a:effectLst/>
                <a:latin typeface="方正小标宋简体" panose="02010601030101010101" pitchFamily="2" charset="-122"/>
                <a:ea typeface="方正小标宋简体" panose="02010601030101010101" pitchFamily="2" charset="-122"/>
              </a:rPr>
              <a:t>检测，再走向相机</a:t>
            </a:r>
            <a:r>
              <a:rPr lang="en-US" altLang="zh-CN" sz="1800" b="0" i="0" dirty="0">
                <a:solidFill>
                  <a:schemeClr val="tx1"/>
                </a:solidFill>
                <a:effectLst/>
                <a:latin typeface="方正小标宋简体" panose="02010601030101010101" pitchFamily="2" charset="-122"/>
                <a:ea typeface="方正小标宋简体" panose="02010601030101010101" pitchFamily="2" charset="-122"/>
              </a:rPr>
              <a:t>- LiDAR-</a:t>
            </a:r>
            <a:r>
              <a:rPr lang="zh-CN" altLang="en-US" sz="1800" b="0" i="0" dirty="0">
                <a:solidFill>
                  <a:schemeClr val="tx1"/>
                </a:solidFill>
                <a:effectLst/>
                <a:latin typeface="方正小标宋简体" panose="02010601030101010101" pitchFamily="2" charset="-122"/>
                <a:ea typeface="方正小标宋简体" panose="02010601030101010101" pitchFamily="2" charset="-122"/>
              </a:rPr>
              <a:t>雷达多模态融合，最终在 </a:t>
            </a:r>
            <a:r>
              <a:rPr lang="en-US" altLang="zh-CN" sz="1800" b="0" i="0" dirty="0">
                <a:solidFill>
                  <a:schemeClr val="tx1"/>
                </a:solidFill>
                <a:effectLst/>
                <a:latin typeface="方正小标宋简体" panose="02010601030101010101" pitchFamily="2" charset="-122"/>
                <a:ea typeface="方正小标宋简体" panose="02010601030101010101" pitchFamily="2" charset="-122"/>
              </a:rPr>
              <a:t>BEV + Transformer </a:t>
            </a:r>
            <a:r>
              <a:rPr lang="zh-CN" altLang="en-US" sz="1800" b="0" i="0" dirty="0">
                <a:solidFill>
                  <a:schemeClr val="tx1"/>
                </a:solidFill>
                <a:effectLst/>
                <a:latin typeface="方正小标宋简体" panose="02010601030101010101" pitchFamily="2" charset="-122"/>
                <a:ea typeface="方正小标宋简体" panose="02010601030101010101" pitchFamily="2" charset="-122"/>
              </a:rPr>
              <a:t>架构下走向统一表征。</a:t>
            </a:r>
            <a:endParaRPr lang="zh-CN" altLang="en-US" dirty="0">
              <a:latin typeface="方正小标宋简体" panose="02010601030101010101" pitchFamily="2" charset="-122"/>
              <a:ea typeface="方正小标宋简体" panose="02010601030101010101" pitchFamily="2" charset="-122"/>
            </a:endParaRPr>
          </a:p>
        </p:txBody>
      </p:sp>
      <p:sp>
        <p:nvSpPr>
          <p:cNvPr id="5" name="文本框 4">
            <a:extLst>
              <a:ext uri="{FF2B5EF4-FFF2-40B4-BE49-F238E27FC236}">
                <a16:creationId xmlns:a16="http://schemas.microsoft.com/office/drawing/2014/main" id="{3997BC99-3380-7F51-5A9B-62F14F38E98B}"/>
              </a:ext>
            </a:extLst>
          </p:cNvPr>
          <p:cNvSpPr txBox="1"/>
          <p:nvPr/>
        </p:nvSpPr>
        <p:spPr>
          <a:xfrm>
            <a:off x="2311088" y="3315243"/>
            <a:ext cx="1569660" cy="369332"/>
          </a:xfrm>
          <a:prstGeom prst="rect">
            <a:avLst/>
          </a:prstGeom>
          <a:noFill/>
        </p:spPr>
        <p:txBody>
          <a:bodyPr wrap="none" rtlCol="0">
            <a:spAutoFit/>
          </a:bodyPr>
          <a:lstStyle/>
          <a:p>
            <a:r>
              <a:rPr lang="zh-CN" altLang="en-US" b="1" dirty="0">
                <a:solidFill>
                  <a:schemeClr val="accent5">
                    <a:lumMod val="50000"/>
                  </a:schemeClr>
                </a:solidFill>
                <a:latin typeface="方正小标宋简体" panose="02010601030101010101" pitchFamily="2" charset="-122"/>
                <a:ea typeface="方正小标宋简体" panose="02010601030101010101" pitchFamily="2" charset="-122"/>
              </a:rPr>
              <a:t>四类关键任务</a:t>
            </a:r>
          </a:p>
        </p:txBody>
      </p:sp>
      <p:grpSp>
        <p:nvGrpSpPr>
          <p:cNvPr id="6" name="组合 5">
            <a:extLst>
              <a:ext uri="{FF2B5EF4-FFF2-40B4-BE49-F238E27FC236}">
                <a16:creationId xmlns:a16="http://schemas.microsoft.com/office/drawing/2014/main" id="{4CEA4EC3-45D8-C1C9-3875-FDD36222067D}"/>
              </a:ext>
            </a:extLst>
          </p:cNvPr>
          <p:cNvGrpSpPr/>
          <p:nvPr/>
        </p:nvGrpSpPr>
        <p:grpSpPr>
          <a:xfrm>
            <a:off x="1803733" y="3752629"/>
            <a:ext cx="2077015" cy="2627743"/>
            <a:chOff x="144310" y="2353138"/>
            <a:chExt cx="1967119" cy="2241863"/>
          </a:xfrm>
        </p:grpSpPr>
        <p:sp>
          <p:nvSpPr>
            <p:cNvPr id="10" name="Freeform: Shape 8">
              <a:extLst>
                <a:ext uri="{FF2B5EF4-FFF2-40B4-BE49-F238E27FC236}">
                  <a16:creationId xmlns:a16="http://schemas.microsoft.com/office/drawing/2014/main" id="{850434CC-4A46-D95C-A984-1FC75BB111E0}"/>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1"/>
            </a:solidFill>
            <a:ln>
              <a:noFill/>
            </a:ln>
            <a:effectLst/>
          </p:spPr>
          <p:txBody>
            <a:bodyPr vert="horz" wrap="square" lIns="192000" tIns="2544000" rIns="192000" bIns="81280" anchor="t" anchorCtr="1" compatLnSpc="1">
              <a:normAutofit fontScale="25000" lnSpcReduction="20000"/>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77215EE5-34AE-DD2D-1069-BC58BFE52B5D}"/>
                </a:ext>
              </a:extLst>
            </p:cNvPr>
            <p:cNvSpPr txBox="1"/>
            <p:nvPr/>
          </p:nvSpPr>
          <p:spPr>
            <a:xfrm>
              <a:off x="144310" y="2801223"/>
              <a:ext cx="1967119" cy="315096"/>
            </a:xfrm>
            <a:prstGeom prst="rect">
              <a:avLst/>
            </a:prstGeom>
            <a:noFill/>
          </p:spPr>
          <p:txBody>
            <a:bodyPr wrap="square">
              <a:spAutoFit/>
            </a:bodyPr>
            <a:lstStyle/>
            <a:p>
              <a:pPr algn="ctr">
                <a:defRPr/>
              </a:pPr>
              <a:r>
                <a:rPr lang="zh-CN" altLang="en-US" b="1" kern="0" dirty="0">
                  <a:solidFill>
                    <a:schemeClr val="bg1"/>
                  </a:solidFill>
                  <a:latin typeface="微软雅黑" panose="020B0503020204020204" pitchFamily="34" charset="-122"/>
                  <a:ea typeface="微软雅黑" panose="020B0503020204020204" pitchFamily="34" charset="-122"/>
                  <a:sym typeface="+mn-ea"/>
                </a:rPr>
                <a:t>车道线检测</a:t>
              </a:r>
              <a:endParaRPr lang="en-US" altLang="zh-CN" b="1" kern="0" dirty="0">
                <a:solidFill>
                  <a:schemeClr val="bg1"/>
                </a:solidFill>
                <a:latin typeface="微软雅黑" panose="020B0503020204020204" pitchFamily="34" charset="-122"/>
                <a:ea typeface="微软雅黑" panose="020B0503020204020204" pitchFamily="34" charset="-122"/>
                <a:sym typeface="+mn-ea"/>
              </a:endParaRPr>
            </a:p>
          </p:txBody>
        </p:sp>
      </p:grpSp>
      <p:grpSp>
        <p:nvGrpSpPr>
          <p:cNvPr id="13" name="组合 12">
            <a:extLst>
              <a:ext uri="{FF2B5EF4-FFF2-40B4-BE49-F238E27FC236}">
                <a16:creationId xmlns:a16="http://schemas.microsoft.com/office/drawing/2014/main" id="{5011F509-ED51-D29E-821E-4EC0BFC41BE7}"/>
              </a:ext>
            </a:extLst>
          </p:cNvPr>
          <p:cNvGrpSpPr/>
          <p:nvPr/>
        </p:nvGrpSpPr>
        <p:grpSpPr>
          <a:xfrm>
            <a:off x="4295339" y="3755624"/>
            <a:ext cx="2077015" cy="2627743"/>
            <a:chOff x="144310" y="2353138"/>
            <a:chExt cx="1967119" cy="2241863"/>
          </a:xfrm>
        </p:grpSpPr>
        <p:sp>
          <p:nvSpPr>
            <p:cNvPr id="37" name="Freeform: Shape 8">
              <a:extLst>
                <a:ext uri="{FF2B5EF4-FFF2-40B4-BE49-F238E27FC236}">
                  <a16:creationId xmlns:a16="http://schemas.microsoft.com/office/drawing/2014/main" id="{A23FE735-444F-C75E-4ED6-26D98A6494E8}"/>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1"/>
            </a:solidFill>
            <a:ln>
              <a:noFill/>
            </a:ln>
            <a:effectLst/>
          </p:spPr>
          <p:txBody>
            <a:bodyPr vert="horz" wrap="square" lIns="192000" tIns="2544000" rIns="192000" bIns="81280" anchor="t" anchorCtr="1" compatLnSpc="1">
              <a:normAutofit fontScale="25000" lnSpcReduction="20000"/>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F70CF891-B56B-25B5-BC42-E7A8F4D5AC21}"/>
                </a:ext>
              </a:extLst>
            </p:cNvPr>
            <p:cNvSpPr txBox="1"/>
            <p:nvPr/>
          </p:nvSpPr>
          <p:spPr>
            <a:xfrm>
              <a:off x="144310" y="2801223"/>
              <a:ext cx="1967119" cy="315096"/>
            </a:xfrm>
            <a:prstGeom prst="rect">
              <a:avLst/>
            </a:prstGeom>
            <a:noFill/>
          </p:spPr>
          <p:txBody>
            <a:bodyPr wrap="square">
              <a:spAutoFit/>
            </a:bodyPr>
            <a:lstStyle/>
            <a:p>
              <a:pPr algn="ctr">
                <a:defRPr/>
              </a:pPr>
              <a:r>
                <a:rPr lang="zh-CN" altLang="en-US" b="1" kern="0" dirty="0">
                  <a:solidFill>
                    <a:schemeClr val="bg1"/>
                  </a:solidFill>
                  <a:latin typeface="微软雅黑" panose="020B0503020204020204" pitchFamily="34" charset="-122"/>
                  <a:ea typeface="微软雅黑" panose="020B0503020204020204" pitchFamily="34" charset="-122"/>
                  <a:sym typeface="+mn-ea"/>
                </a:rPr>
                <a:t>可行驶区域检测</a:t>
              </a:r>
              <a:endParaRPr lang="en-US" altLang="zh-CN" b="1" kern="0" dirty="0">
                <a:solidFill>
                  <a:schemeClr val="bg1"/>
                </a:solidFill>
                <a:latin typeface="微软雅黑" panose="020B0503020204020204" pitchFamily="34" charset="-122"/>
                <a:ea typeface="微软雅黑" panose="020B0503020204020204" pitchFamily="34" charset="-122"/>
                <a:sym typeface="+mn-ea"/>
              </a:endParaRPr>
            </a:p>
          </p:txBody>
        </p:sp>
      </p:grpSp>
      <p:grpSp>
        <p:nvGrpSpPr>
          <p:cNvPr id="51" name="组合 50">
            <a:extLst>
              <a:ext uri="{FF2B5EF4-FFF2-40B4-BE49-F238E27FC236}">
                <a16:creationId xmlns:a16="http://schemas.microsoft.com/office/drawing/2014/main" id="{A3C56D45-771D-08B9-F66D-A640E23FC735}"/>
              </a:ext>
            </a:extLst>
          </p:cNvPr>
          <p:cNvGrpSpPr/>
          <p:nvPr/>
        </p:nvGrpSpPr>
        <p:grpSpPr>
          <a:xfrm>
            <a:off x="6786945" y="3783646"/>
            <a:ext cx="2077015" cy="2627743"/>
            <a:chOff x="144310" y="2353138"/>
            <a:chExt cx="1967119" cy="2241863"/>
          </a:xfrm>
        </p:grpSpPr>
        <p:sp>
          <p:nvSpPr>
            <p:cNvPr id="56" name="Freeform: Shape 8">
              <a:extLst>
                <a:ext uri="{FF2B5EF4-FFF2-40B4-BE49-F238E27FC236}">
                  <a16:creationId xmlns:a16="http://schemas.microsoft.com/office/drawing/2014/main" id="{86FCA3B5-4041-6F61-1A52-A4AA0A4E29B8}"/>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1"/>
            </a:solidFill>
            <a:ln>
              <a:noFill/>
            </a:ln>
            <a:effectLst/>
          </p:spPr>
          <p:txBody>
            <a:bodyPr vert="horz" wrap="square" lIns="192000" tIns="2544000" rIns="192000" bIns="81280" anchor="t" anchorCtr="1" compatLnSpc="1">
              <a:normAutofit fontScale="25000" lnSpcReduction="20000"/>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8" name="文本框 57">
              <a:extLst>
                <a:ext uri="{FF2B5EF4-FFF2-40B4-BE49-F238E27FC236}">
                  <a16:creationId xmlns:a16="http://schemas.microsoft.com/office/drawing/2014/main" id="{A8DD8994-13DD-AB70-A026-FFD0CA5D71AF}"/>
                </a:ext>
              </a:extLst>
            </p:cNvPr>
            <p:cNvSpPr txBox="1"/>
            <p:nvPr/>
          </p:nvSpPr>
          <p:spPr>
            <a:xfrm>
              <a:off x="144310" y="2801223"/>
              <a:ext cx="1967119" cy="315096"/>
            </a:xfrm>
            <a:prstGeom prst="rect">
              <a:avLst/>
            </a:prstGeom>
            <a:noFill/>
          </p:spPr>
          <p:txBody>
            <a:bodyPr wrap="square">
              <a:spAutoFit/>
            </a:bodyPr>
            <a:lstStyle/>
            <a:p>
              <a:pPr algn="ctr">
                <a:defRPr/>
              </a:pPr>
              <a:r>
                <a:rPr lang="zh-CN" altLang="en-US" b="1" kern="0" dirty="0">
                  <a:solidFill>
                    <a:schemeClr val="bg1"/>
                  </a:solidFill>
                  <a:latin typeface="微软雅黑" panose="020B0503020204020204" pitchFamily="34" charset="-122"/>
                  <a:ea typeface="微软雅黑" panose="020B0503020204020204" pitchFamily="34" charset="-122"/>
                  <a:sym typeface="+mn-ea"/>
                </a:rPr>
                <a:t>交通标志检测</a:t>
              </a:r>
              <a:endParaRPr lang="en-US" altLang="zh-CN" b="1" kern="0" dirty="0">
                <a:solidFill>
                  <a:schemeClr val="bg1"/>
                </a:solidFill>
                <a:latin typeface="微软雅黑" panose="020B0503020204020204" pitchFamily="34" charset="-122"/>
                <a:ea typeface="微软雅黑" panose="020B0503020204020204" pitchFamily="34" charset="-122"/>
                <a:sym typeface="+mn-ea"/>
              </a:endParaRPr>
            </a:p>
          </p:txBody>
        </p:sp>
      </p:grpSp>
      <p:grpSp>
        <p:nvGrpSpPr>
          <p:cNvPr id="60" name="组合 59">
            <a:extLst>
              <a:ext uri="{FF2B5EF4-FFF2-40B4-BE49-F238E27FC236}">
                <a16:creationId xmlns:a16="http://schemas.microsoft.com/office/drawing/2014/main" id="{F2224A87-6DC2-A304-C8DA-913363C4B677}"/>
              </a:ext>
            </a:extLst>
          </p:cNvPr>
          <p:cNvGrpSpPr/>
          <p:nvPr/>
        </p:nvGrpSpPr>
        <p:grpSpPr>
          <a:xfrm>
            <a:off x="9278552" y="3783645"/>
            <a:ext cx="2077015" cy="2627743"/>
            <a:chOff x="144310" y="2353138"/>
            <a:chExt cx="1967119" cy="2241863"/>
          </a:xfrm>
        </p:grpSpPr>
        <p:sp>
          <p:nvSpPr>
            <p:cNvPr id="62" name="Freeform: Shape 8">
              <a:extLst>
                <a:ext uri="{FF2B5EF4-FFF2-40B4-BE49-F238E27FC236}">
                  <a16:creationId xmlns:a16="http://schemas.microsoft.com/office/drawing/2014/main" id="{AD8A2341-1166-5304-9AD7-52007A17736A}"/>
                </a:ext>
              </a:extLst>
            </p:cNvPr>
            <p:cNvSpPr/>
            <p:nvPr/>
          </p:nvSpPr>
          <p:spPr bwMode="auto">
            <a:xfrm>
              <a:off x="144310" y="2353138"/>
              <a:ext cx="1967119" cy="2241863"/>
            </a:xfrm>
            <a:custGeom>
              <a:avLst/>
              <a:gdLst>
                <a:gd name="T0" fmla="*/ 535 w 595"/>
                <a:gd name="T1" fmla="*/ 60 h 919"/>
                <a:gd name="T2" fmla="*/ 359 w 595"/>
                <a:gd name="T3" fmla="*/ 60 h 919"/>
                <a:gd name="T4" fmla="*/ 297 w 595"/>
                <a:gd name="T5" fmla="*/ 0 h 919"/>
                <a:gd name="T6" fmla="*/ 236 w 595"/>
                <a:gd name="T7" fmla="*/ 60 h 919"/>
                <a:gd name="T8" fmla="*/ 59 w 595"/>
                <a:gd name="T9" fmla="*/ 60 h 919"/>
                <a:gd name="T10" fmla="*/ 0 w 595"/>
                <a:gd name="T11" fmla="*/ 120 h 919"/>
                <a:gd name="T12" fmla="*/ 0 w 595"/>
                <a:gd name="T13" fmla="*/ 859 h 919"/>
                <a:gd name="T14" fmla="*/ 59 w 595"/>
                <a:gd name="T15" fmla="*/ 919 h 919"/>
                <a:gd name="T16" fmla="*/ 535 w 595"/>
                <a:gd name="T17" fmla="*/ 919 h 919"/>
                <a:gd name="T18" fmla="*/ 595 w 595"/>
                <a:gd name="T19" fmla="*/ 859 h 919"/>
                <a:gd name="T20" fmla="*/ 595 w 595"/>
                <a:gd name="T21" fmla="*/ 120 h 919"/>
                <a:gd name="T22" fmla="*/ 535 w 595"/>
                <a:gd name="T23" fmla="*/ 60 h 919"/>
                <a:gd name="T24" fmla="*/ 589 w 595"/>
                <a:gd name="T25" fmla="*/ 859 h 919"/>
                <a:gd name="T26" fmla="*/ 535 w 595"/>
                <a:gd name="T27" fmla="*/ 913 h 919"/>
                <a:gd name="T28" fmla="*/ 59 w 595"/>
                <a:gd name="T29" fmla="*/ 913 h 919"/>
                <a:gd name="T30" fmla="*/ 6 w 595"/>
                <a:gd name="T31" fmla="*/ 859 h 919"/>
                <a:gd name="T32" fmla="*/ 6 w 595"/>
                <a:gd name="T33" fmla="*/ 467 h 919"/>
                <a:gd name="T34" fmla="*/ 589 w 595"/>
                <a:gd name="T35" fmla="*/ 467 h 919"/>
                <a:gd name="T36" fmla="*/ 589 w 595"/>
                <a:gd name="T37" fmla="*/ 859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5" h="919">
                  <a:moveTo>
                    <a:pt x="535" y="60"/>
                  </a:moveTo>
                  <a:cubicBezTo>
                    <a:pt x="359" y="60"/>
                    <a:pt x="359" y="60"/>
                    <a:pt x="359" y="60"/>
                  </a:cubicBezTo>
                  <a:cubicBezTo>
                    <a:pt x="330" y="51"/>
                    <a:pt x="307" y="29"/>
                    <a:pt x="297" y="0"/>
                  </a:cubicBezTo>
                  <a:cubicBezTo>
                    <a:pt x="288" y="29"/>
                    <a:pt x="265" y="51"/>
                    <a:pt x="236" y="60"/>
                  </a:cubicBezTo>
                  <a:cubicBezTo>
                    <a:pt x="59" y="60"/>
                    <a:pt x="59" y="60"/>
                    <a:pt x="59" y="60"/>
                  </a:cubicBezTo>
                  <a:cubicBezTo>
                    <a:pt x="27" y="60"/>
                    <a:pt x="0" y="87"/>
                    <a:pt x="0" y="120"/>
                  </a:cubicBezTo>
                  <a:cubicBezTo>
                    <a:pt x="0" y="859"/>
                    <a:pt x="0" y="859"/>
                    <a:pt x="0" y="859"/>
                  </a:cubicBezTo>
                  <a:cubicBezTo>
                    <a:pt x="0" y="892"/>
                    <a:pt x="27" y="919"/>
                    <a:pt x="59" y="919"/>
                  </a:cubicBezTo>
                  <a:cubicBezTo>
                    <a:pt x="535" y="919"/>
                    <a:pt x="535" y="919"/>
                    <a:pt x="535" y="919"/>
                  </a:cubicBezTo>
                  <a:cubicBezTo>
                    <a:pt x="568" y="919"/>
                    <a:pt x="595" y="892"/>
                    <a:pt x="595" y="859"/>
                  </a:cubicBezTo>
                  <a:cubicBezTo>
                    <a:pt x="595" y="120"/>
                    <a:pt x="595" y="120"/>
                    <a:pt x="595" y="120"/>
                  </a:cubicBezTo>
                  <a:cubicBezTo>
                    <a:pt x="595" y="87"/>
                    <a:pt x="568" y="60"/>
                    <a:pt x="535" y="60"/>
                  </a:cubicBezTo>
                  <a:close/>
                  <a:moveTo>
                    <a:pt x="589" y="859"/>
                  </a:moveTo>
                  <a:cubicBezTo>
                    <a:pt x="589" y="889"/>
                    <a:pt x="565" y="913"/>
                    <a:pt x="535" y="913"/>
                  </a:cubicBezTo>
                  <a:cubicBezTo>
                    <a:pt x="59" y="913"/>
                    <a:pt x="59" y="913"/>
                    <a:pt x="59" y="913"/>
                  </a:cubicBezTo>
                  <a:cubicBezTo>
                    <a:pt x="30" y="913"/>
                    <a:pt x="6" y="889"/>
                    <a:pt x="6" y="859"/>
                  </a:cubicBezTo>
                  <a:cubicBezTo>
                    <a:pt x="6" y="467"/>
                    <a:pt x="6" y="467"/>
                    <a:pt x="6" y="467"/>
                  </a:cubicBezTo>
                  <a:cubicBezTo>
                    <a:pt x="589" y="467"/>
                    <a:pt x="589" y="467"/>
                    <a:pt x="589" y="467"/>
                  </a:cubicBezTo>
                  <a:lnTo>
                    <a:pt x="589" y="859"/>
                  </a:lnTo>
                  <a:close/>
                </a:path>
              </a:pathLst>
            </a:custGeom>
            <a:solidFill>
              <a:schemeClr val="accent1"/>
            </a:solidFill>
            <a:ln>
              <a:noFill/>
            </a:ln>
            <a:effectLst/>
          </p:spPr>
          <p:txBody>
            <a:bodyPr vert="horz" wrap="square" lIns="192000" tIns="2544000" rIns="192000" bIns="81280" anchor="t" anchorCtr="1" compatLnSpc="1">
              <a:normAutofit fontScale="25000" lnSpcReduction="20000"/>
            </a:bodyPr>
            <a:lstStyle/>
            <a:p>
              <a:pPr algn="ctr">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3" name="文本框 62">
              <a:extLst>
                <a:ext uri="{FF2B5EF4-FFF2-40B4-BE49-F238E27FC236}">
                  <a16:creationId xmlns:a16="http://schemas.microsoft.com/office/drawing/2014/main" id="{688212B2-319B-DE5C-3493-F78BD567A82A}"/>
                </a:ext>
              </a:extLst>
            </p:cNvPr>
            <p:cNvSpPr txBox="1"/>
            <p:nvPr/>
          </p:nvSpPr>
          <p:spPr>
            <a:xfrm>
              <a:off x="144310" y="2801223"/>
              <a:ext cx="1967119" cy="315096"/>
            </a:xfrm>
            <a:prstGeom prst="rect">
              <a:avLst/>
            </a:prstGeom>
            <a:noFill/>
          </p:spPr>
          <p:txBody>
            <a:bodyPr wrap="square">
              <a:spAutoFit/>
            </a:bodyPr>
            <a:lstStyle/>
            <a:p>
              <a:pPr algn="ctr">
                <a:defRPr/>
              </a:pPr>
              <a:r>
                <a:rPr lang="en-US" altLang="zh-CN" b="1" kern="0" dirty="0">
                  <a:solidFill>
                    <a:schemeClr val="bg1"/>
                  </a:solidFill>
                  <a:latin typeface="微软雅黑" panose="020B0503020204020204" pitchFamily="34" charset="-122"/>
                  <a:ea typeface="微软雅黑" panose="020B0503020204020204" pitchFamily="34" charset="-122"/>
                  <a:sym typeface="+mn-ea"/>
                </a:rPr>
                <a:t>3D </a:t>
              </a:r>
              <a:r>
                <a:rPr lang="zh-CN" altLang="en-US" b="1" kern="0" dirty="0">
                  <a:solidFill>
                    <a:schemeClr val="bg1"/>
                  </a:solidFill>
                  <a:latin typeface="微软雅黑" panose="020B0503020204020204" pitchFamily="34" charset="-122"/>
                  <a:ea typeface="微软雅黑" panose="020B0503020204020204" pitchFamily="34" charset="-122"/>
                  <a:sym typeface="+mn-ea"/>
                </a:rPr>
                <a:t>目标检测</a:t>
              </a:r>
              <a:endParaRPr lang="en-US" altLang="zh-CN" b="1" kern="0" dirty="0">
                <a:solidFill>
                  <a:schemeClr val="bg1"/>
                </a:solidFill>
                <a:latin typeface="微软雅黑" panose="020B0503020204020204" pitchFamily="34" charset="-122"/>
                <a:ea typeface="微软雅黑" panose="020B0503020204020204" pitchFamily="34" charset="-122"/>
                <a:sym typeface="+mn-ea"/>
              </a:endParaRPr>
            </a:p>
          </p:txBody>
        </p:sp>
      </p:grpSp>
      <p:pic>
        <p:nvPicPr>
          <p:cNvPr id="9219" name="图片 9218">
            <a:extLst>
              <a:ext uri="{FF2B5EF4-FFF2-40B4-BE49-F238E27FC236}">
                <a16:creationId xmlns:a16="http://schemas.microsoft.com/office/drawing/2014/main" id="{4680293E-70B2-E21F-4975-A0E59128A1D1}"/>
              </a:ext>
            </a:extLst>
          </p:cNvPr>
          <p:cNvPicPr>
            <a:picLocks noChangeAspect="1"/>
          </p:cNvPicPr>
          <p:nvPr/>
        </p:nvPicPr>
        <p:blipFill>
          <a:blip r:embed="rId4"/>
          <a:stretch>
            <a:fillRect/>
          </a:stretch>
        </p:blipFill>
        <p:spPr>
          <a:xfrm>
            <a:off x="1957504" y="5166946"/>
            <a:ext cx="1769473" cy="1041239"/>
          </a:xfrm>
          <a:prstGeom prst="rect">
            <a:avLst/>
          </a:prstGeom>
        </p:spPr>
      </p:pic>
      <p:pic>
        <p:nvPicPr>
          <p:cNvPr id="9221" name="图片 9220">
            <a:extLst>
              <a:ext uri="{FF2B5EF4-FFF2-40B4-BE49-F238E27FC236}">
                <a16:creationId xmlns:a16="http://schemas.microsoft.com/office/drawing/2014/main" id="{91ADEC1F-387C-BFCC-58E7-843F036956E1}"/>
              </a:ext>
            </a:extLst>
          </p:cNvPr>
          <p:cNvPicPr>
            <a:picLocks noChangeAspect="1"/>
          </p:cNvPicPr>
          <p:nvPr/>
        </p:nvPicPr>
        <p:blipFill>
          <a:blip r:embed="rId5"/>
          <a:stretch>
            <a:fillRect/>
          </a:stretch>
        </p:blipFill>
        <p:spPr>
          <a:xfrm>
            <a:off x="4394223" y="5189583"/>
            <a:ext cx="1879245" cy="1056412"/>
          </a:xfrm>
          <a:prstGeom prst="rect">
            <a:avLst/>
          </a:prstGeom>
        </p:spPr>
      </p:pic>
      <p:pic>
        <p:nvPicPr>
          <p:cNvPr id="9223" name="图片 9222">
            <a:extLst>
              <a:ext uri="{FF2B5EF4-FFF2-40B4-BE49-F238E27FC236}">
                <a16:creationId xmlns:a16="http://schemas.microsoft.com/office/drawing/2014/main" id="{87CA6D76-F3F4-5826-63A6-1D67BE3AE472}"/>
              </a:ext>
            </a:extLst>
          </p:cNvPr>
          <p:cNvPicPr>
            <a:picLocks noChangeAspect="1"/>
          </p:cNvPicPr>
          <p:nvPr/>
        </p:nvPicPr>
        <p:blipFill>
          <a:blip r:embed="rId6"/>
          <a:stretch>
            <a:fillRect/>
          </a:stretch>
        </p:blipFill>
        <p:spPr>
          <a:xfrm>
            <a:off x="6964869" y="5203400"/>
            <a:ext cx="1721166" cy="1077283"/>
          </a:xfrm>
          <a:prstGeom prst="rect">
            <a:avLst/>
          </a:prstGeom>
        </p:spPr>
      </p:pic>
      <p:pic>
        <p:nvPicPr>
          <p:cNvPr id="9226" name="图片 9225">
            <a:extLst>
              <a:ext uri="{FF2B5EF4-FFF2-40B4-BE49-F238E27FC236}">
                <a16:creationId xmlns:a16="http://schemas.microsoft.com/office/drawing/2014/main" id="{D76C2A83-6032-8327-314D-5DDF3ED1FEA9}"/>
              </a:ext>
            </a:extLst>
          </p:cNvPr>
          <p:cNvPicPr>
            <a:picLocks noChangeAspect="1"/>
          </p:cNvPicPr>
          <p:nvPr/>
        </p:nvPicPr>
        <p:blipFill>
          <a:blip r:embed="rId7"/>
          <a:stretch>
            <a:fillRect/>
          </a:stretch>
        </p:blipFill>
        <p:spPr>
          <a:xfrm>
            <a:off x="9455787" y="5176160"/>
            <a:ext cx="1751904" cy="1131761"/>
          </a:xfrm>
          <a:prstGeom prst="rect">
            <a:avLst/>
          </a:prstGeom>
        </p:spPr>
      </p:pic>
    </p:spTree>
    <p:extLst>
      <p:ext uri="{BB962C8B-B14F-4D97-AF65-F5344CB8AC3E}">
        <p14:creationId xmlns:p14="http://schemas.microsoft.com/office/powerpoint/2010/main" val="3527400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AA185-E246-C0FE-B14E-CFA9BA992B9C}"/>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5415A82D-7298-2095-0322-33612E9BE5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DB0D7A5C-A8F1-9CB5-5306-6819AB29FDF0}"/>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C5CB6B39-5052-D08F-8714-85D7089F3ACF}"/>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1B1910AD-72F9-0E9C-5291-5515DF30700A}"/>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883DB97D-8F5D-D568-43C5-2048A7CB42E2}"/>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CF7A3AA8-E999-A7DB-8B7A-BF492A304AF0}"/>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D6E78F7E-FFA9-31AD-0D2E-8715BFF71F56}"/>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9ECA0E70-22BA-31B7-2EA7-247F6FCEFEAB}"/>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目标检测</a:t>
            </a:r>
          </a:p>
        </p:txBody>
      </p:sp>
      <p:sp>
        <p:nvSpPr>
          <p:cNvPr id="29" name="椭圆 28">
            <a:extLst>
              <a:ext uri="{FF2B5EF4-FFF2-40B4-BE49-F238E27FC236}">
                <a16:creationId xmlns:a16="http://schemas.microsoft.com/office/drawing/2014/main" id="{119C3DC4-2BB1-18A3-3F74-998AB9AE097D}"/>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3B04B877-4372-D009-A1AE-38B3541FAEE4}"/>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15</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C06F9EF9-4027-2DF3-C612-7F3EDC19F6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B1A2B8D5-3997-EC79-35DF-736BFD0EDC06}"/>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5FCDC9FC-A067-3AB7-58F0-F69A6697E5CF}"/>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3288BB20-C302-18DA-F037-3807CDFED8D6}"/>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17ACE54B-03BD-FBCC-8C0F-28659EAB397E}"/>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A167D388-2FC1-C053-E3CE-830E2A7C39C4}"/>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EC39021C-871C-4A2B-8F87-9F843376618E}"/>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4B8274F2-317F-F7D4-300D-41CC18D937E7}"/>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0C647DD5-1900-EC3E-861B-3F171912B876}"/>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3CEE7A29-4C90-9328-835E-3FCCA9E2CE67}"/>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BDD54CED-4C16-4FDE-7484-B1105A819610}"/>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F96D2306-3C0F-DD59-02CF-C5F478AD04CC}"/>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19AEF5EB-1E20-7DC3-2115-18AB1548F7FD}"/>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0AA30962-6441-849C-708F-0A9B1B9EC0DE}"/>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5" name="文本框 14">
            <a:extLst>
              <a:ext uri="{FF2B5EF4-FFF2-40B4-BE49-F238E27FC236}">
                <a16:creationId xmlns:a16="http://schemas.microsoft.com/office/drawing/2014/main" id="{D8D716F2-9F4B-634D-A37A-DE3374C170E4}"/>
              </a:ext>
            </a:extLst>
          </p:cNvPr>
          <p:cNvSpPr txBox="1"/>
          <p:nvPr/>
        </p:nvSpPr>
        <p:spPr>
          <a:xfrm>
            <a:off x="2728384" y="2067247"/>
            <a:ext cx="10401300" cy="369332"/>
          </a:xfrm>
          <a:prstGeom prst="rect">
            <a:avLst/>
          </a:prstGeom>
          <a:noFill/>
        </p:spPr>
        <p:txBody>
          <a:bodyPr wrap="square">
            <a:spAutoFit/>
          </a:bodyPr>
          <a:lstStyle/>
          <a:p>
            <a:r>
              <a:rPr lang="zh-CN" altLang="zh-CN" sz="1800" b="1" i="0" dirty="0">
                <a:effectLst/>
                <a:latin typeface="方正小标宋简体" panose="02010601030101010101" pitchFamily="2" charset="-122"/>
                <a:ea typeface="方正小标宋简体" panose="02010601030101010101" pitchFamily="2" charset="-122"/>
              </a:rPr>
              <a:t>阶段一：</a:t>
            </a:r>
            <a:r>
              <a:rPr lang="zh-CN" altLang="en-US" b="1" dirty="0">
                <a:latin typeface="方正小标宋简体" panose="02010601030101010101" pitchFamily="2" charset="-122"/>
                <a:ea typeface="方正小标宋简体" panose="02010601030101010101" pitchFamily="2" charset="-122"/>
              </a:rPr>
              <a:t>传统</a:t>
            </a:r>
            <a:r>
              <a:rPr lang="zh-CN" altLang="en-US" sz="1800" b="1" i="0" dirty="0">
                <a:effectLst/>
                <a:latin typeface="方正小标宋简体" panose="02010601030101010101" pitchFamily="2" charset="-122"/>
                <a:ea typeface="方正小标宋简体" panose="02010601030101010101" pitchFamily="2" charset="-122"/>
              </a:rPr>
              <a:t>视觉识别</a:t>
            </a:r>
            <a:endParaRPr lang="zh-CN" altLang="en-US" sz="1800" dirty="0">
              <a:latin typeface="方正小标宋简体" panose="02010601030101010101" pitchFamily="2" charset="-122"/>
              <a:ea typeface="方正小标宋简体" panose="02010601030101010101" pitchFamily="2" charset="-122"/>
            </a:endParaRPr>
          </a:p>
        </p:txBody>
      </p:sp>
      <p:sp>
        <p:nvSpPr>
          <p:cNvPr id="17" name="文本框 16">
            <a:extLst>
              <a:ext uri="{FF2B5EF4-FFF2-40B4-BE49-F238E27FC236}">
                <a16:creationId xmlns:a16="http://schemas.microsoft.com/office/drawing/2014/main" id="{D3E3914D-B01F-AD0C-7971-90881DE3B019}"/>
              </a:ext>
            </a:extLst>
          </p:cNvPr>
          <p:cNvSpPr txBox="1"/>
          <p:nvPr/>
        </p:nvSpPr>
        <p:spPr>
          <a:xfrm>
            <a:off x="2385977" y="3716098"/>
            <a:ext cx="4852610" cy="1200329"/>
          </a:xfrm>
          <a:prstGeom prst="rect">
            <a:avLst/>
          </a:prstGeom>
          <a:noFill/>
        </p:spPr>
        <p:txBody>
          <a:bodyPr wrap="none" rtlCol="0">
            <a:spAutoFit/>
          </a:bodyPr>
          <a:lstStyle/>
          <a:p>
            <a:pPr lvl="0"/>
            <a:r>
              <a:rPr lang="zh-CN" altLang="en-US" dirty="0">
                <a:latin typeface="方正小标宋简体" panose="02010601030101010101" pitchFamily="2" charset="-122"/>
                <a:ea typeface="方正小标宋简体" panose="02010601030101010101" pitchFamily="2" charset="-122"/>
              </a:rPr>
              <a:t>优点：</a:t>
            </a:r>
            <a:r>
              <a:rPr lang="zh-CN" altLang="zh-CN" dirty="0">
                <a:latin typeface="方正小标宋简体" panose="02010601030101010101" pitchFamily="2" charset="-122"/>
                <a:ea typeface="方正小标宋简体" panose="02010601030101010101" pitchFamily="2" charset="-122"/>
              </a:rPr>
              <a:t>计算量小，易于复现和部署。</a:t>
            </a:r>
          </a:p>
          <a:p>
            <a:pPr lvl="0"/>
            <a:r>
              <a:rPr lang="zh-CN" altLang="zh-CN" dirty="0">
                <a:latin typeface="方正小标宋简体" panose="02010601030101010101" pitchFamily="2" charset="-122"/>
                <a:ea typeface="方正小标宋简体" panose="02010601030101010101" pitchFamily="2" charset="-122"/>
              </a:rPr>
              <a:t>可解释性强，规则清晰。</a:t>
            </a:r>
          </a:p>
          <a:p>
            <a:pPr lvl="0"/>
            <a:r>
              <a:rPr lang="zh-CN" altLang="zh-CN" dirty="0">
                <a:latin typeface="方正小标宋简体" panose="02010601030101010101" pitchFamily="2" charset="-122"/>
                <a:ea typeface="方正小标宋简体" panose="02010601030101010101" pitchFamily="2" charset="-122"/>
              </a:rPr>
              <a:t>在结构化道路、简单场景和 ADAS 中仍可用。</a:t>
            </a:r>
          </a:p>
          <a:p>
            <a:pPr lvl="0"/>
            <a:r>
              <a:rPr lang="zh-CN" altLang="zh-CN" dirty="0">
                <a:latin typeface="方正小标宋简体" panose="02010601030101010101" pitchFamily="2" charset="-122"/>
                <a:ea typeface="方正小标宋简体" panose="02010601030101010101" pitchFamily="2" charset="-122"/>
              </a:rPr>
              <a:t>不依赖大规模标注数据。</a:t>
            </a:r>
          </a:p>
        </p:txBody>
      </p:sp>
      <p:sp>
        <p:nvSpPr>
          <p:cNvPr id="35" name="文本框 34">
            <a:extLst>
              <a:ext uri="{FF2B5EF4-FFF2-40B4-BE49-F238E27FC236}">
                <a16:creationId xmlns:a16="http://schemas.microsoft.com/office/drawing/2014/main" id="{FA1DCF13-9CC2-D587-52F6-9D37A8226EB5}"/>
              </a:ext>
            </a:extLst>
          </p:cNvPr>
          <p:cNvSpPr txBox="1"/>
          <p:nvPr/>
        </p:nvSpPr>
        <p:spPr>
          <a:xfrm>
            <a:off x="2385977" y="5038131"/>
            <a:ext cx="7212231" cy="1200329"/>
          </a:xfrm>
          <a:prstGeom prst="rect">
            <a:avLst/>
          </a:prstGeom>
          <a:noFill/>
        </p:spPr>
        <p:txBody>
          <a:bodyPr wrap="none" rtlCol="0">
            <a:spAutoFit/>
          </a:bodyPr>
          <a:lstStyle/>
          <a:p>
            <a:pPr lvl="0"/>
            <a:r>
              <a:rPr lang="zh-CN" altLang="en-US" dirty="0">
                <a:latin typeface="方正小标宋简体" panose="02010601030101010101" pitchFamily="2" charset="-122"/>
                <a:ea typeface="方正小标宋简体" panose="02010601030101010101" pitchFamily="2" charset="-122"/>
              </a:rPr>
              <a:t>缺点：</a:t>
            </a:r>
            <a:r>
              <a:rPr lang="zh-CN" altLang="zh-CN" dirty="0">
                <a:latin typeface="方正小标宋简体" panose="02010601030101010101" pitchFamily="2" charset="-122"/>
                <a:ea typeface="方正小标宋简体" panose="02010601030101010101" pitchFamily="2" charset="-122"/>
              </a:rPr>
              <a:t>泛化能力差，严重依赖人工调参。</a:t>
            </a:r>
          </a:p>
          <a:p>
            <a:pPr lvl="0"/>
            <a:r>
              <a:rPr lang="zh-CN" altLang="zh-CN" dirty="0">
                <a:latin typeface="方正小标宋简体" panose="02010601030101010101" pitchFamily="2" charset="-122"/>
                <a:ea typeface="方正小标宋简体" panose="02010601030101010101" pitchFamily="2" charset="-122"/>
              </a:rPr>
              <a:t>对光照、褪色、遮挡、恶劣天气、曲线车道敏感。</a:t>
            </a:r>
          </a:p>
          <a:p>
            <a:pPr lvl="0"/>
            <a:r>
              <a:rPr lang="zh-CN" altLang="zh-CN" dirty="0">
                <a:latin typeface="方正小标宋简体" panose="02010601030101010101" pitchFamily="2" charset="-122"/>
                <a:ea typeface="方正小标宋简体" panose="02010601030101010101" pitchFamily="2" charset="-122"/>
              </a:rPr>
              <a:t>颜色直方图对颜色变化敏感，区域生长鲁棒性有限。</a:t>
            </a:r>
          </a:p>
          <a:p>
            <a:pPr lvl="0"/>
            <a:r>
              <a:rPr lang="zh-CN" altLang="zh-CN" dirty="0">
                <a:latin typeface="方正小标宋简体" panose="02010601030101010101" pitchFamily="2" charset="-122"/>
                <a:ea typeface="方正小标宋简体" panose="02010601030101010101" pitchFamily="2" charset="-122"/>
              </a:rPr>
              <a:t>只能输出 2D 结果，无法直接提供 3D 空间信息，难以服务规划控制。</a:t>
            </a:r>
          </a:p>
        </p:txBody>
      </p:sp>
      <p:sp>
        <p:nvSpPr>
          <p:cNvPr id="39" name="文本框 38">
            <a:extLst>
              <a:ext uri="{FF2B5EF4-FFF2-40B4-BE49-F238E27FC236}">
                <a16:creationId xmlns:a16="http://schemas.microsoft.com/office/drawing/2014/main" id="{65B0C5DD-8CA1-2E97-4941-1EFEB5E4117D}"/>
              </a:ext>
            </a:extLst>
          </p:cNvPr>
          <p:cNvSpPr txBox="1"/>
          <p:nvPr/>
        </p:nvSpPr>
        <p:spPr>
          <a:xfrm>
            <a:off x="2065831" y="2782669"/>
            <a:ext cx="10401300" cy="646331"/>
          </a:xfrm>
          <a:prstGeom prst="rect">
            <a:avLst/>
          </a:prstGeom>
          <a:noFill/>
        </p:spPr>
        <p:txBody>
          <a:bodyPr wrap="square">
            <a:spAutoFit/>
          </a:bodyPr>
          <a:lstStyle/>
          <a:p>
            <a:r>
              <a:rPr lang="zh-CN" altLang="en-US" dirty="0">
                <a:latin typeface="方正小标宋简体" panose="02010601030101010101" pitchFamily="2" charset="-122"/>
                <a:ea typeface="方正小标宋简体" panose="02010601030101010101" pitchFamily="2" charset="-122"/>
              </a:rPr>
              <a:t>人根据交通场景的先验知识，设计颜色、边缘、梯度、形状、纹理等特征，再用 </a:t>
            </a:r>
            <a:r>
              <a:rPr lang="en-US" altLang="zh-CN" dirty="0">
                <a:latin typeface="方正小标宋简体" panose="02010601030101010101" pitchFamily="2" charset="-122"/>
                <a:ea typeface="方正小标宋简体" panose="02010601030101010101" pitchFamily="2" charset="-122"/>
              </a:rPr>
              <a:t>Hough</a:t>
            </a:r>
            <a:r>
              <a:rPr lang="zh-CN" altLang="en-US" dirty="0">
                <a:latin typeface="方正小标宋简体" panose="02010601030101010101" pitchFamily="2" charset="-122"/>
                <a:ea typeface="方正小标宋简体" panose="02010601030101010101" pitchFamily="2" charset="-122"/>
              </a:rPr>
              <a:t>、</a:t>
            </a:r>
            <a:r>
              <a:rPr lang="en-US" altLang="zh-CN" dirty="0">
                <a:latin typeface="方正小标宋简体" panose="02010601030101010101" pitchFamily="2" charset="-122"/>
                <a:ea typeface="方正小标宋简体" panose="02010601030101010101" pitchFamily="2" charset="-122"/>
              </a:rPr>
              <a:t>SVM</a:t>
            </a:r>
            <a:r>
              <a:rPr lang="zh-CN" altLang="en-US" dirty="0">
                <a:latin typeface="方正小标宋简体" panose="02010601030101010101" pitchFamily="2" charset="-122"/>
                <a:ea typeface="方正小标宋简体" panose="02010601030101010101" pitchFamily="2" charset="-122"/>
              </a:rPr>
              <a:t>、</a:t>
            </a:r>
            <a:r>
              <a:rPr lang="en-US" altLang="zh-CN" dirty="0">
                <a:latin typeface="方正小标宋简体" panose="02010601030101010101" pitchFamily="2" charset="-122"/>
                <a:ea typeface="方正小标宋简体" panose="02010601030101010101" pitchFamily="2" charset="-122"/>
              </a:rPr>
              <a:t>RANSAC</a:t>
            </a:r>
            <a:r>
              <a:rPr lang="zh-CN" altLang="en-US" dirty="0">
                <a:latin typeface="方正小标宋简体" panose="02010601030101010101" pitchFamily="2" charset="-122"/>
                <a:ea typeface="方正小标宋简体" panose="02010601030101010101" pitchFamily="2" charset="-122"/>
              </a:rPr>
              <a:t>、</a:t>
            </a:r>
            <a:r>
              <a:rPr lang="en-US" altLang="zh-CN" dirty="0">
                <a:latin typeface="方正小标宋简体" panose="02010601030101010101" pitchFamily="2" charset="-122"/>
                <a:ea typeface="方正小标宋简体" panose="02010601030101010101" pitchFamily="2" charset="-122"/>
              </a:rPr>
              <a:t>Kalman </a:t>
            </a:r>
            <a:r>
              <a:rPr lang="zh-CN" altLang="en-US" dirty="0">
                <a:latin typeface="方正小标宋简体" panose="02010601030101010101" pitchFamily="2" charset="-122"/>
                <a:ea typeface="方正小标宋简体" panose="02010601030101010101" pitchFamily="2" charset="-122"/>
              </a:rPr>
              <a:t>等数学工具做检测和跟踪。</a:t>
            </a:r>
          </a:p>
        </p:txBody>
      </p:sp>
    </p:spTree>
    <p:extLst>
      <p:ext uri="{BB962C8B-B14F-4D97-AF65-F5344CB8AC3E}">
        <p14:creationId xmlns:p14="http://schemas.microsoft.com/office/powerpoint/2010/main" val="1303032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A1FC-8156-00F1-F826-ACAF148B61DD}"/>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57F88D01-B822-F5F6-C8B9-CA0F475CDF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133033C7-0A84-5F22-F1B5-187417B94A5A}"/>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5268D485-B150-C8DF-17C3-C1C3130E5F80}"/>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A4A57AB4-BC40-10CB-516F-93465362C604}"/>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77BAB74-38E9-8499-D455-42D7CE20AC1A}"/>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0D173826-7C45-86FD-373F-01C97F4040AA}"/>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253716EF-A810-1D67-7B94-622877A235B2}"/>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782591F9-4311-26DF-5BC6-820AA2E9BDFD}"/>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目标检测</a:t>
            </a:r>
          </a:p>
        </p:txBody>
      </p:sp>
      <p:sp>
        <p:nvSpPr>
          <p:cNvPr id="29" name="椭圆 28">
            <a:extLst>
              <a:ext uri="{FF2B5EF4-FFF2-40B4-BE49-F238E27FC236}">
                <a16:creationId xmlns:a16="http://schemas.microsoft.com/office/drawing/2014/main" id="{9D5FBC50-AE1F-DC55-9868-CDAF11061F03}"/>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65B9D228-9D25-3AE9-92D4-C185E87C0FCE}"/>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16</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26F2D989-B3D5-8320-18ED-4BD56A1158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40E63A46-8D5A-C63A-59CA-6DC864CFE041}"/>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3159F676-3AA0-5401-DDA0-7E4406D28DAF}"/>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483FE6F9-C4B0-5516-DA3A-C1E3B17E0701}"/>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370540B7-84F7-A7A3-90DE-6E948D9DA8D1}"/>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0A87F776-3B07-CB25-E2B2-4E6705BBB5A7}"/>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76EE0A80-F6A2-913B-FBF8-10BEF32317B3}"/>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61EB7F2E-6E13-982E-232A-6DC9787915E2}"/>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15D059B0-F52D-803B-52F2-D773CB99790B}"/>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CD0132D9-BD9E-60B2-91F2-18766945F9FB}"/>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3B0A2788-E78D-3C52-0132-831A7B559545}"/>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FA0DB64C-B2F4-C7FC-5312-DAAA0959235C}"/>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E248F0EC-657B-C048-A63F-D95CA3CBCB99}"/>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C7EE25D1-F4F3-246D-71C5-26AFAC50D07F}"/>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5" name="文本框 14">
            <a:extLst>
              <a:ext uri="{FF2B5EF4-FFF2-40B4-BE49-F238E27FC236}">
                <a16:creationId xmlns:a16="http://schemas.microsoft.com/office/drawing/2014/main" id="{2561EA3B-8004-B12D-CCF0-2B54FE40E8B7}"/>
              </a:ext>
            </a:extLst>
          </p:cNvPr>
          <p:cNvSpPr txBox="1"/>
          <p:nvPr/>
        </p:nvSpPr>
        <p:spPr>
          <a:xfrm>
            <a:off x="2728384" y="2067247"/>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阶段二：深度学习 </a:t>
            </a:r>
            <a:r>
              <a:rPr lang="en-US" altLang="zh-CN" sz="1800" b="1" i="0" dirty="0">
                <a:effectLst/>
                <a:latin typeface="方正小标宋简体" panose="02010601030101010101" pitchFamily="2" charset="-122"/>
                <a:ea typeface="方正小标宋简体" panose="02010601030101010101" pitchFamily="2" charset="-122"/>
              </a:rPr>
              <a:t>2D </a:t>
            </a:r>
            <a:r>
              <a:rPr lang="zh-CN" altLang="en-US" sz="1800" b="1" i="0" dirty="0">
                <a:effectLst/>
                <a:latin typeface="方正小标宋简体" panose="02010601030101010101" pitchFamily="2" charset="-122"/>
                <a:ea typeface="方正小标宋简体" panose="02010601030101010101" pitchFamily="2" charset="-122"/>
              </a:rPr>
              <a:t>检测</a:t>
            </a:r>
            <a:endParaRPr lang="zh-CN" altLang="en-US" sz="1800" dirty="0">
              <a:latin typeface="方正小标宋简体" panose="02010601030101010101" pitchFamily="2" charset="-122"/>
              <a:ea typeface="方正小标宋简体" panose="02010601030101010101" pitchFamily="2" charset="-122"/>
            </a:endParaRPr>
          </a:p>
        </p:txBody>
      </p:sp>
      <p:sp>
        <p:nvSpPr>
          <p:cNvPr id="39" name="文本框 38">
            <a:extLst>
              <a:ext uri="{FF2B5EF4-FFF2-40B4-BE49-F238E27FC236}">
                <a16:creationId xmlns:a16="http://schemas.microsoft.com/office/drawing/2014/main" id="{9DA843E5-F431-87EC-0BF6-E28F6DA2BFFD}"/>
              </a:ext>
            </a:extLst>
          </p:cNvPr>
          <p:cNvSpPr txBox="1"/>
          <p:nvPr/>
        </p:nvSpPr>
        <p:spPr>
          <a:xfrm>
            <a:off x="2101516" y="2522863"/>
            <a:ext cx="5579233" cy="1200329"/>
          </a:xfrm>
          <a:prstGeom prst="rect">
            <a:avLst/>
          </a:prstGeom>
          <a:noFill/>
        </p:spPr>
        <p:txBody>
          <a:bodyPr wrap="square">
            <a:spAutoFit/>
          </a:bodyPr>
          <a:lstStyle/>
          <a:p>
            <a:r>
              <a:rPr lang="zh-CN" altLang="en-US" dirty="0">
                <a:latin typeface="方正小标宋简体" panose="02010601030101010101" pitchFamily="2" charset="-122"/>
                <a:ea typeface="方正小标宋简体" panose="02010601030101010101" pitchFamily="2" charset="-122"/>
              </a:rPr>
              <a:t>标志性事件：</a:t>
            </a:r>
            <a:r>
              <a:rPr lang="zh-CN" altLang="zh-CN" dirty="0">
                <a:latin typeface="方正小标宋简体" panose="02010601030101010101" pitchFamily="2" charset="-122"/>
                <a:ea typeface="方正小标宋简体" panose="02010601030101010101" pitchFamily="2" charset="-122"/>
              </a:rPr>
              <a:t>2012 年 AlexNet 在 ImageNet 上夺冠，引爆了深度学习在计算机视觉中的全面应用。自动驾驶中的车道线、可行驶区域、交通标志检测迅速从手工特征转向 CNN。</a:t>
            </a:r>
            <a:endParaRPr lang="zh-CN" altLang="en-US" dirty="0">
              <a:latin typeface="方正小标宋简体" panose="02010601030101010101" pitchFamily="2" charset="-122"/>
              <a:ea typeface="方正小标宋简体" panose="02010601030101010101" pitchFamily="2" charset="-122"/>
            </a:endParaRPr>
          </a:p>
        </p:txBody>
      </p:sp>
      <p:pic>
        <p:nvPicPr>
          <p:cNvPr id="4" name="图片 3">
            <a:extLst>
              <a:ext uri="{FF2B5EF4-FFF2-40B4-BE49-F238E27FC236}">
                <a16:creationId xmlns:a16="http://schemas.microsoft.com/office/drawing/2014/main" id="{488E4B8E-D7F1-92A5-BF90-96C5D1E56B54}"/>
              </a:ext>
            </a:extLst>
          </p:cNvPr>
          <p:cNvPicPr>
            <a:picLocks noChangeAspect="1"/>
          </p:cNvPicPr>
          <p:nvPr/>
        </p:nvPicPr>
        <p:blipFill>
          <a:blip r:embed="rId4"/>
          <a:stretch>
            <a:fillRect/>
          </a:stretch>
        </p:blipFill>
        <p:spPr>
          <a:xfrm>
            <a:off x="7918853" y="2363301"/>
            <a:ext cx="3584466" cy="1535736"/>
          </a:xfrm>
          <a:prstGeom prst="rect">
            <a:avLst/>
          </a:prstGeom>
        </p:spPr>
      </p:pic>
      <p:grpSp>
        <p:nvGrpSpPr>
          <p:cNvPr id="6" name="组合 5">
            <a:extLst>
              <a:ext uri="{FF2B5EF4-FFF2-40B4-BE49-F238E27FC236}">
                <a16:creationId xmlns:a16="http://schemas.microsoft.com/office/drawing/2014/main" id="{4AA66D39-714D-73B6-BB2C-C18ADADB8BB4}"/>
              </a:ext>
            </a:extLst>
          </p:cNvPr>
          <p:cNvGrpSpPr/>
          <p:nvPr/>
        </p:nvGrpSpPr>
        <p:grpSpPr>
          <a:xfrm>
            <a:off x="1946844" y="4064203"/>
            <a:ext cx="7858796" cy="1096375"/>
            <a:chOff x="1923209" y="4365293"/>
            <a:chExt cx="2656499" cy="2382699"/>
          </a:xfrm>
          <a:noFill/>
        </p:grpSpPr>
        <p:sp>
          <p:nvSpPr>
            <p:cNvPr id="12" name="矩形 11">
              <a:extLst>
                <a:ext uri="{FF2B5EF4-FFF2-40B4-BE49-F238E27FC236}">
                  <a16:creationId xmlns:a16="http://schemas.microsoft.com/office/drawing/2014/main" id="{379A0153-CEAC-19DF-59CA-CACD28840363}"/>
                </a:ext>
              </a:extLst>
            </p:cNvPr>
            <p:cNvSpPr/>
            <p:nvPr/>
          </p:nvSpPr>
          <p:spPr>
            <a:xfrm>
              <a:off x="1923209" y="4365293"/>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28BE01A1-B44D-DA45-6F15-FAD2B1E653F5}"/>
                </a:ext>
              </a:extLst>
            </p:cNvPr>
            <p:cNvSpPr txBox="1"/>
            <p:nvPr/>
          </p:nvSpPr>
          <p:spPr>
            <a:xfrm>
              <a:off x="2834938" y="4683114"/>
              <a:ext cx="1744770" cy="369331"/>
            </a:xfrm>
            <a:prstGeom prst="rect">
              <a:avLst/>
            </a:prstGeom>
            <a:grp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传统</a:t>
              </a:r>
              <a:r>
                <a:rPr lang="en-US" altLang="zh-CN" b="1" dirty="0">
                  <a:latin typeface="方正小标宋简体" panose="02010601030101010101" pitchFamily="2" charset="-122"/>
                  <a:ea typeface="方正小标宋简体" panose="02010601030101010101" pitchFamily="2" charset="-122"/>
                </a:rPr>
                <a:t>CV</a:t>
              </a:r>
              <a:endParaRPr lang="zh-CN" altLang="en-US" dirty="0">
                <a:latin typeface="方正小标宋简体" panose="02010601030101010101" pitchFamily="2" charset="-122"/>
                <a:ea typeface="方正小标宋简体" panose="02010601030101010101" pitchFamily="2" charset="-122"/>
              </a:endParaRPr>
            </a:p>
          </p:txBody>
        </p:sp>
      </p:grpSp>
      <p:sp>
        <p:nvSpPr>
          <p:cNvPr id="28" name="文本框 27">
            <a:extLst>
              <a:ext uri="{FF2B5EF4-FFF2-40B4-BE49-F238E27FC236}">
                <a16:creationId xmlns:a16="http://schemas.microsoft.com/office/drawing/2014/main" id="{6376A080-3219-C62A-B31D-634A495CB51D}"/>
              </a:ext>
            </a:extLst>
          </p:cNvPr>
          <p:cNvSpPr txBox="1"/>
          <p:nvPr/>
        </p:nvSpPr>
        <p:spPr>
          <a:xfrm>
            <a:off x="2143982" y="4666383"/>
            <a:ext cx="6365735" cy="369332"/>
          </a:xfrm>
          <a:prstGeom prst="rect">
            <a:avLst/>
          </a:prstGeom>
          <a:noFill/>
        </p:spPr>
        <p:txBody>
          <a:bodyPr wrap="square">
            <a:spAutoFit/>
          </a:bodyPr>
          <a:lstStyle/>
          <a:p>
            <a:r>
              <a:rPr lang="zh-CN" altLang="zh-CN" sz="1800" b="0" i="0" dirty="0">
                <a:solidFill>
                  <a:schemeClr val="tx1"/>
                </a:solidFill>
                <a:effectLst/>
                <a:latin typeface="+mn-lt"/>
              </a:rPr>
              <a:t>人设计特征（HOG、颜色、边缘）→ 分类器（SVM）→ 输出</a:t>
            </a:r>
            <a:endParaRPr lang="zh-CN" altLang="en-US" dirty="0"/>
          </a:p>
        </p:txBody>
      </p:sp>
      <p:grpSp>
        <p:nvGrpSpPr>
          <p:cNvPr id="34" name="组合 33">
            <a:extLst>
              <a:ext uri="{FF2B5EF4-FFF2-40B4-BE49-F238E27FC236}">
                <a16:creationId xmlns:a16="http://schemas.microsoft.com/office/drawing/2014/main" id="{DCE3623A-CFCD-69E2-3E6E-4BAB142BB04B}"/>
              </a:ext>
            </a:extLst>
          </p:cNvPr>
          <p:cNvGrpSpPr/>
          <p:nvPr/>
        </p:nvGrpSpPr>
        <p:grpSpPr>
          <a:xfrm>
            <a:off x="1946844" y="5594844"/>
            <a:ext cx="7858796" cy="1096375"/>
            <a:chOff x="1923209" y="4365293"/>
            <a:chExt cx="2656499" cy="2382699"/>
          </a:xfrm>
          <a:noFill/>
        </p:grpSpPr>
        <p:sp>
          <p:nvSpPr>
            <p:cNvPr id="37" name="矩形 36">
              <a:extLst>
                <a:ext uri="{FF2B5EF4-FFF2-40B4-BE49-F238E27FC236}">
                  <a16:creationId xmlns:a16="http://schemas.microsoft.com/office/drawing/2014/main" id="{794D8B51-DA30-4D78-A6E6-B2DC308BFCD2}"/>
                </a:ext>
              </a:extLst>
            </p:cNvPr>
            <p:cNvSpPr/>
            <p:nvPr/>
          </p:nvSpPr>
          <p:spPr>
            <a:xfrm>
              <a:off x="1923209" y="4365293"/>
              <a:ext cx="2220620" cy="238269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51F648BF-8FD3-C1A8-082F-82BDC5FAD579}"/>
                </a:ext>
              </a:extLst>
            </p:cNvPr>
            <p:cNvSpPr txBox="1"/>
            <p:nvPr/>
          </p:nvSpPr>
          <p:spPr>
            <a:xfrm>
              <a:off x="2834938" y="4683114"/>
              <a:ext cx="1744770" cy="802651"/>
            </a:xfrm>
            <a:prstGeom prst="rect">
              <a:avLst/>
            </a:prstGeom>
            <a:grp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深度学习</a:t>
              </a:r>
              <a:endParaRPr lang="zh-CN" altLang="en-US" dirty="0">
                <a:latin typeface="方正小标宋简体" panose="02010601030101010101" pitchFamily="2" charset="-122"/>
                <a:ea typeface="方正小标宋简体" panose="02010601030101010101" pitchFamily="2" charset="-122"/>
              </a:endParaRPr>
            </a:p>
          </p:txBody>
        </p:sp>
      </p:grpSp>
      <p:sp>
        <p:nvSpPr>
          <p:cNvPr id="41" name="文本框 40">
            <a:extLst>
              <a:ext uri="{FF2B5EF4-FFF2-40B4-BE49-F238E27FC236}">
                <a16:creationId xmlns:a16="http://schemas.microsoft.com/office/drawing/2014/main" id="{8E1D3B7D-48B5-FD00-CC52-71E8D9B18640}"/>
              </a:ext>
            </a:extLst>
          </p:cNvPr>
          <p:cNvSpPr txBox="1"/>
          <p:nvPr/>
        </p:nvSpPr>
        <p:spPr>
          <a:xfrm>
            <a:off x="2895599" y="6131755"/>
            <a:ext cx="10400370" cy="369332"/>
          </a:xfrm>
          <a:prstGeom prst="rect">
            <a:avLst/>
          </a:prstGeom>
          <a:noFill/>
        </p:spPr>
        <p:txBody>
          <a:bodyPr wrap="square">
            <a:spAutoFit/>
          </a:bodyPr>
          <a:lstStyle/>
          <a:p>
            <a:r>
              <a:rPr lang="zh-CN" altLang="en-US" dirty="0"/>
              <a:t>原始像素 → </a:t>
            </a:r>
            <a:r>
              <a:rPr lang="en-US" altLang="zh-CN" dirty="0"/>
              <a:t>CNN </a:t>
            </a:r>
            <a:r>
              <a:rPr lang="zh-CN" altLang="en-US" dirty="0"/>
              <a:t>自动提取特征 → 端到端输出</a:t>
            </a:r>
          </a:p>
        </p:txBody>
      </p:sp>
      <p:sp>
        <p:nvSpPr>
          <p:cNvPr id="46" name="箭头: 下 45">
            <a:extLst>
              <a:ext uri="{FF2B5EF4-FFF2-40B4-BE49-F238E27FC236}">
                <a16:creationId xmlns:a16="http://schemas.microsoft.com/office/drawing/2014/main" id="{128B7E35-CD00-C12F-0AA4-3B8DB1BF105C}"/>
              </a:ext>
            </a:extLst>
          </p:cNvPr>
          <p:cNvSpPr/>
          <p:nvPr/>
        </p:nvSpPr>
        <p:spPr>
          <a:xfrm>
            <a:off x="5122977" y="5160577"/>
            <a:ext cx="177569" cy="413955"/>
          </a:xfrm>
          <a:prstGeom prst="downArrow">
            <a:avLst/>
          </a:prstGeom>
          <a:solidFill>
            <a:srgbClr val="2A69A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31CE98F0-AC67-91F4-9345-077DB58EA12E}"/>
              </a:ext>
            </a:extLst>
          </p:cNvPr>
          <p:cNvSpPr txBox="1"/>
          <p:nvPr/>
        </p:nvSpPr>
        <p:spPr>
          <a:xfrm>
            <a:off x="8799893" y="4893803"/>
            <a:ext cx="3076238" cy="646331"/>
          </a:xfrm>
          <a:prstGeom prst="rect">
            <a:avLst/>
          </a:prstGeom>
          <a:noFill/>
        </p:spPr>
        <p:txBody>
          <a:bodyPr wrap="square">
            <a:spAutoFit/>
          </a:bodyPr>
          <a:lstStyle/>
          <a:p>
            <a:r>
              <a:rPr lang="zh-CN" altLang="en-US" b="1" dirty="0">
                <a:latin typeface="宋体" panose="02010600030101010101" pitchFamily="2" charset="-122"/>
                <a:ea typeface="宋体" panose="02010600030101010101" pitchFamily="2" charset="-122"/>
              </a:rPr>
              <a:t>从“手工规则</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浅层分类”走向“端到端自动特征学习”。</a:t>
            </a:r>
          </a:p>
        </p:txBody>
      </p:sp>
    </p:spTree>
    <p:extLst>
      <p:ext uri="{BB962C8B-B14F-4D97-AF65-F5344CB8AC3E}">
        <p14:creationId xmlns:p14="http://schemas.microsoft.com/office/powerpoint/2010/main" val="1091773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25D12-A104-4CE8-F2EC-E9E224B9EB5D}"/>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14CEDDBA-1D6F-130F-86BE-AE491FDA9A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E126F23F-4CC3-05E7-0AAD-06EEBBB2D9C6}"/>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9DC05FDB-FCED-0721-EA32-51951A2BC9B2}"/>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F132DF09-3550-F7F4-CF69-CFEDAE94A678}"/>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FC6174E1-D8FB-1841-DD1E-09B01588FB22}"/>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5B0FBBBB-B859-36FC-9F8D-6F9E0541FAC2}"/>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9F255CF7-6447-1BCD-FC65-E1047EE68366}"/>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47342D43-A508-0A9C-D4FB-F4E9824636C9}"/>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目标检测</a:t>
            </a:r>
          </a:p>
        </p:txBody>
      </p:sp>
      <p:sp>
        <p:nvSpPr>
          <p:cNvPr id="29" name="椭圆 28">
            <a:extLst>
              <a:ext uri="{FF2B5EF4-FFF2-40B4-BE49-F238E27FC236}">
                <a16:creationId xmlns:a16="http://schemas.microsoft.com/office/drawing/2014/main" id="{FBF986B6-A9F8-8341-13E3-9EB4912F6016}"/>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1A0559E6-DBDE-B6F3-351E-0FDE2A9622C6}"/>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17</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59FBED23-9647-C8CC-A911-CEE5279779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B46F58E4-1F1C-401B-56D2-1A296BC37223}"/>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3908543B-8009-FF17-FF47-6562213DDBFA}"/>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AB110B04-3FC4-061F-FDAB-4E540DCB7747}"/>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41B3DC0E-6584-B21D-A28C-B3079BBF2D15}"/>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1ABC304C-68C7-BF6A-294D-9A11F97A0707}"/>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15239049-0C94-3300-6AAF-DA2FBA2B377D}"/>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5EBF10C9-9FDE-8F4F-1CE3-338BBB12B376}"/>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631B7A35-905F-27A6-5D32-AAE5B10BA80A}"/>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61CC3119-43E6-294F-541D-A58040D2525F}"/>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C123E39F-9C5D-9B00-D806-19D16FCCE214}"/>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6D660CCD-4243-B8EC-A23A-51C682BC4A7C}"/>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68240364-318E-5E2E-B1BF-A9F63F074D37}"/>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55BEF115-D257-DA69-75AB-B04F1531B65E}"/>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5" name="文本框 14">
            <a:extLst>
              <a:ext uri="{FF2B5EF4-FFF2-40B4-BE49-F238E27FC236}">
                <a16:creationId xmlns:a16="http://schemas.microsoft.com/office/drawing/2014/main" id="{DA486BDD-679D-7C27-4838-218C99569BB2}"/>
              </a:ext>
            </a:extLst>
          </p:cNvPr>
          <p:cNvSpPr txBox="1"/>
          <p:nvPr/>
        </p:nvSpPr>
        <p:spPr>
          <a:xfrm>
            <a:off x="2728384" y="2067247"/>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阶段三：深度学习 </a:t>
            </a:r>
            <a:r>
              <a:rPr lang="en-US" altLang="zh-CN" sz="1800" b="1" i="0" dirty="0">
                <a:effectLst/>
                <a:latin typeface="方正小标宋简体" panose="02010601030101010101" pitchFamily="2" charset="-122"/>
                <a:ea typeface="方正小标宋简体" panose="02010601030101010101" pitchFamily="2" charset="-122"/>
              </a:rPr>
              <a:t>3D </a:t>
            </a:r>
            <a:r>
              <a:rPr lang="zh-CN" altLang="en-US" sz="1800" b="1" i="0" dirty="0">
                <a:effectLst/>
                <a:latin typeface="方正小标宋简体" panose="02010601030101010101" pitchFamily="2" charset="-122"/>
                <a:ea typeface="方正小标宋简体" panose="02010601030101010101" pitchFamily="2" charset="-122"/>
              </a:rPr>
              <a:t>检测</a:t>
            </a:r>
            <a:endParaRPr lang="zh-CN" altLang="en-US" sz="1800" dirty="0">
              <a:latin typeface="方正小标宋简体" panose="02010601030101010101" pitchFamily="2" charset="-122"/>
              <a:ea typeface="方正小标宋简体" panose="02010601030101010101" pitchFamily="2" charset="-122"/>
            </a:endParaRPr>
          </a:p>
        </p:txBody>
      </p:sp>
      <p:sp>
        <p:nvSpPr>
          <p:cNvPr id="5" name="文本框 4">
            <a:extLst>
              <a:ext uri="{FF2B5EF4-FFF2-40B4-BE49-F238E27FC236}">
                <a16:creationId xmlns:a16="http://schemas.microsoft.com/office/drawing/2014/main" id="{00B5F85E-4FE3-6727-EF25-1525E4D0B25E}"/>
              </a:ext>
            </a:extLst>
          </p:cNvPr>
          <p:cNvSpPr txBox="1"/>
          <p:nvPr/>
        </p:nvSpPr>
        <p:spPr>
          <a:xfrm>
            <a:off x="2728384" y="2612274"/>
            <a:ext cx="10400370" cy="276999"/>
          </a:xfrm>
          <a:prstGeom prst="rect">
            <a:avLst/>
          </a:prstGeom>
          <a:noFill/>
        </p:spPr>
        <p:txBody>
          <a:bodyPr wrap="square">
            <a:spAutoFit/>
          </a:bodyPr>
          <a:lstStyle/>
          <a:p>
            <a:r>
              <a:rPr lang="zh-CN" altLang="zh-CN" sz="1800" b="1" i="0" dirty="0">
                <a:solidFill>
                  <a:schemeClr val="tx1"/>
                </a:solidFill>
                <a:effectLst/>
                <a:latin typeface="+mn-lt"/>
              </a:rPr>
              <a:t>核心问题</a:t>
            </a:r>
            <a:r>
              <a:rPr lang="zh-CN" altLang="zh-CN" sz="1800" b="0" i="0" dirty="0">
                <a:solidFill>
                  <a:schemeClr val="tx1"/>
                </a:solidFill>
                <a:effectLst/>
                <a:latin typeface="+mn-lt"/>
              </a:rPr>
              <a:t>：从单张或双目图像中恢复目标 3D 信息（位置、尺寸、朝向）</a:t>
            </a:r>
            <a:endParaRPr lang="zh-CN" altLang="en-US" dirty="0"/>
          </a:p>
        </p:txBody>
      </p:sp>
      <p:sp>
        <p:nvSpPr>
          <p:cNvPr id="42" name="文本框 41">
            <a:extLst>
              <a:ext uri="{FF2B5EF4-FFF2-40B4-BE49-F238E27FC236}">
                <a16:creationId xmlns:a16="http://schemas.microsoft.com/office/drawing/2014/main" id="{A2119DEB-7371-A690-4DA2-A6B700A6D31B}"/>
              </a:ext>
            </a:extLst>
          </p:cNvPr>
          <p:cNvSpPr txBox="1"/>
          <p:nvPr/>
        </p:nvSpPr>
        <p:spPr>
          <a:xfrm>
            <a:off x="2728384" y="3219192"/>
            <a:ext cx="8035191" cy="2031325"/>
          </a:xfrm>
          <a:prstGeom prst="rect">
            <a:avLst/>
          </a:prstGeom>
          <a:noFill/>
        </p:spPr>
        <p:txBody>
          <a:bodyPr wrap="square">
            <a:spAutoFit/>
          </a:bodyPr>
          <a:lstStyle/>
          <a:p>
            <a:r>
              <a:rPr lang="zh-CN" altLang="zh-CN" sz="1800" b="0" i="0" dirty="0">
                <a:solidFill>
                  <a:schemeClr val="tx1"/>
                </a:solidFill>
                <a:effectLst/>
                <a:latin typeface="+mn-lt"/>
              </a:rPr>
              <a:t>视觉3D目标检测是目标检测从2D平面走向3D空间的第一步：2D框只能告诉规划“有目标”，却无法提供三维位置、尺寸和朝向，因此单目和双目方法被引入。单目直接回归3D框</a:t>
            </a:r>
            <a:r>
              <a:rPr lang="zh-CN" altLang="en-US" sz="1800" b="0" i="0" dirty="0">
                <a:solidFill>
                  <a:schemeClr val="tx1"/>
                </a:solidFill>
                <a:effectLst/>
                <a:latin typeface="+mn-lt"/>
              </a:rPr>
              <a:t>，但是</a:t>
            </a:r>
            <a:r>
              <a:rPr lang="zh-CN" altLang="zh-CN" sz="1800" b="0" i="0" dirty="0">
                <a:solidFill>
                  <a:schemeClr val="tx1"/>
                </a:solidFill>
                <a:effectLst/>
                <a:latin typeface="+mn-lt"/>
              </a:rPr>
              <a:t>单张图像无法唯一确定3D属性，于是GS3D、Monopair等引入几何约束，CaDDN、DDMP3D引入深度估计辅助，但</a:t>
            </a:r>
            <a:r>
              <a:rPr lang="zh-CN" altLang="en-US" sz="1800" b="0" i="0" dirty="0">
                <a:solidFill>
                  <a:schemeClr val="tx1"/>
                </a:solidFill>
                <a:effectLst/>
                <a:latin typeface="+mn-lt"/>
              </a:rPr>
              <a:t>精度较低</a:t>
            </a:r>
            <a:r>
              <a:rPr lang="zh-CN" altLang="zh-CN" sz="1800" b="0" i="0" dirty="0">
                <a:solidFill>
                  <a:schemeClr val="tx1"/>
                </a:solidFill>
                <a:effectLst/>
                <a:latin typeface="+mn-lt"/>
              </a:rPr>
              <a:t>；双目则利用视差恢复绝对深度，</a:t>
            </a:r>
            <a:r>
              <a:rPr lang="zh-CN" altLang="en-US" sz="1800" b="0" i="0" dirty="0">
                <a:solidFill>
                  <a:schemeClr val="tx1"/>
                </a:solidFill>
                <a:effectLst/>
                <a:latin typeface="+mn-lt"/>
              </a:rPr>
              <a:t>精度也</a:t>
            </a:r>
            <a:r>
              <a:rPr lang="zh-CN" altLang="en-US" dirty="0"/>
              <a:t>并不理想</a:t>
            </a:r>
            <a:r>
              <a:rPr lang="zh-CN" altLang="zh-CN" sz="1800" b="0" i="0" dirty="0">
                <a:solidFill>
                  <a:schemeClr val="tx1"/>
                </a:solidFill>
                <a:effectLst/>
                <a:latin typeface="+mn-lt"/>
              </a:rPr>
              <a:t>。视觉3D检测证明了“从图像恢复3D可行但不够准”，其成本低、语义丰富的优势与光照敏感、远距离弱的短板并存，最终促使目标检测走向LiDAR 3D和多模态融合。</a:t>
            </a:r>
            <a:endParaRPr lang="zh-CN" altLang="en-US" dirty="0"/>
          </a:p>
        </p:txBody>
      </p:sp>
    </p:spTree>
    <p:extLst>
      <p:ext uri="{BB962C8B-B14F-4D97-AF65-F5344CB8AC3E}">
        <p14:creationId xmlns:p14="http://schemas.microsoft.com/office/powerpoint/2010/main" val="4280528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D3F80-1D52-3ED2-6D3D-EBB85C85B433}"/>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61F0DFC5-0F51-CD2B-BBE9-2DF85453F0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CB078C31-E6FA-CDCA-9EE7-99199C168246}"/>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57C4FD30-C469-D080-D13D-59033792A6F6}"/>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FEEFDCAB-2D85-4C01-73B9-E6356097C528}"/>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BFF2002-4D07-00FC-DC65-D44925B93E09}"/>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5C14DF89-58D8-F8D3-D3C1-B10E62AB2389}"/>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C0F11ACD-DF69-8610-A89D-3A9E134371FF}"/>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69E0AA86-5DB8-0E0A-34FC-D7C2DA1A185E}"/>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目标检测</a:t>
            </a:r>
          </a:p>
        </p:txBody>
      </p:sp>
      <p:sp>
        <p:nvSpPr>
          <p:cNvPr id="29" name="椭圆 28">
            <a:extLst>
              <a:ext uri="{FF2B5EF4-FFF2-40B4-BE49-F238E27FC236}">
                <a16:creationId xmlns:a16="http://schemas.microsoft.com/office/drawing/2014/main" id="{FDD9F279-F573-5C94-F851-18E627C55668}"/>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6856DD25-70F9-A312-9451-DA9685848882}"/>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18</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8CE3FBED-0572-CD8C-9A7E-555EAD5D72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7E6C3EEA-9216-E166-85EC-47AC67274184}"/>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B2625369-0C50-865D-EF16-86A8A63DC8D1}"/>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D85FB5D0-5233-640E-0583-880659D29D7B}"/>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5F30EDDB-5A23-0A16-42F4-66FC33E4730D}"/>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C4E2C8EE-84EF-922E-8C14-0586CABC7C79}"/>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34972D0B-80FC-C7D1-4D5E-8EDC11D6D303}"/>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27C27694-3B5E-2437-5332-1B58F325D997}"/>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A085D0E0-76C7-ECF4-4364-BA0C0996E980}"/>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00A0B0A7-C1FC-E604-5EC1-8C5E1BE2BE3C}"/>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AEF27214-D288-B1C9-D31D-DEBC3D6DC04F}"/>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DB2426CB-EC27-B447-ACA4-E701FD05B148}"/>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2731295F-C4D8-EC73-4B1E-29BB8CE55DBD}"/>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9F0A9225-9F06-93BB-EE04-9F33DBD807EA}"/>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5" name="文本框 14">
            <a:extLst>
              <a:ext uri="{FF2B5EF4-FFF2-40B4-BE49-F238E27FC236}">
                <a16:creationId xmlns:a16="http://schemas.microsoft.com/office/drawing/2014/main" id="{91CC9D3E-E028-0AC3-ACB0-92C8C1352323}"/>
              </a:ext>
            </a:extLst>
          </p:cNvPr>
          <p:cNvSpPr txBox="1"/>
          <p:nvPr/>
        </p:nvSpPr>
        <p:spPr>
          <a:xfrm>
            <a:off x="2728384" y="2067247"/>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阶段四：</a:t>
            </a:r>
            <a:r>
              <a:rPr lang="en-US" altLang="zh-CN" sz="1800" b="1" i="0" dirty="0">
                <a:effectLst/>
                <a:latin typeface="方正小标宋简体" panose="02010601030101010101" pitchFamily="2" charset="-122"/>
                <a:ea typeface="方正小标宋简体" panose="02010601030101010101" pitchFamily="2" charset="-122"/>
              </a:rPr>
              <a:t>LiDAR 3D </a:t>
            </a:r>
            <a:r>
              <a:rPr lang="zh-CN" altLang="en-US" sz="1800" b="1" i="0" dirty="0">
                <a:effectLst/>
                <a:latin typeface="方正小标宋简体" panose="02010601030101010101" pitchFamily="2" charset="-122"/>
                <a:ea typeface="方正小标宋简体" panose="02010601030101010101" pitchFamily="2" charset="-122"/>
              </a:rPr>
              <a:t>目标检测</a:t>
            </a:r>
            <a:endParaRPr lang="zh-CN" altLang="en-US" sz="1800" dirty="0">
              <a:latin typeface="方正小标宋简体" panose="02010601030101010101" pitchFamily="2" charset="-122"/>
              <a:ea typeface="方正小标宋简体" panose="02010601030101010101" pitchFamily="2" charset="-122"/>
            </a:endParaRPr>
          </a:p>
        </p:txBody>
      </p:sp>
      <p:sp>
        <p:nvSpPr>
          <p:cNvPr id="5" name="文本框 4">
            <a:extLst>
              <a:ext uri="{FF2B5EF4-FFF2-40B4-BE49-F238E27FC236}">
                <a16:creationId xmlns:a16="http://schemas.microsoft.com/office/drawing/2014/main" id="{44C9780F-099F-D643-35E1-96892A169BD5}"/>
              </a:ext>
            </a:extLst>
          </p:cNvPr>
          <p:cNvSpPr txBox="1"/>
          <p:nvPr/>
        </p:nvSpPr>
        <p:spPr>
          <a:xfrm>
            <a:off x="2453268" y="2572861"/>
            <a:ext cx="8489846" cy="646331"/>
          </a:xfrm>
          <a:prstGeom prst="rect">
            <a:avLst/>
          </a:prstGeom>
          <a:noFill/>
        </p:spPr>
        <p:txBody>
          <a:bodyPr wrap="square">
            <a:spAutoFit/>
          </a:bodyPr>
          <a:lstStyle/>
          <a:p>
            <a:r>
              <a:rPr lang="zh-CN" altLang="zh-CN" b="1" dirty="0">
                <a:latin typeface="宋体" panose="02010600030101010101" pitchFamily="2" charset="-122"/>
                <a:ea typeface="宋体" panose="02010600030101010101" pitchFamily="2" charset="-122"/>
              </a:rPr>
              <a:t>视觉 3D 检测精度不足，单目存在</a:t>
            </a:r>
            <a:r>
              <a:rPr lang="zh-CN" altLang="en-US" b="1" dirty="0">
                <a:latin typeface="宋体" panose="02010600030101010101" pitchFamily="2" charset="-122"/>
                <a:ea typeface="宋体" panose="02010600030101010101" pitchFamily="2" charset="-122"/>
              </a:rPr>
              <a:t>识别</a:t>
            </a:r>
            <a:r>
              <a:rPr lang="zh-CN" altLang="zh-CN" b="1" dirty="0">
                <a:latin typeface="宋体" panose="02010600030101010101" pitchFamily="2" charset="-122"/>
                <a:ea typeface="宋体" panose="02010600030101010101" pitchFamily="2" charset="-122"/>
              </a:rPr>
              <a:t>问题，双目受基线和匹配耗时限制。LiDAR 直接提供精确的三维点云，不依赖光照，精度远超视觉。</a:t>
            </a:r>
            <a:endParaRPr lang="zh-CN" altLang="en-US" b="1" dirty="0">
              <a:latin typeface="宋体" panose="02010600030101010101" pitchFamily="2" charset="-122"/>
              <a:ea typeface="宋体" panose="02010600030101010101" pitchFamily="2" charset="-122"/>
            </a:endParaRPr>
          </a:p>
        </p:txBody>
      </p:sp>
      <p:sp>
        <p:nvSpPr>
          <p:cNvPr id="2" name="文本框 1">
            <a:extLst>
              <a:ext uri="{FF2B5EF4-FFF2-40B4-BE49-F238E27FC236}">
                <a16:creationId xmlns:a16="http://schemas.microsoft.com/office/drawing/2014/main" id="{3A0218AE-CFF5-36CE-3E30-0C453F8B10FA}"/>
              </a:ext>
            </a:extLst>
          </p:cNvPr>
          <p:cNvSpPr txBox="1"/>
          <p:nvPr/>
        </p:nvSpPr>
        <p:spPr>
          <a:xfrm>
            <a:off x="2222435" y="4098750"/>
            <a:ext cx="461665" cy="1708160"/>
          </a:xfrm>
          <a:prstGeom prst="rect">
            <a:avLst/>
          </a:prstGeom>
          <a:noFill/>
        </p:spPr>
        <p:txBody>
          <a:bodyPr vert="eaVert" wrap="none" rtlCol="0">
            <a:spAutoFit/>
          </a:bodyPr>
          <a:lstStyle/>
          <a:p>
            <a:r>
              <a:rPr lang="zh-CN" altLang="en-US" dirty="0"/>
              <a:t>点云的处理方法</a:t>
            </a:r>
          </a:p>
        </p:txBody>
      </p:sp>
      <p:sp>
        <p:nvSpPr>
          <p:cNvPr id="4" name="左大括号 3">
            <a:extLst>
              <a:ext uri="{FF2B5EF4-FFF2-40B4-BE49-F238E27FC236}">
                <a16:creationId xmlns:a16="http://schemas.microsoft.com/office/drawing/2014/main" id="{64E7897A-9D5D-81C2-B1A1-740B2E69A613}"/>
              </a:ext>
            </a:extLst>
          </p:cNvPr>
          <p:cNvSpPr/>
          <p:nvPr/>
        </p:nvSpPr>
        <p:spPr>
          <a:xfrm>
            <a:off x="2860387" y="3429000"/>
            <a:ext cx="155448" cy="309074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95F32A42-A259-F70B-90D5-A0347AE0E7AA}"/>
              </a:ext>
            </a:extLst>
          </p:cNvPr>
          <p:cNvSpPr txBox="1"/>
          <p:nvPr/>
        </p:nvSpPr>
        <p:spPr>
          <a:xfrm>
            <a:off x="3238068" y="3550205"/>
            <a:ext cx="7169737" cy="923330"/>
          </a:xfrm>
          <a:prstGeom prst="rect">
            <a:avLst/>
          </a:prstGeom>
          <a:noFill/>
        </p:spPr>
        <p:txBody>
          <a:bodyPr wrap="square">
            <a:spAutoFit/>
          </a:bodyPr>
          <a:lstStyle/>
          <a:p>
            <a:pPr>
              <a:spcBef>
                <a:spcPts val="2400"/>
              </a:spcBef>
              <a:spcAft>
                <a:spcPts val="1200"/>
              </a:spcAft>
            </a:pPr>
            <a:r>
              <a:rPr lang="zh-CN" altLang="zh-CN" sz="1800" b="1" dirty="0">
                <a:solidFill>
                  <a:schemeClr val="tx1"/>
                </a:solidFill>
                <a:effectLst/>
                <a:latin typeface="+mn-lt"/>
              </a:rPr>
              <a:t>体素法</a:t>
            </a:r>
            <a:r>
              <a:rPr lang="zh-CN" altLang="en-US" sz="1800" b="1" dirty="0">
                <a:solidFill>
                  <a:schemeClr val="tx1"/>
                </a:solidFill>
                <a:effectLst/>
                <a:latin typeface="+mn-lt"/>
              </a:rPr>
              <a:t>：</a:t>
            </a:r>
            <a:r>
              <a:rPr lang="zh-CN" altLang="zh-CN" dirty="0"/>
              <a:t>把三维空间切成小立方体（体素），把点云映射到 BEV 网格，再划分成独立体素。</a:t>
            </a:r>
            <a:r>
              <a:rPr lang="zh-CN" altLang="zh-CN" b="1" dirty="0"/>
              <a:t>优点</a:t>
            </a:r>
            <a:r>
              <a:rPr lang="zh-CN" altLang="en-US" dirty="0"/>
              <a:t>是</a:t>
            </a:r>
            <a:r>
              <a:rPr lang="zh-CN" altLang="zh-CN" dirty="0"/>
              <a:t>结构规整，适合</a:t>
            </a:r>
            <a:r>
              <a:rPr lang="zh-CN" altLang="en-US" dirty="0"/>
              <a:t>三维</a:t>
            </a:r>
            <a:r>
              <a:rPr lang="zh-CN" altLang="zh-CN" dirty="0"/>
              <a:t>卷积；</a:t>
            </a:r>
            <a:r>
              <a:rPr lang="zh-CN" altLang="en-US" b="1" dirty="0"/>
              <a:t>但</a:t>
            </a:r>
            <a:r>
              <a:rPr lang="zh-CN" altLang="zh-CN" dirty="0"/>
              <a:t>体素化带来量化信息损失，小目标精度受影响。</a:t>
            </a:r>
            <a:endParaRPr lang="zh-CN" altLang="zh-CN" sz="1500" b="1" dirty="0">
              <a:solidFill>
                <a:srgbClr val="0F1115"/>
              </a:solidFill>
              <a:effectLst/>
              <a:latin typeface="quote-cjk-patch"/>
            </a:endParaRPr>
          </a:p>
        </p:txBody>
      </p:sp>
      <p:sp>
        <p:nvSpPr>
          <p:cNvPr id="13" name="文本框 12">
            <a:extLst>
              <a:ext uri="{FF2B5EF4-FFF2-40B4-BE49-F238E27FC236}">
                <a16:creationId xmlns:a16="http://schemas.microsoft.com/office/drawing/2014/main" id="{0EB26ED9-9054-1C1B-ADF6-6D3508C8377D}"/>
              </a:ext>
            </a:extLst>
          </p:cNvPr>
          <p:cNvSpPr txBox="1"/>
          <p:nvPr/>
        </p:nvSpPr>
        <p:spPr>
          <a:xfrm>
            <a:off x="3238068" y="5384439"/>
            <a:ext cx="10400370" cy="646331"/>
          </a:xfrm>
          <a:prstGeom prst="rect">
            <a:avLst/>
          </a:prstGeom>
          <a:noFill/>
        </p:spPr>
        <p:txBody>
          <a:bodyPr wrap="square">
            <a:spAutoFit/>
          </a:bodyPr>
          <a:lstStyle/>
          <a:p>
            <a:pPr>
              <a:spcBef>
                <a:spcPts val="2400"/>
              </a:spcBef>
              <a:spcAft>
                <a:spcPts val="1200"/>
              </a:spcAft>
            </a:pPr>
            <a:r>
              <a:rPr lang="zh-CN" altLang="zh-CN" sz="1800" b="1" dirty="0">
                <a:solidFill>
                  <a:schemeClr val="tx1"/>
                </a:solidFill>
                <a:effectLst/>
                <a:latin typeface="+mn-lt"/>
              </a:rPr>
              <a:t>点云法</a:t>
            </a:r>
            <a:r>
              <a:rPr lang="zh-CN" altLang="en-US" sz="1800" b="1" dirty="0">
                <a:solidFill>
                  <a:schemeClr val="tx1"/>
                </a:solidFill>
                <a:effectLst/>
                <a:latin typeface="+mn-lt"/>
              </a:rPr>
              <a:t>：</a:t>
            </a:r>
            <a:r>
              <a:rPr lang="zh-CN" altLang="zh-CN" dirty="0"/>
              <a:t>不转换，直接处理原始点云。</a:t>
            </a:r>
            <a:r>
              <a:rPr lang="zh-CN" altLang="en-US" b="1" dirty="0"/>
              <a:t>能</a:t>
            </a:r>
            <a:r>
              <a:rPr lang="zh-CN" altLang="zh-CN" dirty="0"/>
              <a:t>避免量化损失，保留原始几何信息；</a:t>
            </a:r>
            <a:br>
              <a:rPr lang="zh-CN" altLang="zh-CN" sz="1600" dirty="0"/>
            </a:br>
            <a:r>
              <a:rPr lang="zh-CN" altLang="en-US" b="1" dirty="0"/>
              <a:t>但是</a:t>
            </a:r>
            <a:r>
              <a:rPr lang="zh-CN" altLang="zh-CN" dirty="0"/>
              <a:t>计算量大，远距离点稀疏，丢弃点问题需考虑。</a:t>
            </a:r>
            <a:endParaRPr lang="zh-CN" altLang="zh-CN" sz="1500" b="1" dirty="0">
              <a:solidFill>
                <a:srgbClr val="0F1115"/>
              </a:solidFill>
              <a:effectLst/>
              <a:latin typeface="quote-cjk-patch"/>
            </a:endParaRPr>
          </a:p>
        </p:txBody>
      </p:sp>
    </p:spTree>
    <p:extLst>
      <p:ext uri="{BB962C8B-B14F-4D97-AF65-F5344CB8AC3E}">
        <p14:creationId xmlns:p14="http://schemas.microsoft.com/office/powerpoint/2010/main" val="3303223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DA584-3B26-9EAC-68F8-CB707466F7F4}"/>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594DBDFC-7C6F-4486-B348-43A286C044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11C273E2-A7C2-579E-CD6F-A222F844171E}"/>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5D036467-CB43-AE0A-294B-5C6B81561202}"/>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82F2AAD4-62B4-712E-041C-543CD29C770B}"/>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A808B292-FF77-7AF8-DC6A-966FA932FEB2}"/>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29CDC72A-1DAB-FDE0-4F6A-A74B38987F75}"/>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6145142B-4D29-F901-0F08-9B5B66EBBB3C}"/>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CA78C71F-A2EE-64FA-0C74-3E9D3AC7DD6B}"/>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目标检测</a:t>
            </a:r>
          </a:p>
        </p:txBody>
      </p:sp>
      <p:sp>
        <p:nvSpPr>
          <p:cNvPr id="29" name="椭圆 28">
            <a:extLst>
              <a:ext uri="{FF2B5EF4-FFF2-40B4-BE49-F238E27FC236}">
                <a16:creationId xmlns:a16="http://schemas.microsoft.com/office/drawing/2014/main" id="{B772CEDB-D973-52F9-C1DE-1E2C80280284}"/>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199A21C8-D325-EB73-AAD5-7895D85092A0}"/>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19</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898DB18B-2BCA-2729-A821-8E3D9045D0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2D9A7F27-C923-D698-D0D2-E5FF01479392}"/>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0E433D03-AF71-1E3B-052E-79C8423CD6A9}"/>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3ACBCCF9-A920-AA39-60D8-FDA074D1D418}"/>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428F9DF8-7027-5D97-C91A-DBD36B815527}"/>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BA7D1307-D724-53EF-7889-728040DCF533}"/>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64BD9DF8-DEC3-B96B-4734-587C8038A2CD}"/>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E088F589-85E6-9FE3-50FC-9A0365C6840E}"/>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992F9EE6-34DD-30C7-DE94-67C60E6195D6}"/>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9A250809-AA8C-47B3-1490-C62B2D629DE5}"/>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D518E21B-E64F-6EA3-3E4F-275FA202BC66}"/>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60AD699F-07A7-AB80-CD83-33AF3207D846}"/>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DA7DF265-D52E-4387-FC33-1AC01DCB4221}"/>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15F4FE1F-882D-7D3A-C32C-DDDF15935129}"/>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5" name="文本框 14">
            <a:extLst>
              <a:ext uri="{FF2B5EF4-FFF2-40B4-BE49-F238E27FC236}">
                <a16:creationId xmlns:a16="http://schemas.microsoft.com/office/drawing/2014/main" id="{9062BE34-8852-BE58-4E35-4560AD891338}"/>
              </a:ext>
            </a:extLst>
          </p:cNvPr>
          <p:cNvSpPr txBox="1"/>
          <p:nvPr/>
        </p:nvSpPr>
        <p:spPr>
          <a:xfrm>
            <a:off x="2728384" y="2067247"/>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阶段五：多传感器融合 </a:t>
            </a:r>
            <a:r>
              <a:rPr lang="en-US" altLang="zh-CN" sz="1800" b="1" i="0" dirty="0">
                <a:effectLst/>
                <a:latin typeface="方正小标宋简体" panose="02010601030101010101" pitchFamily="2" charset="-122"/>
                <a:ea typeface="方正小标宋简体" panose="02010601030101010101" pitchFamily="2" charset="-122"/>
              </a:rPr>
              <a:t>3D </a:t>
            </a:r>
            <a:r>
              <a:rPr lang="zh-CN" altLang="en-US" sz="1800" b="1" i="0" dirty="0">
                <a:effectLst/>
                <a:latin typeface="方正小标宋简体" panose="02010601030101010101" pitchFamily="2" charset="-122"/>
                <a:ea typeface="方正小标宋简体" panose="02010601030101010101" pitchFamily="2" charset="-122"/>
              </a:rPr>
              <a:t>目标检测</a:t>
            </a:r>
            <a:endParaRPr lang="zh-CN" altLang="en-US" sz="1800" dirty="0">
              <a:latin typeface="方正小标宋简体" panose="02010601030101010101" pitchFamily="2" charset="-122"/>
              <a:ea typeface="方正小标宋简体" panose="02010601030101010101" pitchFamily="2" charset="-122"/>
            </a:endParaRPr>
          </a:p>
        </p:txBody>
      </p:sp>
      <p:sp>
        <p:nvSpPr>
          <p:cNvPr id="5" name="文本框 4">
            <a:extLst>
              <a:ext uri="{FF2B5EF4-FFF2-40B4-BE49-F238E27FC236}">
                <a16:creationId xmlns:a16="http://schemas.microsoft.com/office/drawing/2014/main" id="{F430206F-0931-6BB3-B286-C56FA12E838A}"/>
              </a:ext>
            </a:extLst>
          </p:cNvPr>
          <p:cNvSpPr txBox="1"/>
          <p:nvPr/>
        </p:nvSpPr>
        <p:spPr>
          <a:xfrm>
            <a:off x="2453268" y="2572861"/>
            <a:ext cx="8489846" cy="646331"/>
          </a:xfrm>
          <a:prstGeom prst="rect">
            <a:avLst/>
          </a:prstGeom>
          <a:noFill/>
        </p:spPr>
        <p:txBody>
          <a:bodyPr wrap="square">
            <a:spAutoFit/>
          </a:bodyPr>
          <a:lstStyle/>
          <a:p>
            <a:r>
              <a:rPr lang="zh-CN" altLang="zh-CN" b="1" dirty="0">
                <a:latin typeface="宋体" panose="02010600030101010101" pitchFamily="2" charset="-122"/>
                <a:ea typeface="宋体" panose="02010600030101010101" pitchFamily="2" charset="-122"/>
              </a:rPr>
              <a:t>单一传感器总有盲区，融合可提升鲁棒性和全天候能力</a:t>
            </a:r>
            <a:r>
              <a:rPr lang="zh-CN" altLang="en-US" b="1" dirty="0">
                <a:latin typeface="宋体" panose="02010600030101010101" pitchFamily="2" charset="-122"/>
                <a:ea typeface="宋体" panose="02010600030101010101" pitchFamily="2" charset="-122"/>
              </a:rPr>
              <a:t>，但是</a:t>
            </a:r>
            <a:r>
              <a:rPr lang="zh-CN" altLang="zh-CN" b="1" dirty="0">
                <a:latin typeface="宋体" panose="02010600030101010101" pitchFamily="2" charset="-122"/>
                <a:ea typeface="宋体" panose="02010600030101010101" pitchFamily="2" charset="-122"/>
              </a:rPr>
              <a:t>融合不一定优于单传感器，因为存在模态差距、标定误差、时间同步误差，且会在网络中传播放大</a:t>
            </a:r>
            <a:r>
              <a:rPr lang="zh-CN" altLang="zh-CN"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2" name="文本框 11">
            <a:extLst>
              <a:ext uri="{FF2B5EF4-FFF2-40B4-BE49-F238E27FC236}">
                <a16:creationId xmlns:a16="http://schemas.microsoft.com/office/drawing/2014/main" id="{D6C712A8-6961-5637-F6B8-1FA818A4D2CD}"/>
              </a:ext>
            </a:extLst>
          </p:cNvPr>
          <p:cNvSpPr txBox="1"/>
          <p:nvPr/>
        </p:nvSpPr>
        <p:spPr>
          <a:xfrm>
            <a:off x="1981199" y="3531130"/>
            <a:ext cx="10400370" cy="1669688"/>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zh-CN" sz="1800" b="0" i="0" dirty="0">
                <a:solidFill>
                  <a:schemeClr val="tx1"/>
                </a:solidFill>
                <a:effectLst/>
                <a:latin typeface="+mn-lt"/>
              </a:rPr>
              <a:t>PointPainting 把语义信息投影到点云，提升 3D 检测精度。</a:t>
            </a:r>
          </a:p>
          <a:p>
            <a:pPr marL="0" marR="0" lvl="0" indent="-342900" algn="l">
              <a:spcBef>
                <a:spcPts val="450"/>
              </a:spcBef>
              <a:spcAft>
                <a:spcPts val="1200"/>
              </a:spcAft>
              <a:buFont typeface="Arial" panose="020B0604020202020204" pitchFamily="34" charset="0"/>
              <a:buChar char="•"/>
            </a:pPr>
            <a:r>
              <a:rPr lang="zh-CN" altLang="zh-CN" sz="1800" b="0" i="0" dirty="0">
                <a:solidFill>
                  <a:schemeClr val="tx1"/>
                </a:solidFill>
                <a:effectLst/>
                <a:latin typeface="+mn-lt"/>
              </a:rPr>
              <a:t>CLOCs 在独立提取器后融合，KITTI 上有竞争力。</a:t>
            </a:r>
          </a:p>
          <a:p>
            <a:pPr marL="0" marR="0" lvl="0" indent="-342900" algn="l">
              <a:spcBef>
                <a:spcPts val="450"/>
              </a:spcBef>
              <a:spcAft>
                <a:spcPts val="1200"/>
              </a:spcAft>
              <a:buFont typeface="Arial" panose="020B0604020202020204" pitchFamily="34" charset="0"/>
              <a:buChar char="•"/>
            </a:pPr>
            <a:r>
              <a:rPr lang="zh-CN" altLang="zh-CN" sz="1800" b="0" i="0" dirty="0">
                <a:solidFill>
                  <a:schemeClr val="tx1"/>
                </a:solidFill>
                <a:effectLst/>
                <a:latin typeface="+mn-lt"/>
              </a:rPr>
              <a:t>综述 Table II 显示：融合方法在 KITTI Moderate 上可达 83%+（VPFNet），明显高于单目/双目；LiDAR 方法（PointRCNN 75.64%、PointPillars 74.31%）强于视觉方法。</a:t>
            </a:r>
          </a:p>
          <a:p>
            <a:pPr marL="0" marR="0" lvl="0" indent="-342900" algn="l">
              <a:spcBef>
                <a:spcPts val="450"/>
              </a:spcBef>
              <a:spcAft>
                <a:spcPts val="1200"/>
              </a:spcAft>
              <a:buFont typeface="Arial" panose="020B0604020202020204" pitchFamily="34" charset="0"/>
              <a:buChar char="•"/>
            </a:pPr>
            <a:r>
              <a:rPr lang="zh-CN" altLang="zh-CN" sz="1800" b="0" i="0" dirty="0">
                <a:solidFill>
                  <a:schemeClr val="tx1"/>
                </a:solidFill>
                <a:effectLst/>
                <a:latin typeface="+mn-lt"/>
              </a:rPr>
              <a:t>自注意力（Transformer）和 BEV 方法开始用于跨模态融合。</a:t>
            </a:r>
            <a:endParaRPr lang="zh-CN" altLang="zh-CN" sz="1200" b="0" i="0" dirty="0">
              <a:solidFill>
                <a:srgbClr val="0F1115"/>
              </a:solidFill>
              <a:effectLst/>
              <a:latin typeface="quote-cjk-patch"/>
            </a:endParaRPr>
          </a:p>
        </p:txBody>
      </p:sp>
    </p:spTree>
    <p:extLst>
      <p:ext uri="{BB962C8B-B14F-4D97-AF65-F5344CB8AC3E}">
        <p14:creationId xmlns:p14="http://schemas.microsoft.com/office/powerpoint/2010/main" val="142246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71B58-87B3-4260-FCFF-AACF016C480A}"/>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11CA48B8-314E-CD56-81E5-7F4B289B23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9B51902A-652B-2F99-DE64-CB365DE97E2A}"/>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CA6DA857-411B-3FA4-D6A9-80B6E3520036}"/>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0F97EFA6-3702-8370-09BE-2E0F0D569B5A}"/>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E33F8701-A61A-BCCC-F934-9037B26428ED}"/>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CD248117-CBEE-6591-C017-B8AE8456874C}"/>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AEFC453C-B091-658A-1B99-6CE70A2ED8CF}"/>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87866D9C-E882-C809-DCAB-1A805AF5C744}"/>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目标检测</a:t>
            </a:r>
          </a:p>
        </p:txBody>
      </p:sp>
      <p:sp>
        <p:nvSpPr>
          <p:cNvPr id="29" name="椭圆 28">
            <a:extLst>
              <a:ext uri="{FF2B5EF4-FFF2-40B4-BE49-F238E27FC236}">
                <a16:creationId xmlns:a16="http://schemas.microsoft.com/office/drawing/2014/main" id="{6B621D63-AF47-599B-02AB-9B6D90876E82}"/>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E6C9269C-F3E5-202D-13D4-DB9F924E376A}"/>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20</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A6E5AB1A-1A52-5AFC-FF3B-E3E4D3C873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567B2602-AD0D-FF91-96F1-44F2BE96286E}"/>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F0A86C43-AB0F-CFAC-E822-9F3C6510DF80}"/>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2E9A7FD0-0444-9A29-0546-5BB3E8705CEB}"/>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C48304F1-C143-8355-158B-08E86CC18F9F}"/>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AD6A2D01-BD4A-5AA5-EAA2-B510034563D5}"/>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088D6E1F-83CC-903E-9D5C-DC9E508FDED8}"/>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C7952EBC-6B35-3B19-9542-E24266DB63B0}"/>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DA5334D4-F0A4-660A-3796-B0E837B9C500}"/>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41034344-FC52-9FB4-7682-EB6974932A54}"/>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51ACD6AE-1C04-9649-8F08-89D3BE3076E0}"/>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5C3E8A98-8756-467D-F664-874B59CD6F3D}"/>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797C1C59-B58E-3F12-3FA2-F8EB55439358}"/>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33F3856E-6BC0-DF9E-A498-84FE7F4A5516}"/>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pic>
        <p:nvPicPr>
          <p:cNvPr id="4" name="图片 3">
            <a:extLst>
              <a:ext uri="{FF2B5EF4-FFF2-40B4-BE49-F238E27FC236}">
                <a16:creationId xmlns:a16="http://schemas.microsoft.com/office/drawing/2014/main" id="{389FD395-AF94-E32B-922D-DDC54F045ADE}"/>
              </a:ext>
            </a:extLst>
          </p:cNvPr>
          <p:cNvPicPr>
            <a:picLocks noChangeAspect="1"/>
          </p:cNvPicPr>
          <p:nvPr/>
        </p:nvPicPr>
        <p:blipFill>
          <a:blip r:embed="rId4"/>
          <a:stretch>
            <a:fillRect/>
          </a:stretch>
        </p:blipFill>
        <p:spPr>
          <a:xfrm>
            <a:off x="3910360" y="1835522"/>
            <a:ext cx="5394053" cy="4135979"/>
          </a:xfrm>
          <a:prstGeom prst="rect">
            <a:avLst/>
          </a:prstGeom>
        </p:spPr>
      </p:pic>
      <p:sp>
        <p:nvSpPr>
          <p:cNvPr id="10" name="文本框 9">
            <a:extLst>
              <a:ext uri="{FF2B5EF4-FFF2-40B4-BE49-F238E27FC236}">
                <a16:creationId xmlns:a16="http://schemas.microsoft.com/office/drawing/2014/main" id="{A80FD009-8666-1A1C-FC70-BAE45852630C}"/>
              </a:ext>
            </a:extLst>
          </p:cNvPr>
          <p:cNvSpPr txBox="1"/>
          <p:nvPr/>
        </p:nvSpPr>
        <p:spPr>
          <a:xfrm>
            <a:off x="3735658" y="6056521"/>
            <a:ext cx="10400370" cy="369332"/>
          </a:xfrm>
          <a:prstGeom prst="rect">
            <a:avLst/>
          </a:prstGeom>
          <a:noFill/>
        </p:spPr>
        <p:txBody>
          <a:bodyPr wrap="square">
            <a:spAutoFit/>
          </a:bodyPr>
          <a:lstStyle/>
          <a:p>
            <a:r>
              <a:rPr lang="zh-CN" altLang="en-US" sz="1800" b="0" i="0" dirty="0">
                <a:solidFill>
                  <a:schemeClr val="tx1"/>
                </a:solidFill>
                <a:effectLst/>
                <a:latin typeface="+mn-lt"/>
              </a:rPr>
              <a:t>核心文献中</a:t>
            </a:r>
            <a:r>
              <a:rPr lang="zh-CN" altLang="zh-CN" sz="1800" b="0" i="0" dirty="0">
                <a:solidFill>
                  <a:schemeClr val="tx1"/>
                </a:solidFill>
                <a:effectLst/>
                <a:latin typeface="+mn-lt"/>
              </a:rPr>
              <a:t>在 KITTI 数据集上的 3D 目标检测方法性能对比</a:t>
            </a:r>
            <a:endParaRPr lang="zh-CN" altLang="en-US" dirty="0"/>
          </a:p>
        </p:txBody>
      </p:sp>
    </p:spTree>
    <p:extLst>
      <p:ext uri="{BB962C8B-B14F-4D97-AF65-F5344CB8AC3E}">
        <p14:creationId xmlns:p14="http://schemas.microsoft.com/office/powerpoint/2010/main" val="1474522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05CEE-3AD8-D635-EAB0-3CE1A075D103}"/>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29381BF1-C430-1844-F7DE-6A2F678A1D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D0E74EC6-DB5A-AA64-7D9D-3822D3FF3731}"/>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B997448F-03E0-37E0-6229-2408EDF7C920}"/>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44113B90-A658-05D1-AEAF-89F151CADA2C}"/>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2307593-53C6-1EC9-5634-BB09C2500130}"/>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58871499-263A-F161-FD6B-1BCB2575F430}"/>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E0C0ABE0-FBD2-F82C-AB68-BAFB1A7C084B}"/>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AA6B75DA-DF05-2EA8-AF47-E6044C3F103F}"/>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目标检测</a:t>
            </a:r>
          </a:p>
        </p:txBody>
      </p:sp>
      <p:sp>
        <p:nvSpPr>
          <p:cNvPr id="29" name="椭圆 28">
            <a:extLst>
              <a:ext uri="{FF2B5EF4-FFF2-40B4-BE49-F238E27FC236}">
                <a16:creationId xmlns:a16="http://schemas.microsoft.com/office/drawing/2014/main" id="{A88A6942-56EE-F8CF-B877-35AEBAD725CC}"/>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81FDB2DB-758E-C4C8-9962-596038783C8D}"/>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21</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E23D1FD2-AF30-B8D8-D984-960340E543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C18348AE-67CF-4771-CE17-1126BCE5B81B}"/>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5AD59E64-2802-0BE4-13CA-4108C59BEADD}"/>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B822DF33-A52F-1FED-3982-88B27A1992A6}"/>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08CBB8F7-70F0-794E-73E7-7EA529B1ED80}"/>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71AF9495-4830-CBEF-651D-B66863EEF339}"/>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4C23A0AE-A785-924C-6E7B-469400EA1221}"/>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CA6DF344-9B09-BCEC-87AD-F496B4CCC336}"/>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DB8BDD72-23FB-1066-A310-FFB7389FDC4A}"/>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7336DD60-EEE5-2891-1E59-71C4795C289F}"/>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0C1C3A04-DFB2-A7C2-4A7C-BC98404304E8}"/>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582826EE-FFB8-08C7-15F3-B71A38427CE6}"/>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8AC69B5E-D8B2-17CE-38FA-323EBFDBD714}"/>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DAB887C8-4F10-6ED2-BC20-1A8812417FA5}"/>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5" name="文本框 14">
            <a:extLst>
              <a:ext uri="{FF2B5EF4-FFF2-40B4-BE49-F238E27FC236}">
                <a16:creationId xmlns:a16="http://schemas.microsoft.com/office/drawing/2014/main" id="{E81E9B91-DEF7-9211-657C-9D84298352F9}"/>
              </a:ext>
            </a:extLst>
          </p:cNvPr>
          <p:cNvSpPr txBox="1"/>
          <p:nvPr/>
        </p:nvSpPr>
        <p:spPr>
          <a:xfrm>
            <a:off x="2728384" y="2067247"/>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阶段六：</a:t>
            </a:r>
            <a:r>
              <a:rPr lang="en-US" altLang="zh-CN" sz="1800" b="1" i="0" dirty="0">
                <a:effectLst/>
                <a:latin typeface="方正小标宋简体" panose="02010601030101010101" pitchFamily="2" charset="-122"/>
                <a:ea typeface="方正小标宋简体" panose="02010601030101010101" pitchFamily="2" charset="-122"/>
              </a:rPr>
              <a:t>BEV + Transformer </a:t>
            </a:r>
            <a:r>
              <a:rPr lang="zh-CN" altLang="en-US" sz="1800" b="1" i="0" dirty="0">
                <a:effectLst/>
                <a:latin typeface="方正小标宋简体" panose="02010601030101010101" pitchFamily="2" charset="-122"/>
                <a:ea typeface="方正小标宋简体" panose="02010601030101010101" pitchFamily="2" charset="-122"/>
              </a:rPr>
              <a:t>统一表征</a:t>
            </a:r>
            <a:endParaRPr lang="zh-CN" altLang="en-US" sz="1800" dirty="0">
              <a:latin typeface="方正小标宋简体" panose="02010601030101010101" pitchFamily="2" charset="-122"/>
              <a:ea typeface="方正小标宋简体" panose="02010601030101010101" pitchFamily="2" charset="-122"/>
            </a:endParaRPr>
          </a:p>
        </p:txBody>
      </p:sp>
      <p:sp>
        <p:nvSpPr>
          <p:cNvPr id="5" name="文本框 4">
            <a:extLst>
              <a:ext uri="{FF2B5EF4-FFF2-40B4-BE49-F238E27FC236}">
                <a16:creationId xmlns:a16="http://schemas.microsoft.com/office/drawing/2014/main" id="{293059A3-8C62-9276-94C2-06CFBB636F0E}"/>
              </a:ext>
            </a:extLst>
          </p:cNvPr>
          <p:cNvSpPr txBox="1"/>
          <p:nvPr/>
        </p:nvSpPr>
        <p:spPr>
          <a:xfrm>
            <a:off x="2453268" y="2572861"/>
            <a:ext cx="8489846" cy="369332"/>
          </a:xfrm>
          <a:prstGeom prst="rect">
            <a:avLst/>
          </a:prstGeom>
          <a:noFill/>
        </p:spPr>
        <p:txBody>
          <a:bodyPr wrap="square">
            <a:spAutoFit/>
          </a:bodyPr>
          <a:lstStyle/>
          <a:p>
            <a:pPr lvl="0"/>
            <a:r>
              <a:rPr lang="zh-CN" altLang="zh-CN" dirty="0"/>
              <a:t>自注意力机制（Transformer）和 BEV 方法能提升跨模态融合与特征提取精度。</a:t>
            </a:r>
          </a:p>
        </p:txBody>
      </p:sp>
      <p:sp>
        <p:nvSpPr>
          <p:cNvPr id="4" name="文本框 3">
            <a:extLst>
              <a:ext uri="{FF2B5EF4-FFF2-40B4-BE49-F238E27FC236}">
                <a16:creationId xmlns:a16="http://schemas.microsoft.com/office/drawing/2014/main" id="{83AE6EAC-D073-4F53-6E25-91F20E377123}"/>
              </a:ext>
            </a:extLst>
          </p:cNvPr>
          <p:cNvSpPr txBox="1"/>
          <p:nvPr/>
        </p:nvSpPr>
        <p:spPr>
          <a:xfrm>
            <a:off x="1979091" y="3021478"/>
            <a:ext cx="9237418" cy="3170099"/>
          </a:xfrm>
          <a:prstGeom prst="rect">
            <a:avLst/>
          </a:prstGeom>
          <a:noFill/>
        </p:spPr>
        <p:txBody>
          <a:bodyPr wrap="square">
            <a:spAutoFit/>
          </a:bodyPr>
          <a:lstStyle/>
          <a:p>
            <a:pPr marL="0" marR="0" indent="0" algn="l">
              <a:lnSpc>
                <a:spcPct val="100000"/>
              </a:lnSpc>
              <a:spcBef>
                <a:spcPts val="1200"/>
              </a:spcBef>
              <a:spcAft>
                <a:spcPts val="1200"/>
              </a:spcAft>
              <a:buNone/>
            </a:pPr>
            <a:r>
              <a:rPr lang="zh-CN" altLang="zh-CN" sz="1800" b="0" i="0" dirty="0">
                <a:solidFill>
                  <a:schemeClr val="tx1"/>
                </a:solidFill>
                <a:effectLst/>
                <a:latin typeface="+mn-lt"/>
              </a:rPr>
              <a:t>Transformer 的作用是帮助 2D 图像“升”到 3D/BEV 空间。传统方法要先估计深度，但深度估计本身不准；Transformer 用注意力机制，让 BEV 空间直接去多视角图像中采样特征，绕开显式深度估计。这条路线从 LSS（2020）开始，它用“Lift-Splat-Shoot”首次实现多相机端到端 BEV 提取；DETR3D（2021）用稀疏 query 直接回归 3D 框；BEVFormer（2022）用时空 Transformer 统一 BEV，达到 mAP 40.5%；BEVFusion 把 LiDAR 和相机在 BEV 空间融合；Occupancy 则进一步把 2D BEV 升级成 3D 体素，不再只检测已知物体，而是预测每个体素是否被占据。</a:t>
            </a:r>
          </a:p>
          <a:p>
            <a:pPr marL="0" marR="0" indent="0" algn="l">
              <a:lnSpc>
                <a:spcPct val="100000"/>
              </a:lnSpc>
              <a:spcBef>
                <a:spcPts val="1200"/>
              </a:spcBef>
              <a:buNone/>
            </a:pPr>
            <a:r>
              <a:rPr lang="zh-CN" altLang="zh-CN" sz="1800" b="0" i="0" dirty="0">
                <a:solidFill>
                  <a:schemeClr val="tx1"/>
                </a:solidFill>
                <a:effectLst/>
                <a:latin typeface="+mn-lt"/>
              </a:rPr>
              <a:t>它的优点是空间统一、多模态融合方便、支持时序建模和多任务。缺点是计算量大、内存带宽要求高、车端部署难，纯视觉 BEV 精度仍弱于 LiDAR，Occupancy 标注成本也很高。</a:t>
            </a:r>
            <a:br>
              <a:rPr lang="zh-CN" altLang="zh-CN" dirty="0"/>
            </a:br>
            <a:endParaRPr lang="zh-CN" altLang="en-US" dirty="0"/>
          </a:p>
        </p:txBody>
      </p:sp>
    </p:spTree>
    <p:extLst>
      <p:ext uri="{BB962C8B-B14F-4D97-AF65-F5344CB8AC3E}">
        <p14:creationId xmlns:p14="http://schemas.microsoft.com/office/powerpoint/2010/main" val="1784252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CEE27-3284-D46B-5CB0-7AED239BBAAB}"/>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D2675012-FBFA-6F48-CF0A-4CC035565F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AE6678B7-DE70-0BAB-F342-1068BF91E9DE}"/>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E6C2D9FB-BF16-042E-379A-7EA22FBF4C3E}"/>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0AFB88A6-B083-629C-75AF-5D6E547AD934}"/>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0F97FB1-8DFD-4F0E-B6D7-2EBDF742BF45}"/>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67E545ED-2FA9-263E-893F-432974A14CD7}"/>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48AD2CB1-E968-6CEA-D7B8-89C7196C8B30}"/>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1547B23A-46B5-2CA3-DA76-8C4D80EE0CC9}"/>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目标检测</a:t>
            </a:r>
          </a:p>
        </p:txBody>
      </p:sp>
      <p:sp>
        <p:nvSpPr>
          <p:cNvPr id="29" name="椭圆 28">
            <a:extLst>
              <a:ext uri="{FF2B5EF4-FFF2-40B4-BE49-F238E27FC236}">
                <a16:creationId xmlns:a16="http://schemas.microsoft.com/office/drawing/2014/main" id="{4BAF2AE7-8FDF-479C-DBB2-3F5A4AAA96E2}"/>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B4A495F0-4386-AF19-81F4-3B3162B4F716}"/>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22</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F99C82F8-8D2A-99E0-D2BB-0386153FA0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47450909-26C1-C304-90FA-484BCB322365}"/>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3B506464-E28A-F8A2-D6C5-7C99DC722F38}"/>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3251242D-706C-21AF-A9BA-9DD50C906F1D}"/>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8B2420D4-6316-421F-4858-F0A5880AD407}"/>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1D0C93C4-286F-F919-EB1E-F08B2B15B285}"/>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8CC7CEB6-E330-3DEC-AB9A-576D18BCC34B}"/>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41D424CB-0A39-014B-ACE8-04E2B87A4AD2}"/>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E64F5957-EB31-BF52-2122-50FA24E57985}"/>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0866E858-01F0-F905-02DA-3C309BC5E264}"/>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FFF26D8B-9BB4-FA31-ACA7-FA0FFF5E9033}"/>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92D52BFC-0E4D-FA62-F574-EEEEF25F3E80}"/>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6DD6E762-48A5-2316-3078-5D52E4C83907}"/>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CF962A22-33D3-1188-E308-B3EE3CAD7354}"/>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graphicFrame>
        <p:nvGraphicFramePr>
          <p:cNvPr id="15" name="表格 14">
            <a:extLst>
              <a:ext uri="{FF2B5EF4-FFF2-40B4-BE49-F238E27FC236}">
                <a16:creationId xmlns:a16="http://schemas.microsoft.com/office/drawing/2014/main" id="{F01E25FC-C8FE-F5C0-C6F6-F1EB8BD2DB07}"/>
              </a:ext>
            </a:extLst>
          </p:cNvPr>
          <p:cNvGraphicFramePr>
            <a:graphicFrameLocks noGrp="1"/>
          </p:cNvGraphicFramePr>
          <p:nvPr>
            <p:extLst>
              <p:ext uri="{D42A27DB-BD31-4B8C-83A1-F6EECF244321}">
                <p14:modId xmlns:p14="http://schemas.microsoft.com/office/powerpoint/2010/main" val="797993732"/>
              </p:ext>
            </p:extLst>
          </p:nvPr>
        </p:nvGraphicFramePr>
        <p:xfrm>
          <a:off x="2394855" y="2515558"/>
          <a:ext cx="8730052" cy="4161133"/>
        </p:xfrm>
        <a:graphic>
          <a:graphicData uri="http://schemas.openxmlformats.org/drawingml/2006/table">
            <a:tbl>
              <a:tblPr firstRow="1" bandRow="1">
                <a:tableStyleId>{7DF18680-E054-41AD-8BC1-D1AEF772440D}</a:tableStyleId>
              </a:tblPr>
              <a:tblGrid>
                <a:gridCol w="1274422">
                  <a:extLst>
                    <a:ext uri="{9D8B030D-6E8A-4147-A177-3AD203B41FA5}">
                      <a16:colId xmlns:a16="http://schemas.microsoft.com/office/drawing/2014/main" val="20000"/>
                    </a:ext>
                  </a:extLst>
                </a:gridCol>
                <a:gridCol w="1491126">
                  <a:extLst>
                    <a:ext uri="{9D8B030D-6E8A-4147-A177-3AD203B41FA5}">
                      <a16:colId xmlns:a16="http://schemas.microsoft.com/office/drawing/2014/main" val="20001"/>
                    </a:ext>
                  </a:extLst>
                </a:gridCol>
                <a:gridCol w="1491126">
                  <a:extLst>
                    <a:ext uri="{9D8B030D-6E8A-4147-A177-3AD203B41FA5}">
                      <a16:colId xmlns:a16="http://schemas.microsoft.com/office/drawing/2014/main" val="20002"/>
                    </a:ext>
                  </a:extLst>
                </a:gridCol>
                <a:gridCol w="1491126">
                  <a:extLst>
                    <a:ext uri="{9D8B030D-6E8A-4147-A177-3AD203B41FA5}">
                      <a16:colId xmlns:a16="http://schemas.microsoft.com/office/drawing/2014/main" val="3666809694"/>
                    </a:ext>
                  </a:extLst>
                </a:gridCol>
                <a:gridCol w="1491126">
                  <a:extLst>
                    <a:ext uri="{9D8B030D-6E8A-4147-A177-3AD203B41FA5}">
                      <a16:colId xmlns:a16="http://schemas.microsoft.com/office/drawing/2014/main" val="1231669732"/>
                    </a:ext>
                  </a:extLst>
                </a:gridCol>
                <a:gridCol w="1491126">
                  <a:extLst>
                    <a:ext uri="{9D8B030D-6E8A-4147-A177-3AD203B41FA5}">
                      <a16:colId xmlns:a16="http://schemas.microsoft.com/office/drawing/2014/main" val="823314010"/>
                    </a:ext>
                  </a:extLst>
                </a:gridCol>
              </a:tblGrid>
              <a:tr h="528845">
                <a:tc>
                  <a:txBody>
                    <a:bodyPr/>
                    <a:lstStyle/>
                    <a:p>
                      <a:pPr marL="0" algn="ctr" defTabSz="914400" rtl="0" eaLnBrk="1" latinLnBrk="0" hangingPunct="1"/>
                      <a:r>
                        <a:rPr lang="zh-CN" altLang="en-US" sz="1200" b="1" i="0" kern="1200" dirty="0">
                          <a:solidFill>
                            <a:schemeClr val="lt1"/>
                          </a:solidFill>
                          <a:latin typeface="Arial" panose="020B0604020202020204" pitchFamily="34" charset="0"/>
                          <a:ea typeface="+mn-ea"/>
                          <a:cs typeface="Arial" panose="020B0604020202020204" pitchFamily="34" charset="0"/>
                        </a:rPr>
                        <a:t>关键任务</a:t>
                      </a:r>
                    </a:p>
                  </a:txBody>
                  <a:tcPr anchor="ctr"/>
                </a:tc>
                <a:tc>
                  <a:txBody>
                    <a:bodyPr/>
                    <a:lstStyle/>
                    <a:p>
                      <a:pPr marL="0" algn="ctr" defTabSz="914400" rtl="0" eaLnBrk="1" latinLnBrk="0" hangingPunct="1"/>
                      <a:r>
                        <a:rPr lang="zh-CN" altLang="zh-CN" sz="1200" b="0" i="0" kern="1200" dirty="0">
                          <a:solidFill>
                            <a:schemeClr val="lt1"/>
                          </a:solidFill>
                          <a:effectLst/>
                          <a:latin typeface="+mn-lt"/>
                          <a:ea typeface="+mn-ea"/>
                          <a:cs typeface="+mn-cs"/>
                        </a:rPr>
                        <a:t>传统 CV / 手工特征</a:t>
                      </a:r>
                      <a:endParaRPr lang="zh-CN" altLang="en-US" sz="1200" b="1" i="0" kern="1200" dirty="0">
                        <a:solidFill>
                          <a:schemeClr val="lt1"/>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lt1"/>
                          </a:solidFill>
                          <a:effectLst/>
                          <a:latin typeface="+mn-lt"/>
                          <a:ea typeface="+mn-ea"/>
                          <a:cs typeface="+mn-cs"/>
                        </a:rPr>
                        <a:t>深度学习 2D</a:t>
                      </a:r>
                      <a:endParaRPr lang="zh-CN" altLang="en-US" sz="1200" b="1" i="0" kern="1200" dirty="0">
                        <a:solidFill>
                          <a:schemeClr val="tx1"/>
                        </a:solidFill>
                        <a:latin typeface="方正小标宋简体" panose="02010601030101010101" pitchFamily="2" charset="-122"/>
                        <a:ea typeface="方正小标宋简体" panose="02010601030101010101" pitchFamily="2" charset="-122"/>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lt1"/>
                          </a:solidFill>
                          <a:effectLst/>
                          <a:latin typeface="+mn-lt"/>
                          <a:ea typeface="+mn-ea"/>
                          <a:cs typeface="+mn-cs"/>
                        </a:rPr>
                        <a:t>视觉 3D</a:t>
                      </a:r>
                      <a:endParaRPr lang="zh-CN" altLang="en-US" sz="1200" b="1" i="0" kern="1200" dirty="0">
                        <a:solidFill>
                          <a:schemeClr val="tx1"/>
                        </a:solidFill>
                        <a:latin typeface="方正小标宋简体" panose="02010601030101010101" pitchFamily="2" charset="-122"/>
                        <a:ea typeface="方正小标宋简体" panose="02010601030101010101" pitchFamily="2" charset="-122"/>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lt1"/>
                          </a:solidFill>
                          <a:effectLst/>
                          <a:latin typeface="+mn-lt"/>
                          <a:ea typeface="+mn-ea"/>
                          <a:cs typeface="+mn-cs"/>
                        </a:rPr>
                        <a:t>LiDAR 3D</a:t>
                      </a:r>
                      <a:endParaRPr lang="zh-CN" altLang="en-US" sz="1200" b="1" i="0" kern="1200" dirty="0">
                        <a:solidFill>
                          <a:schemeClr val="tx1"/>
                        </a:solidFill>
                        <a:latin typeface="方正小标宋简体" panose="02010601030101010101" pitchFamily="2" charset="-122"/>
                        <a:ea typeface="方正小标宋简体" panose="02010601030101010101" pitchFamily="2" charset="-122"/>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lt1"/>
                          </a:solidFill>
                          <a:effectLst/>
                          <a:latin typeface="+mn-lt"/>
                          <a:ea typeface="+mn-ea"/>
                          <a:cs typeface="+mn-cs"/>
                        </a:rPr>
                        <a:t>多模态融合</a:t>
                      </a:r>
                      <a:endParaRPr lang="zh-CN" altLang="en-US" sz="1200" b="1" i="0" kern="1200" dirty="0">
                        <a:solidFill>
                          <a:schemeClr val="tx1"/>
                        </a:solidFill>
                        <a:latin typeface="方正小标宋简体" panose="02010601030101010101" pitchFamily="2" charset="-122"/>
                        <a:ea typeface="方正小标宋简体" panose="02010601030101010101" pitchFamily="2" charset="-122"/>
                        <a:cs typeface="Arial" panose="020B0604020202020204" pitchFamily="34" charset="0"/>
                      </a:endParaRPr>
                    </a:p>
                  </a:txBody>
                  <a:tcPr anchor="ctr"/>
                </a:tc>
                <a:extLst>
                  <a:ext uri="{0D108BD9-81ED-4DB2-BD59-A6C34878D82A}">
                    <a16:rowId xmlns:a16="http://schemas.microsoft.com/office/drawing/2014/main" val="10000"/>
                  </a:ext>
                </a:extLst>
              </a:tr>
              <a:tr h="908072">
                <a:tc>
                  <a:txBody>
                    <a:bodyPr/>
                    <a:lstStyle/>
                    <a:p>
                      <a:pPr marL="0" algn="ctr" defTabSz="914400" rtl="0" eaLnBrk="1" latinLnBrk="0" hangingPunct="1"/>
                      <a:r>
                        <a:rPr lang="zh-CN" altLang="zh-CN" sz="1200" b="1" i="0" kern="1200" dirty="0">
                          <a:solidFill>
                            <a:schemeClr val="dk1"/>
                          </a:solidFill>
                          <a:effectLst/>
                          <a:latin typeface="+mn-lt"/>
                          <a:ea typeface="+mn-ea"/>
                          <a:cs typeface="+mn-cs"/>
                        </a:rPr>
                        <a:t>车道检测</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top-hat 变换、Hough 变换、GMM、RANSAC、Kalman 滤波</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CNN、多子头结构、3D 车道线、封闭区域、非结构化道路</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0001"/>
                  </a:ext>
                </a:extLst>
              </a:tr>
              <a:tr h="908072">
                <a:tc>
                  <a:txBody>
                    <a:bodyPr/>
                    <a:lstStyle/>
                    <a:p>
                      <a:pPr marL="0" algn="ctr" defTabSz="914400" rtl="0" eaLnBrk="1" latinLnBrk="0" hangingPunct="1"/>
                      <a:r>
                        <a:rPr lang="zh-CN" altLang="zh-CN" sz="1200" b="1" i="0" kern="1200" dirty="0">
                          <a:solidFill>
                            <a:schemeClr val="dk1"/>
                          </a:solidFill>
                          <a:effectLst/>
                          <a:latin typeface="+mn-lt"/>
                          <a:ea typeface="+mn-ea"/>
                          <a:cs typeface="+mn-cs"/>
                        </a:rPr>
                        <a:t>可行驶区域检测</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颜色直方图、区域生长</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图像分割、SVM/CRF、大卷积核、多层连接</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3591990814"/>
                  </a:ext>
                </a:extLst>
              </a:tr>
              <a:tr h="908072">
                <a:tc>
                  <a:txBody>
                    <a:bodyPr/>
                    <a:lstStyle/>
                    <a:p>
                      <a:pPr marL="0" algn="ctr" defTabSz="914400" rtl="0" eaLnBrk="1" latinLnBrk="0" hangingPunct="1"/>
                      <a:r>
                        <a:rPr lang="zh-CN" altLang="zh-CN" sz="1200" b="1" i="0" kern="1200" dirty="0">
                          <a:solidFill>
                            <a:schemeClr val="dk1"/>
                          </a:solidFill>
                          <a:effectLst/>
                          <a:latin typeface="+mn-lt"/>
                          <a:ea typeface="+mn-ea"/>
                          <a:cs typeface="+mn-cs"/>
                        </a:rPr>
                        <a:t>交通标志检测</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颜色阈值分割、SVM、Hough 形状检测、编码梯度检测</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滑动窗口、HOG + 极限学习机、SPP 层、级联 RCNN、深度可分离卷积</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86262575"/>
                  </a:ext>
                </a:extLst>
              </a:tr>
              <a:tr h="908072">
                <a:tc>
                  <a:txBody>
                    <a:bodyPr/>
                    <a:lstStyle/>
                    <a:p>
                      <a:pPr marL="0" algn="ctr" defTabSz="914400" rtl="0" eaLnBrk="1" latinLnBrk="0" hangingPunct="1"/>
                      <a:r>
                        <a:rPr lang="zh-CN" altLang="zh-CN" sz="1200" b="1" i="0" kern="1200" dirty="0">
                          <a:solidFill>
                            <a:schemeClr val="dk1"/>
                          </a:solidFill>
                          <a:effectLst/>
                          <a:latin typeface="+mn-lt"/>
                          <a:ea typeface="+mn-ea"/>
                          <a:cs typeface="+mn-cs"/>
                        </a:rPr>
                        <a:t>3-D 目标检测</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单目直接回归、几何约束、深度估计辅助</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双目视差</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体素法</a:t>
                      </a:r>
                      <a:endParaRPr lang="en-US" altLang="zh-CN" sz="1200" b="0" i="0" kern="1200" dirty="0">
                        <a:solidFill>
                          <a:schemeClr val="dk1"/>
                        </a:solidFill>
                        <a:effectLst/>
                        <a:latin typeface="+mn-lt"/>
                        <a:ea typeface="+mn-ea"/>
                        <a:cs typeface="+mn-cs"/>
                      </a:endParaRPr>
                    </a:p>
                    <a:p>
                      <a:pPr marL="0" algn="ctr" defTabSz="914400" rtl="0" eaLnBrk="1" latinLnBrk="0" hangingPunct="1"/>
                      <a:r>
                        <a:rPr lang="zh-CN" altLang="zh-CN" sz="1200" b="0" i="0" kern="1200" dirty="0">
                          <a:solidFill>
                            <a:schemeClr val="dk1"/>
                          </a:solidFill>
                          <a:effectLst/>
                          <a:latin typeface="+mn-lt"/>
                          <a:ea typeface="+mn-ea"/>
                          <a:cs typeface="+mn-cs"/>
                        </a:rPr>
                        <a:t>点云法</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相机+LiDAR</a:t>
                      </a:r>
                      <a:endParaRPr lang="en-US" altLang="zh-CN" sz="1200" b="0" i="0" kern="1200" dirty="0">
                        <a:solidFill>
                          <a:schemeClr val="dk1"/>
                        </a:solidFill>
                        <a:effectLst/>
                        <a:latin typeface="+mn-lt"/>
                        <a:ea typeface="+mn-ea"/>
                        <a:cs typeface="+mn-cs"/>
                      </a:endParaRPr>
                    </a:p>
                    <a:p>
                      <a:pPr marL="0" algn="ctr" defTabSz="914400" rtl="0" eaLnBrk="1" latinLnBrk="0" hangingPunct="1"/>
                      <a:r>
                        <a:rPr lang="zh-CN" altLang="en-US" sz="1200" b="0" i="0" kern="1200" dirty="0">
                          <a:solidFill>
                            <a:schemeClr val="dk1"/>
                          </a:solidFill>
                          <a:effectLst/>
                          <a:latin typeface="+mn-lt"/>
                          <a:ea typeface="+mn-ea"/>
                          <a:cs typeface="+mn-cs"/>
                        </a:rPr>
                        <a:t>三模态</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531136625"/>
                  </a:ext>
                </a:extLst>
              </a:tr>
            </a:tbl>
          </a:graphicData>
        </a:graphic>
      </p:graphicFrame>
      <p:sp>
        <p:nvSpPr>
          <p:cNvPr id="17" name="文本框 16">
            <a:extLst>
              <a:ext uri="{FF2B5EF4-FFF2-40B4-BE49-F238E27FC236}">
                <a16:creationId xmlns:a16="http://schemas.microsoft.com/office/drawing/2014/main" id="{A9C958F3-C4AC-BC11-5E07-9FE0A348D67F}"/>
              </a:ext>
            </a:extLst>
          </p:cNvPr>
          <p:cNvSpPr txBox="1"/>
          <p:nvPr/>
        </p:nvSpPr>
        <p:spPr>
          <a:xfrm>
            <a:off x="5351482" y="2134912"/>
            <a:ext cx="2816797" cy="369332"/>
          </a:xfrm>
          <a:prstGeom prst="rect">
            <a:avLst/>
          </a:prstGeom>
          <a:noFill/>
        </p:spPr>
        <p:txBody>
          <a:bodyPr wrap="none" rtlCol="0">
            <a:spAutoFit/>
          </a:bodyPr>
          <a:lstStyle/>
          <a:p>
            <a:r>
              <a:rPr lang="zh-CN" altLang="en-US" dirty="0"/>
              <a:t>各个关键任务的技术路线</a:t>
            </a:r>
          </a:p>
        </p:txBody>
      </p:sp>
    </p:spTree>
    <p:extLst>
      <p:ext uri="{BB962C8B-B14F-4D97-AF65-F5344CB8AC3E}">
        <p14:creationId xmlns:p14="http://schemas.microsoft.com/office/powerpoint/2010/main" val="393355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E639D-3431-5F13-C657-886BB6984761}"/>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F74542AC-CB59-046E-8A48-45EDAA23F3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276A11BC-7C57-DFB3-FC52-F328FC875885}"/>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1EBE63ED-578B-D154-1EFA-F6DA51FE26C1}"/>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C275D097-941C-1703-C431-A590F6D31992}"/>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D3F82594-D5D1-F0AE-9494-3A82E6E73AD8}"/>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829E7141-98C0-907C-DB91-33F188537511}"/>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A092CD3F-0C5D-3CD0-940B-3D236202B02E}"/>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629800C2-8A68-D061-AA96-2769856A0941}"/>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(3)</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场景理解</a:t>
            </a:r>
          </a:p>
        </p:txBody>
      </p:sp>
      <p:sp>
        <p:nvSpPr>
          <p:cNvPr id="29" name="椭圆 28">
            <a:extLst>
              <a:ext uri="{FF2B5EF4-FFF2-40B4-BE49-F238E27FC236}">
                <a16:creationId xmlns:a16="http://schemas.microsoft.com/office/drawing/2014/main" id="{7BE77820-BA88-2C25-A92C-FEDD44FFBCE7}"/>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3BC6C8C7-2B4E-A91F-BF8F-7DF2C61147D9}"/>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23</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D2E67C40-D44B-9EB0-4998-BABEFC7940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AC44141F-D3FC-5B6A-28ED-21E54004C389}"/>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4616C998-6D19-F74B-BC14-39F333EA4624}"/>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5E2B2291-9AF8-57F8-A2DB-80DD53A63C47}"/>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90230F6E-955D-9302-61FD-3702A5144A83}"/>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952DC41E-650D-7BD1-EC28-CAFCAD059B8B}"/>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6F80B2E9-8F92-930A-B648-4D8A908A0242}"/>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204545E0-4EC3-E6BB-1F1C-D857F34908EC}"/>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99BF3E8C-F6AD-CE4A-F967-D0FA08B1FA3A}"/>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D9088B2A-F049-1B4C-83D9-341891280942}"/>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5536D537-DBE7-BA4A-77E0-81F1FE17E2AA}"/>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6448582C-6ED8-C655-73B6-86512D2D32AB}"/>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82095B38-A85C-CACC-2496-9A80CAC1DEF3}"/>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912F2A3C-9E15-ADA9-F1F9-7F0A80B83FDA}"/>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grpSp>
        <p:nvGrpSpPr>
          <p:cNvPr id="2" name="组合 1">
            <a:extLst>
              <a:ext uri="{FF2B5EF4-FFF2-40B4-BE49-F238E27FC236}">
                <a16:creationId xmlns:a16="http://schemas.microsoft.com/office/drawing/2014/main" id="{96356FE6-0CFB-F838-99F4-C11207C719B9}"/>
              </a:ext>
            </a:extLst>
          </p:cNvPr>
          <p:cNvGrpSpPr/>
          <p:nvPr/>
        </p:nvGrpSpPr>
        <p:grpSpPr>
          <a:xfrm>
            <a:off x="1738610" y="3096287"/>
            <a:ext cx="572478" cy="2587716"/>
            <a:chOff x="6749564" y="3087174"/>
            <a:chExt cx="779809" cy="3017901"/>
          </a:xfrm>
        </p:grpSpPr>
        <p:sp>
          <p:nvSpPr>
            <p:cNvPr id="4" name="矩形: 圆角 3">
              <a:extLst>
                <a:ext uri="{FF2B5EF4-FFF2-40B4-BE49-F238E27FC236}">
                  <a16:creationId xmlns:a16="http://schemas.microsoft.com/office/drawing/2014/main" id="{B1F94B38-CE50-11C6-4516-5440466BD0E5}"/>
                </a:ext>
              </a:extLst>
            </p:cNvPr>
            <p:cNvSpPr/>
            <p:nvPr/>
          </p:nvSpPr>
          <p:spPr>
            <a:xfrm>
              <a:off x="6749564" y="3087174"/>
              <a:ext cx="779809" cy="3017901"/>
            </a:xfrm>
            <a:prstGeom prst="roundRect">
              <a:avLst/>
            </a:prstGeom>
            <a:gradFill>
              <a:gsLst>
                <a:gs pos="56000">
                  <a:srgbClr val="2A628C"/>
                </a:gs>
                <a:gs pos="17000">
                  <a:schemeClr val="tx2">
                    <a:lumMod val="20000"/>
                    <a:lumOff val="80000"/>
                  </a:schemeClr>
                </a:gs>
              </a:gsLst>
              <a:lin ang="5400000" scaled="0"/>
            </a:gradFill>
            <a:ln>
              <a:noFill/>
            </a:ln>
            <a:effectLst>
              <a:outerShdw blurRad="241300" dist="38100" dir="2700000" algn="tl" rotWithShape="0">
                <a:prstClr val="black">
                  <a:alpha val="4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DEEB5738-C96C-0132-769E-436FA82E98C0}"/>
                </a:ext>
              </a:extLst>
            </p:cNvPr>
            <p:cNvSpPr txBox="1"/>
            <p:nvPr/>
          </p:nvSpPr>
          <p:spPr>
            <a:xfrm rot="16200000">
              <a:off x="6224167" y="4389692"/>
              <a:ext cx="1830602" cy="369332"/>
            </a:xfrm>
            <a:prstGeom prst="rect">
              <a:avLst/>
            </a:prstGeom>
            <a:noFill/>
          </p:spPr>
          <p:txBody>
            <a:bodyPr vert="vert" wrap="square">
              <a:spAutoFit/>
            </a:bodyPr>
            <a:lstStyle/>
            <a:p>
              <a:r>
                <a:rPr lang="zh-CN" altLang="en-US" sz="1800" b="1" i="0" dirty="0">
                  <a:solidFill>
                    <a:schemeClr val="bg1"/>
                  </a:solidFill>
                  <a:effectLst/>
                  <a:latin typeface="方正小标宋简体" panose="02010601030101010101" pitchFamily="2" charset="-122"/>
                  <a:ea typeface="方正小标宋简体" panose="02010601030101010101" pitchFamily="2" charset="-122"/>
                </a:rPr>
                <a:t>三大子任务</a:t>
              </a:r>
              <a:endParaRPr lang="zh-CN" altLang="en-US" dirty="0">
                <a:solidFill>
                  <a:schemeClr val="bg1"/>
                </a:solidFill>
                <a:latin typeface="方正小标宋简体" panose="02010601030101010101" pitchFamily="2" charset="-122"/>
                <a:ea typeface="方正小标宋简体" panose="02010601030101010101" pitchFamily="2" charset="-122"/>
              </a:endParaRPr>
            </a:p>
          </p:txBody>
        </p:sp>
      </p:grpSp>
      <p:sp>
        <p:nvSpPr>
          <p:cNvPr id="6" name="左大括号 5">
            <a:extLst>
              <a:ext uri="{FF2B5EF4-FFF2-40B4-BE49-F238E27FC236}">
                <a16:creationId xmlns:a16="http://schemas.microsoft.com/office/drawing/2014/main" id="{766EE772-C498-2C8B-06C4-C273BB980FFE}"/>
              </a:ext>
            </a:extLst>
          </p:cNvPr>
          <p:cNvSpPr/>
          <p:nvPr/>
        </p:nvSpPr>
        <p:spPr>
          <a:xfrm>
            <a:off x="2492151" y="2297186"/>
            <a:ext cx="294591" cy="4332277"/>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0DC86283-AB94-450F-38ED-FF6B0F6788D9}"/>
              </a:ext>
            </a:extLst>
          </p:cNvPr>
          <p:cNvGrpSpPr/>
          <p:nvPr/>
        </p:nvGrpSpPr>
        <p:grpSpPr>
          <a:xfrm>
            <a:off x="2885275" y="2168714"/>
            <a:ext cx="8185716" cy="1030085"/>
            <a:chOff x="2885275" y="2168714"/>
            <a:chExt cx="8185716" cy="1030085"/>
          </a:xfrm>
        </p:grpSpPr>
        <p:sp>
          <p:nvSpPr>
            <p:cNvPr id="12" name="圆角矩形 1">
              <a:extLst>
                <a:ext uri="{FF2B5EF4-FFF2-40B4-BE49-F238E27FC236}">
                  <a16:creationId xmlns:a16="http://schemas.microsoft.com/office/drawing/2014/main" id="{9D58A592-0DCD-E410-75E4-FD96B5F0F3B7}"/>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zh-CN" dirty="0">
                  <a:solidFill>
                    <a:schemeClr val="tx1"/>
                  </a:solidFill>
                </a:rPr>
                <a:t>目标是把场景划分为有意义的区域。</a:t>
              </a:r>
              <a:r>
                <a:rPr lang="zh-CN" altLang="en-US" dirty="0">
                  <a:solidFill>
                    <a:schemeClr val="tx1"/>
                  </a:solidFill>
                </a:rPr>
                <a:t>分为</a:t>
              </a:r>
              <a:r>
                <a:rPr lang="zh-CN" altLang="zh-CN" b="1" dirty="0">
                  <a:solidFill>
                    <a:schemeClr val="tx1"/>
                  </a:solidFill>
                </a:rPr>
                <a:t>语义分割</a:t>
              </a:r>
              <a:r>
                <a:rPr lang="zh-CN" altLang="en-US" b="1" dirty="0">
                  <a:solidFill>
                    <a:schemeClr val="tx1"/>
                  </a:solidFill>
                </a:rPr>
                <a:t>，</a:t>
              </a:r>
              <a:r>
                <a:rPr lang="zh-CN" altLang="zh-CN" b="1" dirty="0">
                  <a:solidFill>
                    <a:schemeClr val="tx1"/>
                  </a:solidFill>
                </a:rPr>
                <a:t>实例分割</a:t>
              </a:r>
              <a:r>
                <a:rPr lang="zh-CN" altLang="en-US" b="1" dirty="0">
                  <a:solidFill>
                    <a:schemeClr val="tx1"/>
                  </a:solidFill>
                </a:rPr>
                <a:t>，</a:t>
              </a:r>
              <a:r>
                <a:rPr lang="zh-CN" altLang="zh-CN" b="1" dirty="0">
                  <a:solidFill>
                    <a:schemeClr val="tx1"/>
                  </a:solidFill>
                </a:rPr>
                <a:t>全景分割</a:t>
              </a: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24" name="圆角矩形 77">
              <a:extLst>
                <a:ext uri="{FF2B5EF4-FFF2-40B4-BE49-F238E27FC236}">
                  <a16:creationId xmlns:a16="http://schemas.microsoft.com/office/drawing/2014/main" id="{F6082C45-8E2C-7EDF-1622-0970CAB2AD63}"/>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zh-CN" b="1" dirty="0"/>
                <a:t>分割</a:t>
              </a:r>
            </a:p>
          </p:txBody>
        </p:sp>
      </p:grpSp>
      <p:grpSp>
        <p:nvGrpSpPr>
          <p:cNvPr id="34" name="组合 33">
            <a:extLst>
              <a:ext uri="{FF2B5EF4-FFF2-40B4-BE49-F238E27FC236}">
                <a16:creationId xmlns:a16="http://schemas.microsoft.com/office/drawing/2014/main" id="{A986850E-BD0B-E98F-38EA-1F88BE0EA460}"/>
              </a:ext>
            </a:extLst>
          </p:cNvPr>
          <p:cNvGrpSpPr/>
          <p:nvPr/>
        </p:nvGrpSpPr>
        <p:grpSpPr>
          <a:xfrm>
            <a:off x="2885275" y="3796873"/>
            <a:ext cx="8185716" cy="1030085"/>
            <a:chOff x="2885275" y="2168714"/>
            <a:chExt cx="8185716" cy="1030085"/>
          </a:xfrm>
        </p:grpSpPr>
        <p:sp>
          <p:nvSpPr>
            <p:cNvPr id="35" name="圆角矩形 1">
              <a:extLst>
                <a:ext uri="{FF2B5EF4-FFF2-40B4-BE49-F238E27FC236}">
                  <a16:creationId xmlns:a16="http://schemas.microsoft.com/office/drawing/2014/main" id="{CB8FDCFD-4B16-ABBB-E7F2-E91FE224419A}"/>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zh-CN" dirty="0">
                  <a:solidFill>
                    <a:schemeClr val="tx1"/>
                  </a:solidFill>
                </a:rPr>
                <a:t>在相机平面上呈现深度信息</a:t>
              </a:r>
              <a:r>
                <a:rPr lang="zh-CN" altLang="en-US" dirty="0">
                  <a:solidFill>
                    <a:schemeClr val="tx1"/>
                  </a:solidFill>
                </a:rPr>
                <a:t>，</a:t>
              </a:r>
              <a:r>
                <a:rPr lang="zh-CN" altLang="zh-CN" dirty="0">
                  <a:solidFill>
                    <a:schemeClr val="tx1"/>
                  </a:solidFill>
                </a:rPr>
                <a:t>测量每个像素相对于相机的距离</a:t>
              </a: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37" name="圆角矩形 77">
              <a:extLst>
                <a:ext uri="{FF2B5EF4-FFF2-40B4-BE49-F238E27FC236}">
                  <a16:creationId xmlns:a16="http://schemas.microsoft.com/office/drawing/2014/main" id="{67ED5A24-9AC7-BFA8-C749-BF0969405F4F}"/>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t>深度估计</a:t>
              </a:r>
              <a:endParaRPr lang="zh-CN" altLang="zh-CN" b="1" dirty="0"/>
            </a:p>
          </p:txBody>
        </p:sp>
      </p:grpSp>
      <p:grpSp>
        <p:nvGrpSpPr>
          <p:cNvPr id="38" name="组合 37">
            <a:extLst>
              <a:ext uri="{FF2B5EF4-FFF2-40B4-BE49-F238E27FC236}">
                <a16:creationId xmlns:a16="http://schemas.microsoft.com/office/drawing/2014/main" id="{CA7DDE28-4AB6-1C68-631A-AC4E165AC0C6}"/>
              </a:ext>
            </a:extLst>
          </p:cNvPr>
          <p:cNvGrpSpPr/>
          <p:nvPr/>
        </p:nvGrpSpPr>
        <p:grpSpPr>
          <a:xfrm>
            <a:off x="2885275" y="5536919"/>
            <a:ext cx="8185716" cy="1030085"/>
            <a:chOff x="2885275" y="2168714"/>
            <a:chExt cx="8185716" cy="1030085"/>
          </a:xfrm>
        </p:grpSpPr>
        <p:sp>
          <p:nvSpPr>
            <p:cNvPr id="39" name="圆角矩形 1">
              <a:extLst>
                <a:ext uri="{FF2B5EF4-FFF2-40B4-BE49-F238E27FC236}">
                  <a16:creationId xmlns:a16="http://schemas.microsoft.com/office/drawing/2014/main" id="{80CABB58-DD40-276A-93A0-EDFE21DC606D}"/>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zh-CN" dirty="0">
                  <a:solidFill>
                    <a:schemeClr val="tx1"/>
                  </a:solidFill>
                </a:rPr>
                <a:t>关注图像平面，表示数据帧期间的像素运动。</a:t>
              </a: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40" name="圆角矩形 77">
              <a:extLst>
                <a:ext uri="{FF2B5EF4-FFF2-40B4-BE49-F238E27FC236}">
                  <a16:creationId xmlns:a16="http://schemas.microsoft.com/office/drawing/2014/main" id="{DB7979EE-4749-7492-D49C-4EA72DC8F9DE}"/>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zh-CN" b="1" dirty="0"/>
                <a:t>流估计</a:t>
              </a:r>
            </a:p>
          </p:txBody>
        </p:sp>
      </p:grpSp>
    </p:spTree>
    <p:extLst>
      <p:ext uri="{BB962C8B-B14F-4D97-AF65-F5344CB8AC3E}">
        <p14:creationId xmlns:p14="http://schemas.microsoft.com/office/powerpoint/2010/main" val="1771793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5E012-9FEB-27AC-BF1F-4FA8F5623409}"/>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7789460F-ED6C-914D-DFCA-FBEDD04FB5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57D353F7-C12B-9852-765E-FCC2CBEDA8D1}"/>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1A98246E-B0C0-EB97-9CB4-3276E17BFAE5}"/>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1F06298A-0FDC-0ABD-DF90-399B21F71F5F}"/>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317B0D8-D898-D6B9-79FF-A42D52454AA4}"/>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C41E7A87-C66B-02AA-A307-BF2CFA824F89}"/>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C79AFAF9-C3DC-99D5-4307-3F9E89BF723F}"/>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332D726F-14FE-49C0-0468-52300495005A}"/>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(3)</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场景理解</a:t>
            </a:r>
          </a:p>
        </p:txBody>
      </p:sp>
      <p:sp>
        <p:nvSpPr>
          <p:cNvPr id="29" name="椭圆 28">
            <a:extLst>
              <a:ext uri="{FF2B5EF4-FFF2-40B4-BE49-F238E27FC236}">
                <a16:creationId xmlns:a16="http://schemas.microsoft.com/office/drawing/2014/main" id="{B62265C9-36EC-FC10-8DC1-B096C4B7353A}"/>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EE66F14B-A3B8-E3AD-DD76-83DC0E9A24A5}"/>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24</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F2FA216D-D6C9-1BEB-808C-CD79D9A059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1496C9DA-00F1-98A7-812A-9852CDB5A279}"/>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1BA955B9-DA3E-340D-CB5E-70D9B569FB9B}"/>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D575DF92-0AB9-39DA-66EE-315DBFE3F665}"/>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5E0C7B37-03D2-B235-0981-DB32DCE52C5A}"/>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49036C33-A639-30E7-1A7D-F9E50DD8B2CE}"/>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6668FB77-7ADD-AEA2-A01B-E24B82C08297}"/>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D3AA81B2-667A-43F9-E200-8FE3AA422578}"/>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3391DF88-7FC5-6375-B258-9263D07FA758}"/>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ACC9F020-C1B9-25C3-8932-DE4727366BA2}"/>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35E610F5-0DC8-1930-3C50-AA51638B9A9D}"/>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3D1BA4F9-962D-3D01-D22B-123ECEC82E48}"/>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1C36D7EB-5084-B22C-876B-8ED1BB1F0B96}"/>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4EBCE873-F38C-5A8D-FC60-A70C8F6BC54E}"/>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3" name="文本框 12">
            <a:extLst>
              <a:ext uri="{FF2B5EF4-FFF2-40B4-BE49-F238E27FC236}">
                <a16:creationId xmlns:a16="http://schemas.microsoft.com/office/drawing/2014/main" id="{2D4D2B64-C607-E803-28FF-341F6C54CF99}"/>
              </a:ext>
            </a:extLst>
          </p:cNvPr>
          <p:cNvSpPr txBox="1"/>
          <p:nvPr/>
        </p:nvSpPr>
        <p:spPr>
          <a:xfrm>
            <a:off x="2728384" y="1834955"/>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子任务一：分割</a:t>
            </a:r>
            <a:r>
              <a:rPr lang="en-US" altLang="zh-CN" sz="1800" b="1" i="0" dirty="0">
                <a:effectLst/>
                <a:latin typeface="方正小标宋简体" panose="02010601030101010101" pitchFamily="2" charset="-122"/>
                <a:ea typeface="方正小标宋简体" panose="02010601030101010101" pitchFamily="2" charset="-122"/>
              </a:rPr>
              <a:t>——</a:t>
            </a:r>
            <a:r>
              <a:rPr lang="zh-CN" altLang="en-US" sz="1800" b="1" i="0" dirty="0">
                <a:effectLst/>
                <a:latin typeface="方正小标宋简体" panose="02010601030101010101" pitchFamily="2" charset="-122"/>
                <a:ea typeface="方正小标宋简体" panose="02010601030101010101" pitchFamily="2" charset="-122"/>
              </a:rPr>
              <a:t>从语义分割到全景分割</a:t>
            </a:r>
            <a:endParaRPr lang="zh-CN" altLang="en-US" sz="1800" dirty="0">
              <a:latin typeface="方正小标宋简体" panose="02010601030101010101" pitchFamily="2" charset="-122"/>
              <a:ea typeface="方正小标宋简体" panose="02010601030101010101" pitchFamily="2" charset="-122"/>
            </a:endParaRPr>
          </a:p>
        </p:txBody>
      </p:sp>
      <p:sp>
        <p:nvSpPr>
          <p:cNvPr id="17" name="文本框 16">
            <a:extLst>
              <a:ext uri="{FF2B5EF4-FFF2-40B4-BE49-F238E27FC236}">
                <a16:creationId xmlns:a16="http://schemas.microsoft.com/office/drawing/2014/main" id="{66088687-D833-3289-DCE4-FC943B3177ED}"/>
              </a:ext>
            </a:extLst>
          </p:cNvPr>
          <p:cNvSpPr txBox="1"/>
          <p:nvPr/>
        </p:nvSpPr>
        <p:spPr>
          <a:xfrm>
            <a:off x="2728384" y="2185456"/>
            <a:ext cx="10402066" cy="360035"/>
          </a:xfrm>
          <a:prstGeom prst="rect">
            <a:avLst/>
          </a:prstGeom>
          <a:noFill/>
        </p:spPr>
        <p:txBody>
          <a:bodyPr wrap="square">
            <a:spAutoFit/>
          </a:bodyPr>
          <a:lstStyle/>
          <a:p>
            <a:pPr marL="0" marR="0" indent="0" algn="l">
              <a:lnSpc>
                <a:spcPct val="100000"/>
              </a:lnSpc>
              <a:spcBef>
                <a:spcPts val="2400"/>
              </a:spcBef>
              <a:spcAft>
                <a:spcPts val="1200"/>
              </a:spcAft>
              <a:buNone/>
            </a:pPr>
            <a:r>
              <a:rPr lang="zh-CN" altLang="zh-CN" sz="1800" b="1" dirty="0">
                <a:solidFill>
                  <a:schemeClr val="tx1"/>
                </a:solidFill>
                <a:effectLst/>
                <a:latin typeface="+mn-lt"/>
              </a:rPr>
              <a:t>路线一：语义分割</a:t>
            </a:r>
            <a:endParaRPr lang="zh-CN" altLang="zh-CN" sz="1500" b="1" dirty="0">
              <a:solidFill>
                <a:srgbClr val="0F1115"/>
              </a:solidFill>
              <a:effectLst/>
              <a:latin typeface="quote-cjk-patch"/>
            </a:endParaRPr>
          </a:p>
        </p:txBody>
      </p:sp>
      <p:sp>
        <p:nvSpPr>
          <p:cNvPr id="42" name="文本框 41">
            <a:extLst>
              <a:ext uri="{FF2B5EF4-FFF2-40B4-BE49-F238E27FC236}">
                <a16:creationId xmlns:a16="http://schemas.microsoft.com/office/drawing/2014/main" id="{F680B7F0-ABB0-83B4-C2DF-5419385C7358}"/>
              </a:ext>
            </a:extLst>
          </p:cNvPr>
          <p:cNvSpPr txBox="1"/>
          <p:nvPr/>
        </p:nvSpPr>
        <p:spPr>
          <a:xfrm>
            <a:off x="3764996" y="2578995"/>
            <a:ext cx="10402066" cy="276999"/>
          </a:xfrm>
          <a:prstGeom prst="rect">
            <a:avLst/>
          </a:prstGeom>
          <a:noFill/>
        </p:spPr>
        <p:txBody>
          <a:bodyPr wrap="square">
            <a:spAutoFit/>
          </a:bodyPr>
          <a:lstStyle/>
          <a:p>
            <a:r>
              <a:rPr lang="zh-CN" altLang="zh-CN" sz="1800" b="0" i="0" dirty="0">
                <a:solidFill>
                  <a:schemeClr val="tx1"/>
                </a:solidFill>
                <a:effectLst/>
                <a:latin typeface="+mn-lt"/>
              </a:rPr>
              <a:t>给每个像素标注语义类别，不区分同一类别的不同实例。</a:t>
            </a:r>
            <a:endParaRPr lang="zh-CN" altLang="en-US" dirty="0"/>
          </a:p>
        </p:txBody>
      </p:sp>
      <p:pic>
        <p:nvPicPr>
          <p:cNvPr id="43" name="table">
            <a:extLst>
              <a:ext uri="{FF2B5EF4-FFF2-40B4-BE49-F238E27FC236}">
                <a16:creationId xmlns:a16="http://schemas.microsoft.com/office/drawing/2014/main" id="{8A966859-DA04-1714-B9C1-15ED6D4459EF}"/>
              </a:ext>
            </a:extLst>
          </p:cNvPr>
          <p:cNvPicPr>
            <a:picLocks/>
          </p:cNvPicPr>
          <p:nvPr/>
        </p:nvPicPr>
        <p:blipFill>
          <a:blip r:embed="rId4"/>
          <a:srcRect b="15977"/>
          <a:stretch>
            <a:fillRect/>
          </a:stretch>
        </p:blipFill>
        <p:spPr>
          <a:xfrm>
            <a:off x="2608187" y="3000141"/>
            <a:ext cx="8048561" cy="3075403"/>
          </a:xfrm>
          <a:prstGeom prst="rect">
            <a:avLst/>
          </a:prstGeom>
        </p:spPr>
      </p:pic>
    </p:spTree>
    <p:extLst>
      <p:ext uri="{BB962C8B-B14F-4D97-AF65-F5344CB8AC3E}">
        <p14:creationId xmlns:p14="http://schemas.microsoft.com/office/powerpoint/2010/main" val="2289050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solidFill>
            <a:srgbClr val="2B6CB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1A365D"/>
                </a:solidFill>
                <a:latin typeface="Noto Sans SC"/>
                <a:ea typeface="Noto Sans SC"/>
                <a:cs typeface="Noto Sans SC"/>
                <a:sym typeface="Noto Sans SC"/>
              </a:rPr>
              <a:t>自动驾驶：面向道路场景的优化</a:t>
            </a:r>
            <a:endParaRPr lang="en-US" sz="1100" dirty="0"/>
          </a:p>
        </p:txBody>
      </p:sp>
      <p:cxnSp>
        <p:nvCxnSpPr>
          <p:cNvPr id="5" name="Connector 5"/>
          <p:cNvCxnSpPr/>
          <p:nvPr/>
        </p:nvCxnSpPr>
        <p:spPr>
          <a:xfrm rot="-4092">
            <a:off x="762004" y="1644650"/>
            <a:ext cx="10668000" cy="12700"/>
          </a:xfrm>
          <a:prstGeom prst="straightConnector1">
            <a:avLst/>
          </a:prstGeom>
          <a:solidFill>
            <a:srgbClr val="DEE0E3">
              <a:alpha val="100000"/>
            </a:srgbClr>
          </a:solidFill>
          <a:ln w="12700" cap="flat" cmpd="sng">
            <a:solidFill>
              <a:srgbClr val="BEE3F8">
                <a:alpha val="100000"/>
              </a:srgbClr>
            </a:solidFill>
            <a:prstDash val="solid"/>
            <a:round/>
            <a:headEnd type="none" w="med" len="med"/>
            <a:tailEnd type="none" w="med" len="med"/>
          </a:ln>
        </p:spPr>
      </p:cxnSp>
      <p:sp>
        <p:nvSpPr>
          <p:cNvPr id="6" name="AutoShape 6"/>
          <p:cNvSpPr/>
          <p:nvPr/>
        </p:nvSpPr>
        <p:spPr>
          <a:xfrm>
            <a:off x="762000" y="2032000"/>
            <a:ext cx="3302000" cy="1778000"/>
          </a:xfrm>
          <a:prstGeom prst="roundRect">
            <a:avLst>
              <a:gd name="adj" fmla="val 5714"/>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txBox="1"/>
          <p:nvPr/>
        </p:nvSpPr>
        <p:spPr>
          <a:xfrm>
            <a:off x="1016000" y="22860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18096"/>
                </a:solidFill>
                <a:latin typeface="Noto Sans SC"/>
                <a:ea typeface="Noto Sans SC"/>
                <a:cs typeface="Noto Sans SC"/>
                <a:sym typeface="Noto Sans SC"/>
              </a:rPr>
              <a:t>代表方法</a:t>
            </a:r>
            <a:endParaRPr lang="en-US" sz="1100"/>
          </a:p>
        </p:txBody>
      </p:sp>
      <p:sp>
        <p:nvSpPr>
          <p:cNvPr id="8" name="AutoShape 8"/>
          <p:cNvSpPr txBox="1"/>
          <p:nvPr/>
        </p:nvSpPr>
        <p:spPr>
          <a:xfrm>
            <a:off x="1016000" y="2667000"/>
            <a:ext cx="279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1" i="0" u="none" strike="noStrike">
                <a:solidFill>
                  <a:srgbClr val="2B6CB0"/>
                </a:solidFill>
                <a:latin typeface="Noto Sans SC"/>
                <a:ea typeface="Noto Sans SC"/>
                <a:cs typeface="Noto Sans SC"/>
                <a:sym typeface="Noto Sans SC"/>
              </a:rPr>
              <a:t>多尺度注意力</a:t>
            </a:r>
            <a:endParaRPr lang="en-US" sz="1100"/>
          </a:p>
          <a:p>
            <a:pPr marL="0" indent="0" algn="l">
              <a:lnSpc>
                <a:spcPct val="133333"/>
              </a:lnSpc>
            </a:pPr>
            <a:r>
              <a:rPr lang="en-US" sz="1400" b="1" i="0" u="none" strike="noStrike">
                <a:solidFill>
                  <a:srgbClr val="2B6CB0"/>
                </a:solidFill>
                <a:latin typeface="Noto Sans SC"/>
                <a:ea typeface="Noto Sans SC"/>
                <a:cs typeface="Noto Sans SC"/>
                <a:sym typeface="Noto Sans SC"/>
              </a:rPr>
              <a:t>边界感知模块</a:t>
            </a:r>
          </a:p>
          <a:p>
            <a:pPr marL="0" indent="0" algn="l">
              <a:lnSpc>
                <a:spcPct val="133333"/>
              </a:lnSpc>
            </a:pPr>
            <a:r>
              <a:rPr lang="en-US" sz="1400" b="1" i="0" u="none" strike="noStrike">
                <a:solidFill>
                  <a:srgbClr val="2B6CB0"/>
                </a:solidFill>
                <a:latin typeface="Noto Sans SC"/>
                <a:ea typeface="Noto Sans SC"/>
                <a:cs typeface="Noto Sans SC"/>
                <a:sym typeface="Noto Sans SC"/>
              </a:rPr>
              <a:t>跨类相关性 · 半监督</a:t>
            </a:r>
          </a:p>
        </p:txBody>
      </p:sp>
      <p:sp>
        <p:nvSpPr>
          <p:cNvPr id="9" name="AutoShape 9"/>
          <p:cNvSpPr/>
          <p:nvPr/>
        </p:nvSpPr>
        <p:spPr>
          <a:xfrm>
            <a:off x="4318000" y="2032000"/>
            <a:ext cx="4064000" cy="1778000"/>
          </a:xfrm>
          <a:prstGeom prst="roundRect">
            <a:avLst>
              <a:gd name="adj" fmla="val 5714"/>
            </a:avLst>
          </a:prstGeom>
          <a:solidFill>
            <a:srgbClr val="EB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txBox="1"/>
          <p:nvPr/>
        </p:nvSpPr>
        <p:spPr>
          <a:xfrm>
            <a:off x="4572000" y="22860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18096"/>
                </a:solidFill>
                <a:latin typeface="Noto Sans SC"/>
                <a:ea typeface="Noto Sans SC"/>
                <a:cs typeface="Noto Sans SC"/>
                <a:sym typeface="Noto Sans SC"/>
              </a:rPr>
              <a:t>核心贡献</a:t>
            </a:r>
            <a:endParaRPr lang="en-US" sz="1100"/>
          </a:p>
        </p:txBody>
      </p:sp>
      <p:sp>
        <p:nvSpPr>
          <p:cNvPr id="11" name="AutoShape 11"/>
          <p:cNvSpPr txBox="1"/>
          <p:nvPr/>
        </p:nvSpPr>
        <p:spPr>
          <a:xfrm>
            <a:off x="4572000" y="26670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a:solidFill>
                  <a:srgbClr val="2D3748"/>
                </a:solidFill>
                <a:latin typeface="Noto Sans SC"/>
                <a:ea typeface="Noto Sans SC"/>
                <a:cs typeface="Noto Sans SC"/>
                <a:sym typeface="Noto Sans SC"/>
              </a:rPr>
              <a:t>针对道路场景优化网络结构，引入半监督与弱监督学习，减少对大规模标注数据的依赖</a:t>
            </a:r>
            <a:endParaRPr lang="en-US" sz="1100"/>
          </a:p>
        </p:txBody>
      </p:sp>
      <p:sp>
        <p:nvSpPr>
          <p:cNvPr id="12" name="AutoShape 12"/>
          <p:cNvSpPr/>
          <p:nvPr/>
        </p:nvSpPr>
        <p:spPr>
          <a:xfrm>
            <a:off x="8636000" y="2032000"/>
            <a:ext cx="2794000" cy="1778000"/>
          </a:xfrm>
          <a:prstGeom prst="roundRect">
            <a:avLst>
              <a:gd name="adj" fmla="val 5714"/>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txBox="1"/>
          <p:nvPr/>
        </p:nvSpPr>
        <p:spPr>
          <a:xfrm>
            <a:off x="8890000" y="22860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B45050"/>
                </a:solidFill>
                <a:latin typeface="Noto Sans SC"/>
                <a:ea typeface="Noto Sans SC"/>
                <a:cs typeface="Noto Sans SC"/>
                <a:sym typeface="Noto Sans SC"/>
              </a:rPr>
              <a:t>技术瓶颈</a:t>
            </a:r>
            <a:endParaRPr lang="en-US" sz="1100"/>
          </a:p>
        </p:txBody>
      </p:sp>
      <p:sp>
        <p:nvSpPr>
          <p:cNvPr id="14" name="AutoShape 14"/>
          <p:cNvSpPr txBox="1"/>
          <p:nvPr/>
        </p:nvSpPr>
        <p:spPr>
          <a:xfrm>
            <a:off x="8890000" y="2667000"/>
            <a:ext cx="254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a:solidFill>
                  <a:srgbClr val="2D3748"/>
                </a:solidFill>
                <a:latin typeface="Noto Sans SC"/>
                <a:ea typeface="Noto Sans SC"/>
                <a:cs typeface="Noto Sans SC"/>
                <a:sym typeface="Noto Sans SC"/>
              </a:rPr>
              <a:t>高精度标注数据仍需求巨大</a:t>
            </a:r>
            <a:endParaRPr lang="en-US" sz="1100"/>
          </a:p>
        </p:txBody>
      </p:sp>
      <p:sp>
        <p:nvSpPr>
          <p:cNvPr id="15" name="AutoShape 15"/>
          <p:cNvSpPr txBox="1"/>
          <p:nvPr/>
        </p:nvSpPr>
        <p:spPr>
          <a:xfrm>
            <a:off x="762000" y="3604243"/>
            <a:ext cx="1066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1" i="0" u="none" strike="noStrike">
                <a:solidFill>
                  <a:srgbClr val="2B6CB0"/>
                </a:solidFill>
                <a:latin typeface="Noto Sans SC"/>
                <a:ea typeface="Noto Sans SC"/>
                <a:cs typeface="Noto Sans SC"/>
                <a:sym typeface="Noto Sans SC"/>
              </a:rPr>
              <a:t>场景驱动：</a:t>
            </a:r>
            <a:r>
              <a:rPr lang="en-US" sz="1400" b="0" i="0" u="none" strike="noStrike">
                <a:solidFill>
                  <a:srgbClr val="718096"/>
                </a:solidFill>
                <a:latin typeface="Noto Sans SC"/>
                <a:ea typeface="Noto Sans SC"/>
                <a:cs typeface="Noto Sans SC"/>
                <a:sym typeface="Noto Sans SC"/>
              </a:rPr>
              <a:t>自动驾驶对分割的实时性、边界精度和小目标检测有极高要求，催生了专门的网络结构设计和训练范式。</a:t>
            </a:r>
            <a:endParaRPr lang="en-US" sz="1100"/>
          </a:p>
          <a:p>
            <a:pPr marL="0" indent="0" algn="l">
              <a:lnSpc>
                <a:spcPct val="150000"/>
              </a:lnSpc>
            </a:pPr>
            <a:r>
              <a:rPr lang="en-US" sz="1400" b="1" i="0" u="none" strike="noStrike">
                <a:solidFill>
                  <a:srgbClr val="2B6CB0"/>
                </a:solidFill>
                <a:latin typeface="Noto Sans SC"/>
                <a:ea typeface="Noto Sans SC"/>
                <a:cs typeface="Noto Sans SC"/>
                <a:sym typeface="Noto Sans SC"/>
              </a:rPr>
              <a:t>未来方向：</a:t>
            </a:r>
            <a:r>
              <a:rPr lang="en-US" sz="1400" b="0" i="0" u="none" strike="noStrike">
                <a:solidFill>
                  <a:srgbClr val="718096"/>
                </a:solidFill>
                <a:latin typeface="Noto Sans SC"/>
                <a:ea typeface="Noto Sans SC"/>
                <a:cs typeface="Noto Sans SC"/>
                <a:sym typeface="Noto Sans SC"/>
              </a:rPr>
              <a:t>半监督、弱监督、域自适应和合成数据生成是当前减少标注成本、提升泛化能力的核心研究方向。</a:t>
            </a:r>
            <a:endParaRPr lang="en-US" sz="1400" b="0" i="0" u="none" strike="noStrike" dirty="0">
              <a:solidFill>
                <a:srgbClr val="718096"/>
              </a:solidFill>
              <a:latin typeface="Noto Sans SC"/>
              <a:ea typeface="Noto Sans SC"/>
              <a:cs typeface="Noto Sans SC"/>
              <a:sym typeface="Noto Sans SC"/>
            </a:endParaRPr>
          </a:p>
        </p:txBody>
      </p:sp>
      <p:sp>
        <p:nvSpPr>
          <p:cNvPr id="17" name="文本框 16">
            <a:extLst>
              <a:ext uri="{FF2B5EF4-FFF2-40B4-BE49-F238E27FC236}">
                <a16:creationId xmlns:a16="http://schemas.microsoft.com/office/drawing/2014/main" id="{4F1F207D-7792-D843-F462-F2F46D7058A1}"/>
              </a:ext>
            </a:extLst>
          </p:cNvPr>
          <p:cNvSpPr txBox="1"/>
          <p:nvPr/>
        </p:nvSpPr>
        <p:spPr>
          <a:xfrm>
            <a:off x="1016000" y="4865157"/>
            <a:ext cx="9796046" cy="738664"/>
          </a:xfrm>
          <a:prstGeom prst="rect">
            <a:avLst/>
          </a:prstGeom>
          <a:noFill/>
        </p:spPr>
        <p:txBody>
          <a:bodyPr wrap="square">
            <a:spAutoFit/>
          </a:bodyPr>
          <a:lstStyle/>
          <a:p>
            <a:r>
              <a:rPr lang="zh-CN" altLang="zh-CN" sz="1400" b="0" i="0" dirty="0">
                <a:solidFill>
                  <a:schemeClr val="tx1"/>
                </a:solidFill>
                <a:effectLst/>
                <a:latin typeface="+mn-lt"/>
              </a:rPr>
              <a:t>语义分割最早由 FCN 在 2015 年实现端到端训练，用卷积层恢复输出尺寸，但分辨率低、细节丢失；随后 SegNet、U-Net 引入编码器-解码器和跳跃连接，DeepLab 系列用空洞卷积和 ASPP 解决多尺度问题，CRF 后处理细化边界，自动驾驶中则进一步引入多尺度注意力、边界感知模块和半监督学习，重点应对道路特殊类别、遮挡和标注不足。</a:t>
            </a:r>
            <a:endParaRPr lang="zh-CN" alt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BBF7-7AC0-72C3-7050-B386765A669F}"/>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AC487F04-4D4A-71E2-2C69-0631994B259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6CE66857-1C76-997F-D565-97725DB35BBE}"/>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01BEAFF3-00BF-0DF3-0F25-9D59777A5803}"/>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22726107-3D8F-35F1-418A-CB31584B080E}"/>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E44C8F32-BCC9-22B0-336E-E0C775C2824F}"/>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92F99F2C-104A-9AB2-E4A3-670D41AFCB47}"/>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C4CF9779-71BD-0B33-3136-C8C40F857BB0}"/>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ADF0DD7C-83C4-DF33-724D-854A4F45920E}"/>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(3)</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场景理解</a:t>
            </a:r>
          </a:p>
        </p:txBody>
      </p:sp>
      <p:sp>
        <p:nvSpPr>
          <p:cNvPr id="29" name="椭圆 28">
            <a:extLst>
              <a:ext uri="{FF2B5EF4-FFF2-40B4-BE49-F238E27FC236}">
                <a16:creationId xmlns:a16="http://schemas.microsoft.com/office/drawing/2014/main" id="{846AA5BE-BD68-391A-F60D-ACBFB473F4E9}"/>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270CDC9A-5859-8FA1-A55C-B92DA2E1B419}"/>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26</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2CAD06D2-90B3-723A-4E1F-8435E36BD4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149C524E-FD0B-210B-F965-6ED0CC438A66}"/>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5B08F6F8-5BA1-2834-2E95-0D97AD8CF8E6}"/>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70C564B0-AB5A-616C-5AC4-B2524FB96DA4}"/>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219AFF58-9622-D9D7-BA4D-57CB36DB28B9}"/>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1D30B00D-1393-8ED6-8AA9-5C16BE7C23BB}"/>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9798E2D6-0582-3697-7447-9DEC229F5DEB}"/>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AFC47A6C-2120-D0E2-AB6F-FB7DB78611B0}"/>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12D30FDE-1F14-3E44-0D41-A1BF38194F33}"/>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71DF0F96-8B72-1B31-4EDC-2040C5F32784}"/>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D144D252-303B-54E0-8695-F9510A608692}"/>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5D992462-5C04-29B5-6C1F-B02EB1B9E59E}"/>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9542D7ED-25D4-70C3-4EA9-41E999AC9677}"/>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6B2F4C2D-A9CE-F548-2114-4873AD2B9EBB}"/>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3" name="文本框 12">
            <a:extLst>
              <a:ext uri="{FF2B5EF4-FFF2-40B4-BE49-F238E27FC236}">
                <a16:creationId xmlns:a16="http://schemas.microsoft.com/office/drawing/2014/main" id="{CC9437E3-E524-F0AA-4B8A-4442BD4F872B}"/>
              </a:ext>
            </a:extLst>
          </p:cNvPr>
          <p:cNvSpPr txBox="1"/>
          <p:nvPr/>
        </p:nvSpPr>
        <p:spPr>
          <a:xfrm>
            <a:off x="2728384" y="1834955"/>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子任务一：分割</a:t>
            </a:r>
            <a:r>
              <a:rPr lang="en-US" altLang="zh-CN" sz="1800" b="1" i="0" dirty="0">
                <a:effectLst/>
                <a:latin typeface="方正小标宋简体" panose="02010601030101010101" pitchFamily="2" charset="-122"/>
                <a:ea typeface="方正小标宋简体" panose="02010601030101010101" pitchFamily="2" charset="-122"/>
              </a:rPr>
              <a:t>——</a:t>
            </a:r>
            <a:r>
              <a:rPr lang="zh-CN" altLang="en-US" sz="1800" b="1" i="0" dirty="0">
                <a:effectLst/>
                <a:latin typeface="方正小标宋简体" panose="02010601030101010101" pitchFamily="2" charset="-122"/>
                <a:ea typeface="方正小标宋简体" panose="02010601030101010101" pitchFamily="2" charset="-122"/>
              </a:rPr>
              <a:t>从语义分割到全景分割</a:t>
            </a:r>
            <a:endParaRPr lang="zh-CN" altLang="en-US" sz="1800" dirty="0">
              <a:latin typeface="方正小标宋简体" panose="02010601030101010101" pitchFamily="2" charset="-122"/>
              <a:ea typeface="方正小标宋简体" panose="02010601030101010101" pitchFamily="2" charset="-122"/>
            </a:endParaRPr>
          </a:p>
        </p:txBody>
      </p:sp>
      <p:sp>
        <p:nvSpPr>
          <p:cNvPr id="17" name="文本框 16">
            <a:extLst>
              <a:ext uri="{FF2B5EF4-FFF2-40B4-BE49-F238E27FC236}">
                <a16:creationId xmlns:a16="http://schemas.microsoft.com/office/drawing/2014/main" id="{17A2FD2E-6973-9FB1-FC76-828E5BDE0D51}"/>
              </a:ext>
            </a:extLst>
          </p:cNvPr>
          <p:cNvSpPr txBox="1"/>
          <p:nvPr/>
        </p:nvSpPr>
        <p:spPr>
          <a:xfrm>
            <a:off x="2728384" y="2185456"/>
            <a:ext cx="10402066" cy="369332"/>
          </a:xfrm>
          <a:prstGeom prst="rect">
            <a:avLst/>
          </a:prstGeom>
          <a:noFill/>
        </p:spPr>
        <p:txBody>
          <a:bodyPr wrap="square">
            <a:spAutoFit/>
          </a:bodyPr>
          <a:lstStyle/>
          <a:p>
            <a:r>
              <a:rPr lang="zh-CN" altLang="zh-CN" b="1" dirty="0"/>
              <a:t>路线二：实例分割</a:t>
            </a:r>
          </a:p>
        </p:txBody>
      </p:sp>
      <p:sp>
        <p:nvSpPr>
          <p:cNvPr id="42" name="文本框 41">
            <a:extLst>
              <a:ext uri="{FF2B5EF4-FFF2-40B4-BE49-F238E27FC236}">
                <a16:creationId xmlns:a16="http://schemas.microsoft.com/office/drawing/2014/main" id="{B12808AD-8611-493F-242C-B5487FC9FEDA}"/>
              </a:ext>
            </a:extLst>
          </p:cNvPr>
          <p:cNvSpPr txBox="1"/>
          <p:nvPr/>
        </p:nvSpPr>
        <p:spPr>
          <a:xfrm>
            <a:off x="3764996" y="2578995"/>
            <a:ext cx="10402066" cy="369332"/>
          </a:xfrm>
          <a:prstGeom prst="rect">
            <a:avLst/>
          </a:prstGeom>
          <a:noFill/>
        </p:spPr>
        <p:txBody>
          <a:bodyPr wrap="square">
            <a:spAutoFit/>
          </a:bodyPr>
          <a:lstStyle/>
          <a:p>
            <a:r>
              <a:rPr lang="zh-CN" altLang="zh-CN" dirty="0"/>
              <a:t>预测每个物体实例的掩码和类别，区分同一类别的不同实例</a:t>
            </a:r>
            <a:endParaRPr lang="zh-CN" altLang="en-US" dirty="0"/>
          </a:p>
        </p:txBody>
      </p:sp>
      <p:pic>
        <p:nvPicPr>
          <p:cNvPr id="4" name="table">
            <a:extLst>
              <a:ext uri="{FF2B5EF4-FFF2-40B4-BE49-F238E27FC236}">
                <a16:creationId xmlns:a16="http://schemas.microsoft.com/office/drawing/2014/main" id="{DCF6901E-747B-EEE3-4B92-8197206CA2BE}"/>
              </a:ext>
            </a:extLst>
          </p:cNvPr>
          <p:cNvPicPr>
            <a:picLocks noChangeAspect="1"/>
          </p:cNvPicPr>
          <p:nvPr/>
        </p:nvPicPr>
        <p:blipFill>
          <a:blip r:embed="rId4"/>
          <a:stretch>
            <a:fillRect/>
          </a:stretch>
        </p:blipFill>
        <p:spPr>
          <a:xfrm>
            <a:off x="2568824" y="3083170"/>
            <a:ext cx="8091519" cy="3641184"/>
          </a:xfrm>
          <a:prstGeom prst="rect">
            <a:avLst/>
          </a:prstGeom>
        </p:spPr>
      </p:pic>
    </p:spTree>
    <p:extLst>
      <p:ext uri="{BB962C8B-B14F-4D97-AF65-F5344CB8AC3E}">
        <p14:creationId xmlns:p14="http://schemas.microsoft.com/office/powerpoint/2010/main" val="2882243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3ED1F-D8FC-3809-0C63-DF21ABFD21D6}"/>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28069068-7932-A594-7BB3-D3B6D9F837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412ED006-04C7-74FC-F4F8-A1AE0FFAC12C}"/>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2B26B7FA-FE51-0BF6-96AF-9C6DDD1D64D1}"/>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423FE4B1-3C89-FE1C-0F48-C59A922783C3}"/>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E1993A3E-D6F1-8533-AF55-DE7666ADAC4F}"/>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F45615AC-9A86-A07B-CA96-98C695BB5660}"/>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E12A16B7-B274-7F2B-C8E1-1E8DB1F88060}"/>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E493E2D6-2455-32E3-EE53-EF1FEDD324A0}"/>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(3)</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场景理解</a:t>
            </a:r>
          </a:p>
        </p:txBody>
      </p:sp>
      <p:sp>
        <p:nvSpPr>
          <p:cNvPr id="29" name="椭圆 28">
            <a:extLst>
              <a:ext uri="{FF2B5EF4-FFF2-40B4-BE49-F238E27FC236}">
                <a16:creationId xmlns:a16="http://schemas.microsoft.com/office/drawing/2014/main" id="{4A7736DC-7893-0FCB-20F2-9E2EC6ED1B44}"/>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1C457619-DF02-6113-A848-E612D97BD6E1}"/>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27</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51C15848-02DB-F2AF-9DB3-EB560F7B19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60192E33-86A5-B76E-F504-FD17B2260988}"/>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FC97C889-9192-8FEF-271E-F01B36F278C3}"/>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68AA3240-A0FF-E1FF-8932-DB269330F76B}"/>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595D1197-690A-ACE4-E08B-0B66890FC0FA}"/>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B5362699-E23F-4AA9-B85D-33194946A1C1}"/>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617A157D-D042-7D54-CDA4-7DFCFBB96B81}"/>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C23EC60C-C984-DF5F-3D9D-3B99162A18C9}"/>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7711BAFA-2DBF-60A7-F8F0-D800DF3472CF}"/>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27DC0C18-B08E-045D-B493-C0FAA0B97389}"/>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A23F9F96-41EB-6640-7DA3-1EFA51C0B907}"/>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26BC2CBA-DF73-461C-BF59-C721CB2EDB0B}"/>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8FECE758-AAA1-D67D-ED6A-B382D0D92C8F}"/>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965A7868-0AAD-00D9-0916-D7FF591C1A27}"/>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3" name="文本框 12">
            <a:extLst>
              <a:ext uri="{FF2B5EF4-FFF2-40B4-BE49-F238E27FC236}">
                <a16:creationId xmlns:a16="http://schemas.microsoft.com/office/drawing/2014/main" id="{1E192244-4D86-98AC-F25E-F349469085C1}"/>
              </a:ext>
            </a:extLst>
          </p:cNvPr>
          <p:cNvSpPr txBox="1"/>
          <p:nvPr/>
        </p:nvSpPr>
        <p:spPr>
          <a:xfrm>
            <a:off x="2728384" y="1834955"/>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子任务一：分割</a:t>
            </a:r>
            <a:r>
              <a:rPr lang="en-US" altLang="zh-CN" sz="1800" b="1" i="0" dirty="0">
                <a:effectLst/>
                <a:latin typeface="方正小标宋简体" panose="02010601030101010101" pitchFamily="2" charset="-122"/>
                <a:ea typeface="方正小标宋简体" panose="02010601030101010101" pitchFamily="2" charset="-122"/>
              </a:rPr>
              <a:t>——</a:t>
            </a:r>
            <a:r>
              <a:rPr lang="zh-CN" altLang="en-US" sz="1800" b="1" i="0" dirty="0">
                <a:effectLst/>
                <a:latin typeface="方正小标宋简体" panose="02010601030101010101" pitchFamily="2" charset="-122"/>
                <a:ea typeface="方正小标宋简体" panose="02010601030101010101" pitchFamily="2" charset="-122"/>
              </a:rPr>
              <a:t>从语义分割到全景分割</a:t>
            </a:r>
            <a:endParaRPr lang="zh-CN" altLang="en-US" sz="1800" dirty="0">
              <a:latin typeface="方正小标宋简体" panose="02010601030101010101" pitchFamily="2" charset="-122"/>
              <a:ea typeface="方正小标宋简体" panose="02010601030101010101" pitchFamily="2" charset="-122"/>
            </a:endParaRPr>
          </a:p>
        </p:txBody>
      </p:sp>
      <p:sp>
        <p:nvSpPr>
          <p:cNvPr id="17" name="文本框 16">
            <a:extLst>
              <a:ext uri="{FF2B5EF4-FFF2-40B4-BE49-F238E27FC236}">
                <a16:creationId xmlns:a16="http://schemas.microsoft.com/office/drawing/2014/main" id="{33383DA4-2030-8597-C159-72D51F4A6A3F}"/>
              </a:ext>
            </a:extLst>
          </p:cNvPr>
          <p:cNvSpPr txBox="1"/>
          <p:nvPr/>
        </p:nvSpPr>
        <p:spPr>
          <a:xfrm>
            <a:off x="2728384" y="2185456"/>
            <a:ext cx="10402066" cy="369332"/>
          </a:xfrm>
          <a:prstGeom prst="rect">
            <a:avLst/>
          </a:prstGeom>
          <a:noFill/>
        </p:spPr>
        <p:txBody>
          <a:bodyPr wrap="square">
            <a:spAutoFit/>
          </a:bodyPr>
          <a:lstStyle/>
          <a:p>
            <a:r>
              <a:rPr lang="zh-CN" altLang="zh-CN" b="1" dirty="0"/>
              <a:t>路线二：实例分割</a:t>
            </a:r>
          </a:p>
        </p:txBody>
      </p:sp>
      <p:sp>
        <p:nvSpPr>
          <p:cNvPr id="42" name="文本框 41">
            <a:extLst>
              <a:ext uri="{FF2B5EF4-FFF2-40B4-BE49-F238E27FC236}">
                <a16:creationId xmlns:a16="http://schemas.microsoft.com/office/drawing/2014/main" id="{7CA86497-BCE3-A155-475A-4064C39F5745}"/>
              </a:ext>
            </a:extLst>
          </p:cNvPr>
          <p:cNvSpPr txBox="1"/>
          <p:nvPr/>
        </p:nvSpPr>
        <p:spPr>
          <a:xfrm>
            <a:off x="3764996" y="2578995"/>
            <a:ext cx="10402066" cy="369332"/>
          </a:xfrm>
          <a:prstGeom prst="rect">
            <a:avLst/>
          </a:prstGeom>
          <a:noFill/>
        </p:spPr>
        <p:txBody>
          <a:bodyPr wrap="square">
            <a:spAutoFit/>
          </a:bodyPr>
          <a:lstStyle/>
          <a:p>
            <a:r>
              <a:rPr lang="zh-CN" altLang="zh-CN" dirty="0"/>
              <a:t>预测每个物体实例的掩码和类别，区分同一类别的不同实例</a:t>
            </a:r>
            <a:endParaRPr lang="zh-CN" altLang="en-US" dirty="0"/>
          </a:p>
        </p:txBody>
      </p:sp>
      <p:sp>
        <p:nvSpPr>
          <p:cNvPr id="5" name="文本框 4">
            <a:extLst>
              <a:ext uri="{FF2B5EF4-FFF2-40B4-BE49-F238E27FC236}">
                <a16:creationId xmlns:a16="http://schemas.microsoft.com/office/drawing/2014/main" id="{8407909A-A7A6-C92D-1170-9DAA0FE3827F}"/>
              </a:ext>
            </a:extLst>
          </p:cNvPr>
          <p:cNvSpPr txBox="1"/>
          <p:nvPr/>
        </p:nvSpPr>
        <p:spPr>
          <a:xfrm>
            <a:off x="3172783" y="3389275"/>
            <a:ext cx="7673215" cy="2031325"/>
          </a:xfrm>
          <a:prstGeom prst="rect">
            <a:avLst/>
          </a:prstGeom>
          <a:noFill/>
        </p:spPr>
        <p:txBody>
          <a:bodyPr wrap="square">
            <a:spAutoFit/>
          </a:bodyPr>
          <a:lstStyle/>
          <a:p>
            <a:r>
              <a:rPr lang="zh-CN" altLang="zh-CN" sz="1800" b="0" i="0" dirty="0">
                <a:solidFill>
                  <a:schemeClr val="tx1"/>
                </a:solidFill>
                <a:effectLst/>
                <a:latin typeface="+mn-lt"/>
              </a:rPr>
              <a:t>实例分割要解决“区分每个实例”的问题。Mask R-CNN 在 2017 年扩展 Faster R-CNN，用 RoI Align 和二值分割同时输出检测框和掩码，成为经典基线；后续改进引入系数网络、IoU 分数和形状先验来细化掩码，BlendMask、SOLOv2 等单阶段方法去掉检测框依赖，速度大幅提升。自动驾驶中，实例分割进一步引入 3D 几何信息、边界识别和视频多帧输入，但标注成本极高，实时性仍是瓶颈。实例分割只关注前景物体，不标注背景，因此需要与语义分割结合。</a:t>
            </a:r>
            <a:endParaRPr lang="zh-CN" altLang="en-US" dirty="0"/>
          </a:p>
        </p:txBody>
      </p:sp>
    </p:spTree>
    <p:extLst>
      <p:ext uri="{BB962C8B-B14F-4D97-AF65-F5344CB8AC3E}">
        <p14:creationId xmlns:p14="http://schemas.microsoft.com/office/powerpoint/2010/main" val="3214011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F1A4A-E9E9-1755-0D20-6AA16C91C1C1}"/>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6F3A943C-4704-523E-384F-32D73D56D4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8CF49AD9-FB94-C4F9-B71A-8CFF6C5EC7A1}"/>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BFCC4ED3-5DD3-31C5-47CB-E942B629E6EA}"/>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7A4DB7F7-391E-6002-0324-36A7E45808DF}"/>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E7B8844C-B3AA-546B-B005-3DAE731204CB}"/>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01AD207B-6FD0-512D-4B3B-C7D98F48080E}"/>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77FC71D9-A3A5-557D-F74F-AA97572DD5F1}"/>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3A304074-C904-2633-60EE-AF13031746F4}"/>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(3)</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场景理解</a:t>
            </a:r>
          </a:p>
        </p:txBody>
      </p:sp>
      <p:sp>
        <p:nvSpPr>
          <p:cNvPr id="29" name="椭圆 28">
            <a:extLst>
              <a:ext uri="{FF2B5EF4-FFF2-40B4-BE49-F238E27FC236}">
                <a16:creationId xmlns:a16="http://schemas.microsoft.com/office/drawing/2014/main" id="{C364111A-008A-1513-D367-24472716FC9D}"/>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A89D6C84-D535-4B1D-2858-78E563218A2B}"/>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28</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853A4B27-E4F7-6F2D-2851-89D57576EA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D10CE85F-AB83-606D-1230-7892B8F8336A}"/>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0700A1C7-6C9E-5221-073C-10B7B7637B3F}"/>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DC00DC79-5606-370C-50AF-7B2E2D3CE071}"/>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2A69232E-97EA-5C17-F492-6CB862D3735E}"/>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5B860DE6-91B9-9977-A07B-3CF195F1893F}"/>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8B7C360E-4955-51DD-2839-4CDB17C3A0AA}"/>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35D5E460-F61A-BAA2-71D7-94AE1DF08858}"/>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80BB3093-CE52-F534-E270-F3C94A52FC3A}"/>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F9F0ED7E-E269-22B2-A5F4-B89B99EB2B52}"/>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5591BB65-CC04-71EF-C65D-A14F5B6332D6}"/>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01E1BF46-2AAA-8730-A4A5-5B65C045DC37}"/>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33D2DD58-373C-9913-2251-26E4549C9F40}"/>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0B9FC25D-E432-9A4A-94D8-833253EFC344}"/>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3" name="文本框 12">
            <a:extLst>
              <a:ext uri="{FF2B5EF4-FFF2-40B4-BE49-F238E27FC236}">
                <a16:creationId xmlns:a16="http://schemas.microsoft.com/office/drawing/2014/main" id="{6A81C438-5319-67E2-1B2E-1D613400F6B7}"/>
              </a:ext>
            </a:extLst>
          </p:cNvPr>
          <p:cNvSpPr txBox="1"/>
          <p:nvPr/>
        </p:nvSpPr>
        <p:spPr>
          <a:xfrm>
            <a:off x="2728384" y="1834955"/>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子任务一：分割</a:t>
            </a:r>
            <a:r>
              <a:rPr lang="en-US" altLang="zh-CN" sz="1800" b="1" i="0" dirty="0">
                <a:effectLst/>
                <a:latin typeface="方正小标宋简体" panose="02010601030101010101" pitchFamily="2" charset="-122"/>
                <a:ea typeface="方正小标宋简体" panose="02010601030101010101" pitchFamily="2" charset="-122"/>
              </a:rPr>
              <a:t>——</a:t>
            </a:r>
            <a:r>
              <a:rPr lang="zh-CN" altLang="en-US" sz="1800" b="1" i="0" dirty="0">
                <a:effectLst/>
                <a:latin typeface="方正小标宋简体" panose="02010601030101010101" pitchFamily="2" charset="-122"/>
                <a:ea typeface="方正小标宋简体" panose="02010601030101010101" pitchFamily="2" charset="-122"/>
              </a:rPr>
              <a:t>从语义分割到全景分割</a:t>
            </a:r>
            <a:endParaRPr lang="zh-CN" altLang="en-US" sz="1800" dirty="0">
              <a:latin typeface="方正小标宋简体" panose="02010601030101010101" pitchFamily="2" charset="-122"/>
              <a:ea typeface="方正小标宋简体" panose="02010601030101010101" pitchFamily="2" charset="-122"/>
            </a:endParaRPr>
          </a:p>
        </p:txBody>
      </p:sp>
      <p:sp>
        <p:nvSpPr>
          <p:cNvPr id="17" name="文本框 16">
            <a:extLst>
              <a:ext uri="{FF2B5EF4-FFF2-40B4-BE49-F238E27FC236}">
                <a16:creationId xmlns:a16="http://schemas.microsoft.com/office/drawing/2014/main" id="{9361E1EA-19C4-8880-7B61-668F4AB68ADD}"/>
              </a:ext>
            </a:extLst>
          </p:cNvPr>
          <p:cNvSpPr txBox="1"/>
          <p:nvPr/>
        </p:nvSpPr>
        <p:spPr>
          <a:xfrm>
            <a:off x="2728384" y="2185456"/>
            <a:ext cx="10402066" cy="369332"/>
          </a:xfrm>
          <a:prstGeom prst="rect">
            <a:avLst/>
          </a:prstGeom>
          <a:noFill/>
        </p:spPr>
        <p:txBody>
          <a:bodyPr wrap="square">
            <a:spAutoFit/>
          </a:bodyPr>
          <a:lstStyle/>
          <a:p>
            <a:r>
              <a:rPr lang="zh-CN" altLang="en-US" b="1" dirty="0"/>
              <a:t>路线三：全景分割</a:t>
            </a:r>
            <a:endParaRPr lang="zh-CN" altLang="zh-CN" b="1" dirty="0"/>
          </a:p>
        </p:txBody>
      </p:sp>
      <p:sp>
        <p:nvSpPr>
          <p:cNvPr id="42" name="文本框 41">
            <a:extLst>
              <a:ext uri="{FF2B5EF4-FFF2-40B4-BE49-F238E27FC236}">
                <a16:creationId xmlns:a16="http://schemas.microsoft.com/office/drawing/2014/main" id="{344540DD-EE69-D63D-5B1E-58F2104FC9A7}"/>
              </a:ext>
            </a:extLst>
          </p:cNvPr>
          <p:cNvSpPr txBox="1"/>
          <p:nvPr/>
        </p:nvSpPr>
        <p:spPr>
          <a:xfrm>
            <a:off x="3458150" y="2583718"/>
            <a:ext cx="10402066" cy="369332"/>
          </a:xfrm>
          <a:prstGeom prst="rect">
            <a:avLst/>
          </a:prstGeom>
          <a:noFill/>
        </p:spPr>
        <p:txBody>
          <a:bodyPr wrap="square">
            <a:spAutoFit/>
          </a:bodyPr>
          <a:lstStyle/>
          <a:p>
            <a:r>
              <a:rPr lang="zh-CN" altLang="en-US" dirty="0"/>
              <a:t>统一语义分割和实例分割，输出每个像素的类别和实例 </a:t>
            </a:r>
            <a:r>
              <a:rPr lang="en-US" altLang="zh-CN" dirty="0"/>
              <a:t>ID</a:t>
            </a:r>
            <a:r>
              <a:rPr lang="zh-CN" altLang="en-US" dirty="0"/>
              <a:t>。</a:t>
            </a:r>
          </a:p>
        </p:txBody>
      </p:sp>
      <p:pic>
        <p:nvPicPr>
          <p:cNvPr id="12" name="table">
            <a:extLst>
              <a:ext uri="{FF2B5EF4-FFF2-40B4-BE49-F238E27FC236}">
                <a16:creationId xmlns:a16="http://schemas.microsoft.com/office/drawing/2014/main" id="{F871A3E9-D791-982D-4532-039FE9A8EF61}"/>
              </a:ext>
            </a:extLst>
          </p:cNvPr>
          <p:cNvPicPr>
            <a:picLocks noChangeAspect="1"/>
          </p:cNvPicPr>
          <p:nvPr/>
        </p:nvPicPr>
        <p:blipFill>
          <a:blip r:embed="rId4"/>
          <a:stretch>
            <a:fillRect/>
          </a:stretch>
        </p:blipFill>
        <p:spPr>
          <a:xfrm>
            <a:off x="3260698" y="3028625"/>
            <a:ext cx="6654957" cy="2873304"/>
          </a:xfrm>
          <a:prstGeom prst="rect">
            <a:avLst/>
          </a:prstGeom>
        </p:spPr>
      </p:pic>
      <p:sp>
        <p:nvSpPr>
          <p:cNvPr id="24" name="文本框 23">
            <a:extLst>
              <a:ext uri="{FF2B5EF4-FFF2-40B4-BE49-F238E27FC236}">
                <a16:creationId xmlns:a16="http://schemas.microsoft.com/office/drawing/2014/main" id="{7B7A9142-B2D1-FBC6-4637-AEFB9A1789D8}"/>
              </a:ext>
            </a:extLst>
          </p:cNvPr>
          <p:cNvSpPr txBox="1"/>
          <p:nvPr/>
        </p:nvSpPr>
        <p:spPr>
          <a:xfrm>
            <a:off x="2663421" y="6009842"/>
            <a:ext cx="8073108" cy="584775"/>
          </a:xfrm>
          <a:prstGeom prst="rect">
            <a:avLst/>
          </a:prstGeom>
          <a:noFill/>
        </p:spPr>
        <p:txBody>
          <a:bodyPr wrap="square">
            <a:spAutoFit/>
          </a:bodyPr>
          <a:lstStyle/>
          <a:p>
            <a:r>
              <a:rPr lang="zh-CN" altLang="zh-CN" sz="1600" b="0" i="0" dirty="0">
                <a:solidFill>
                  <a:schemeClr val="tx1"/>
                </a:solidFill>
                <a:effectLst/>
                <a:latin typeface="+mn-lt"/>
              </a:rPr>
              <a:t>全景分割是分割任务的统一方向，但训练难度大、实时性差。整体来看，分割不直接服务规划，而是作为感知中间层，为检测、跟踪和预测提供像素级语义信息</a:t>
            </a:r>
            <a:endParaRPr lang="zh-CN" altLang="en-US" sz="1600" dirty="0"/>
          </a:p>
        </p:txBody>
      </p:sp>
    </p:spTree>
    <p:extLst>
      <p:ext uri="{BB962C8B-B14F-4D97-AF65-F5344CB8AC3E}">
        <p14:creationId xmlns:p14="http://schemas.microsoft.com/office/powerpoint/2010/main" val="4033428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4BCE8-D0CF-2188-6C38-B7C13CEDDF09}"/>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E7783F76-8FDB-655D-66BD-BE4F2D4864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E69E6FFB-6D31-5432-116B-AAC1BEF64D26}"/>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0B7FECE8-8EA3-7D49-96CD-8784C0742735}"/>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5811C983-0D59-6362-028E-21AC3E25F412}"/>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ACF0C7A9-A656-7DD9-0B1F-240585F2C826}"/>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D9CD9317-E0BE-0472-0105-C4EB47528F71}"/>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F4221894-E320-FF6D-E321-18BB412B66DB}"/>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B184CBA8-7256-EB25-1F79-854861825EE3}"/>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(3)</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场景理解</a:t>
            </a:r>
          </a:p>
        </p:txBody>
      </p:sp>
      <p:sp>
        <p:nvSpPr>
          <p:cNvPr id="29" name="椭圆 28">
            <a:extLst>
              <a:ext uri="{FF2B5EF4-FFF2-40B4-BE49-F238E27FC236}">
                <a16:creationId xmlns:a16="http://schemas.microsoft.com/office/drawing/2014/main" id="{5595838D-74FE-EE7D-C26B-11016B6162AA}"/>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511C2403-D754-0FC1-B315-52170AF74A80}"/>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29</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94E6D61D-B963-7726-5744-DA3C5C989E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9B94D98C-D9F4-3E2A-2340-107AE604F8A3}"/>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581D96CC-152F-0F95-FAFE-8E44AB8C3FA7}"/>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1BE95D85-023D-D127-83BE-1D0E141E5A25}"/>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C35C2662-028C-0037-765F-0B35A4C10919}"/>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B2826843-AD39-E66C-1653-9CA8101076AC}"/>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83DAAD93-3ED0-50DC-DBD3-67B04267305B}"/>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530FFCEA-86CB-77FB-DB91-63AAC8AE0638}"/>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B242E9CD-15A9-AAFD-7EEB-275C589A6802}"/>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19A2CF8F-FEED-A9B9-9469-5C64D6DD4A79}"/>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5925B28E-312B-A4F7-4995-59F3E5C19CFF}"/>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EFF4DB21-D6B3-AD4D-469C-95623C36387F}"/>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C06E829F-41B9-71E8-8A5F-120E298EE26A}"/>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194EEF86-8345-DE90-A44D-30E6A5C2782A}"/>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3" name="文本框 12">
            <a:extLst>
              <a:ext uri="{FF2B5EF4-FFF2-40B4-BE49-F238E27FC236}">
                <a16:creationId xmlns:a16="http://schemas.microsoft.com/office/drawing/2014/main" id="{8BF43419-4844-4FFA-9DF4-6CC0A8456DB6}"/>
              </a:ext>
            </a:extLst>
          </p:cNvPr>
          <p:cNvSpPr txBox="1"/>
          <p:nvPr/>
        </p:nvSpPr>
        <p:spPr>
          <a:xfrm>
            <a:off x="2728384" y="1834955"/>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子任务二：深度估计</a:t>
            </a:r>
            <a:r>
              <a:rPr lang="en-US" altLang="zh-CN" sz="1800" b="1" i="0" dirty="0">
                <a:effectLst/>
                <a:latin typeface="方正小标宋简体" panose="02010601030101010101" pitchFamily="2" charset="-122"/>
                <a:ea typeface="方正小标宋简体" panose="02010601030101010101" pitchFamily="2" charset="-122"/>
              </a:rPr>
              <a:t>——</a:t>
            </a:r>
            <a:r>
              <a:rPr lang="zh-CN" altLang="en-US" sz="1800" b="1" i="0" dirty="0">
                <a:effectLst/>
                <a:latin typeface="方正小标宋简体" panose="02010601030101010101" pitchFamily="2" charset="-122"/>
                <a:ea typeface="方正小标宋简体" panose="02010601030101010101" pitchFamily="2" charset="-122"/>
              </a:rPr>
              <a:t>从稀疏补全到单目</a:t>
            </a:r>
            <a:r>
              <a:rPr lang="en-US" altLang="zh-CN" sz="1800" b="1" i="0" dirty="0">
                <a:effectLst/>
                <a:latin typeface="方正小标宋简体" panose="02010601030101010101" pitchFamily="2" charset="-122"/>
                <a:ea typeface="方正小标宋简体" panose="02010601030101010101" pitchFamily="2" charset="-122"/>
              </a:rPr>
              <a:t>/</a:t>
            </a:r>
            <a:r>
              <a:rPr lang="zh-CN" altLang="en-US" sz="1800" b="1" i="0" dirty="0">
                <a:effectLst/>
                <a:latin typeface="方正小标宋简体" panose="02010601030101010101" pitchFamily="2" charset="-122"/>
                <a:ea typeface="方正小标宋简体" panose="02010601030101010101" pitchFamily="2" charset="-122"/>
              </a:rPr>
              <a:t>双目与</a:t>
            </a:r>
            <a:r>
              <a:rPr lang="en-US" altLang="zh-CN" sz="1800" b="1" i="0" dirty="0">
                <a:effectLst/>
                <a:latin typeface="方正小标宋简体" panose="02010601030101010101" pitchFamily="2" charset="-122"/>
                <a:ea typeface="方正小标宋简体" panose="02010601030101010101" pitchFamily="2" charset="-122"/>
              </a:rPr>
              <a:t>LiDAR</a:t>
            </a:r>
            <a:r>
              <a:rPr lang="zh-CN" altLang="en-US" sz="1800" b="1" i="0" dirty="0">
                <a:effectLst/>
                <a:latin typeface="方正小标宋简体" panose="02010601030101010101" pitchFamily="2" charset="-122"/>
                <a:ea typeface="方正小标宋简体" panose="02010601030101010101" pitchFamily="2" charset="-122"/>
              </a:rPr>
              <a:t>引导</a:t>
            </a:r>
            <a:endParaRPr lang="zh-CN" altLang="en-US" sz="1800" dirty="0">
              <a:latin typeface="方正小标宋简体" panose="02010601030101010101" pitchFamily="2" charset="-122"/>
              <a:ea typeface="方正小标宋简体" panose="02010601030101010101" pitchFamily="2" charset="-122"/>
            </a:endParaRPr>
          </a:p>
        </p:txBody>
      </p:sp>
      <p:grpSp>
        <p:nvGrpSpPr>
          <p:cNvPr id="28" name="组合 27">
            <a:extLst>
              <a:ext uri="{FF2B5EF4-FFF2-40B4-BE49-F238E27FC236}">
                <a16:creationId xmlns:a16="http://schemas.microsoft.com/office/drawing/2014/main" id="{B7690AAA-537F-6F13-AAF6-3551CC0B4193}"/>
              </a:ext>
            </a:extLst>
          </p:cNvPr>
          <p:cNvGrpSpPr/>
          <p:nvPr/>
        </p:nvGrpSpPr>
        <p:grpSpPr>
          <a:xfrm>
            <a:off x="2601097" y="2256432"/>
            <a:ext cx="3345370" cy="2054717"/>
            <a:chOff x="2885274" y="2419091"/>
            <a:chExt cx="2765823" cy="2054717"/>
          </a:xfrm>
        </p:grpSpPr>
        <p:sp>
          <p:nvSpPr>
            <p:cNvPr id="4" name="圆角矩形 1">
              <a:extLst>
                <a:ext uri="{FF2B5EF4-FFF2-40B4-BE49-F238E27FC236}">
                  <a16:creationId xmlns:a16="http://schemas.microsoft.com/office/drawing/2014/main" id="{A23295EB-0D37-8958-DD3B-73C11BAA6ED1}"/>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84460272-DAAB-C4A1-1D9F-DFB3064A069D}"/>
                </a:ext>
              </a:extLst>
            </p:cNvPr>
            <p:cNvSpPr txBox="1"/>
            <p:nvPr/>
          </p:nvSpPr>
          <p:spPr>
            <a:xfrm>
              <a:off x="3188221" y="2465303"/>
              <a:ext cx="2408642" cy="553998"/>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阶段一：深度补全与早期方法</a:t>
              </a:r>
            </a:p>
            <a:p>
              <a:endParaRPr lang="zh-CN" altLang="en-US" dirty="0"/>
            </a:p>
          </p:txBody>
        </p:sp>
        <p:sp>
          <p:nvSpPr>
            <p:cNvPr id="15" name="文本框 14">
              <a:extLst>
                <a:ext uri="{FF2B5EF4-FFF2-40B4-BE49-F238E27FC236}">
                  <a16:creationId xmlns:a16="http://schemas.microsoft.com/office/drawing/2014/main" id="{8B3987B0-EA2A-6AB7-FC77-0FB097A19395}"/>
                </a:ext>
              </a:extLst>
            </p:cNvPr>
            <p:cNvSpPr txBox="1"/>
            <p:nvPr/>
          </p:nvSpPr>
          <p:spPr>
            <a:xfrm>
              <a:off x="2939508" y="2843123"/>
              <a:ext cx="2711589" cy="1477328"/>
            </a:xfrm>
            <a:prstGeom prst="rect">
              <a:avLst/>
            </a:prstGeom>
            <a:noFill/>
          </p:spPr>
          <p:txBody>
            <a:bodyPr wrap="square">
              <a:spAutoFit/>
            </a:bodyPr>
            <a:lstStyle/>
            <a:p>
              <a:r>
                <a:rPr lang="zh-CN" altLang="zh-CN" sz="1000" b="0" i="0" dirty="0">
                  <a:solidFill>
                    <a:schemeClr val="tx1"/>
                  </a:solidFill>
                  <a:effectLst/>
                  <a:latin typeface="+mn-lt"/>
                </a:rPr>
                <a:t>深度估计最初以深度补全的形式出现，核心任务是从稀疏深度图推断稠密深度图。主要难点包括稀疏深度分布不规则、多传感器融合困难以及缺少稠密像素级真值。早期方法依赖 CRF 模块、多任务结构、全局提取器和分段平面先验等手段，试图在稀疏观测基础上恢复稠密几何。这一阶段解决了“从稀疏到稠密”的基础问题，但精度有限，对复杂场景的泛化能力不足。</a:t>
              </a:r>
              <a:endParaRPr lang="zh-CN" altLang="en-US" sz="1000" dirty="0"/>
            </a:p>
          </p:txBody>
        </p:sp>
      </p:grpSp>
      <p:grpSp>
        <p:nvGrpSpPr>
          <p:cNvPr id="34" name="组合 33">
            <a:extLst>
              <a:ext uri="{FF2B5EF4-FFF2-40B4-BE49-F238E27FC236}">
                <a16:creationId xmlns:a16="http://schemas.microsoft.com/office/drawing/2014/main" id="{8F11E67F-D175-6ABA-6CAC-86FB50998811}"/>
              </a:ext>
            </a:extLst>
          </p:cNvPr>
          <p:cNvGrpSpPr/>
          <p:nvPr/>
        </p:nvGrpSpPr>
        <p:grpSpPr>
          <a:xfrm>
            <a:off x="6945328" y="2259394"/>
            <a:ext cx="3880186" cy="2055248"/>
            <a:chOff x="2885274" y="2419091"/>
            <a:chExt cx="2942435" cy="2055248"/>
          </a:xfrm>
        </p:grpSpPr>
        <p:sp>
          <p:nvSpPr>
            <p:cNvPr id="35" name="圆角矩形 1">
              <a:extLst>
                <a:ext uri="{FF2B5EF4-FFF2-40B4-BE49-F238E27FC236}">
                  <a16:creationId xmlns:a16="http://schemas.microsoft.com/office/drawing/2014/main" id="{F827DBC6-DA6B-5871-E362-8A8C3C3C87C0}"/>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B858C49C-EDC6-B78F-EE74-4C7267EE372D}"/>
                </a:ext>
              </a:extLst>
            </p:cNvPr>
            <p:cNvSpPr txBox="1"/>
            <p:nvPr/>
          </p:nvSpPr>
          <p:spPr>
            <a:xfrm>
              <a:off x="3419067" y="2438547"/>
              <a:ext cx="2408642" cy="276999"/>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阶段二：单目深度估计</a:t>
              </a:r>
              <a:endParaRPr lang="zh-CN" altLang="en-US" dirty="0"/>
            </a:p>
          </p:txBody>
        </p:sp>
        <p:sp>
          <p:nvSpPr>
            <p:cNvPr id="38" name="文本框 37">
              <a:extLst>
                <a:ext uri="{FF2B5EF4-FFF2-40B4-BE49-F238E27FC236}">
                  <a16:creationId xmlns:a16="http://schemas.microsoft.com/office/drawing/2014/main" id="{6179A961-1863-CBF8-0E77-A08B3E601E57}"/>
                </a:ext>
              </a:extLst>
            </p:cNvPr>
            <p:cNvSpPr txBox="1"/>
            <p:nvPr/>
          </p:nvSpPr>
          <p:spPr>
            <a:xfrm>
              <a:off x="2939508" y="2843123"/>
              <a:ext cx="2711589" cy="1631216"/>
            </a:xfrm>
            <a:prstGeom prst="rect">
              <a:avLst/>
            </a:prstGeom>
            <a:noFill/>
          </p:spPr>
          <p:txBody>
            <a:bodyPr wrap="square">
              <a:spAutoFit/>
            </a:bodyPr>
            <a:lstStyle/>
            <a:p>
              <a:r>
                <a:rPr lang="zh-CN" altLang="en-US" sz="1000" b="0" i="0" dirty="0">
                  <a:solidFill>
                    <a:schemeClr val="tx1"/>
                  </a:solidFill>
                  <a:effectLst/>
                  <a:latin typeface="+mn-lt"/>
                </a:rPr>
                <a:t>单目深度估计试图仅用一张图像测量每个像素到相机的距离，成本低、易部署，但存在病态问题</a:t>
              </a:r>
              <a:r>
                <a:rPr lang="en-US" altLang="zh-CN" sz="1000" b="0" i="0" dirty="0">
                  <a:solidFill>
                    <a:schemeClr val="tx1"/>
                  </a:solidFill>
                  <a:effectLst/>
                  <a:latin typeface="+mn-lt"/>
                </a:rPr>
                <a:t>——</a:t>
              </a:r>
              <a:r>
                <a:rPr lang="zh-CN" altLang="en-US" sz="1000" b="0" i="0" dirty="0">
                  <a:solidFill>
                    <a:schemeClr val="tx1"/>
                  </a:solidFill>
                  <a:effectLst/>
                  <a:latin typeface="+mn-lt"/>
                </a:rPr>
                <a:t>单张图像无法唯一确定绝对深度，因此只能得到相对深度。代表方法包括 </a:t>
              </a:r>
              <a:r>
                <a:rPr lang="en-US" altLang="zh-CN" sz="1000" b="0" i="0" dirty="0">
                  <a:solidFill>
                    <a:schemeClr val="tx1"/>
                  </a:solidFill>
                  <a:effectLst/>
                  <a:latin typeface="+mn-lt"/>
                </a:rPr>
                <a:t>DORN </a:t>
              </a:r>
              <a:r>
                <a:rPr lang="zh-CN" altLang="en-US" sz="1000" b="0" i="0" dirty="0">
                  <a:solidFill>
                    <a:schemeClr val="tx1"/>
                  </a:solidFill>
                  <a:effectLst/>
                  <a:latin typeface="+mn-lt"/>
                </a:rPr>
                <a:t>的多尺度网络、</a:t>
              </a:r>
              <a:r>
                <a:rPr lang="en-US" altLang="zh-CN" sz="1000" b="0" i="0" dirty="0" err="1">
                  <a:solidFill>
                    <a:schemeClr val="tx1"/>
                  </a:solidFill>
                  <a:effectLst/>
                  <a:latin typeface="+mn-lt"/>
                </a:rPr>
                <a:t>MultiDepth</a:t>
              </a:r>
              <a:r>
                <a:rPr lang="en-US" altLang="zh-CN" sz="1000" b="0" i="0" dirty="0">
                  <a:solidFill>
                    <a:schemeClr val="tx1"/>
                  </a:solidFill>
                  <a:effectLst/>
                  <a:latin typeface="+mn-lt"/>
                </a:rPr>
                <a:t> </a:t>
              </a:r>
              <a:r>
                <a:rPr lang="zh-CN" altLang="en-US" sz="1000" b="0" i="0" dirty="0">
                  <a:solidFill>
                    <a:schemeClr val="tx1"/>
                  </a:solidFill>
                  <a:effectLst/>
                  <a:latin typeface="+mn-lt"/>
                </a:rPr>
                <a:t>的深度区间分类、</a:t>
              </a:r>
              <a:r>
                <a:rPr lang="en-US" altLang="zh-CN" sz="1000" b="0" i="0" dirty="0">
                  <a:solidFill>
                    <a:schemeClr val="tx1"/>
                  </a:solidFill>
                  <a:effectLst/>
                  <a:latin typeface="+mn-lt"/>
                </a:rPr>
                <a:t>HGR </a:t>
              </a:r>
              <a:r>
                <a:rPr lang="zh-CN" altLang="en-US" sz="1000" b="0" i="0" dirty="0">
                  <a:solidFill>
                    <a:schemeClr val="tx1"/>
                  </a:solidFill>
                  <a:effectLst/>
                  <a:latin typeface="+mn-lt"/>
                </a:rPr>
                <a:t>的分层引导、</a:t>
              </a:r>
              <a:r>
                <a:rPr lang="en-US" altLang="zh-CN" sz="1000" b="0" i="0" dirty="0" err="1">
                  <a:solidFill>
                    <a:schemeClr val="tx1"/>
                  </a:solidFill>
                  <a:effectLst/>
                  <a:latin typeface="+mn-lt"/>
                </a:rPr>
                <a:t>SDNet</a:t>
              </a:r>
              <a:r>
                <a:rPr lang="en-US" altLang="zh-CN" sz="1000" b="0" i="0" dirty="0">
                  <a:solidFill>
                    <a:schemeClr val="tx1"/>
                  </a:solidFill>
                  <a:effectLst/>
                  <a:latin typeface="+mn-lt"/>
                </a:rPr>
                <a:t> </a:t>
              </a:r>
              <a:r>
                <a:rPr lang="zh-CN" altLang="en-US" sz="1000" b="0" i="0" dirty="0">
                  <a:solidFill>
                    <a:schemeClr val="tx1"/>
                  </a:solidFill>
                  <a:effectLst/>
                  <a:latin typeface="+mn-lt"/>
                </a:rPr>
                <a:t>的深度与语义双头、</a:t>
              </a:r>
              <a:r>
                <a:rPr lang="en-US" altLang="zh-CN" sz="1000" b="0" i="0" dirty="0">
                  <a:solidFill>
                    <a:schemeClr val="tx1"/>
                  </a:solidFill>
                  <a:effectLst/>
                  <a:latin typeface="+mn-lt"/>
                </a:rPr>
                <a:t>VNL </a:t>
              </a:r>
              <a:r>
                <a:rPr lang="zh-CN" altLang="en-US" sz="1000" b="0" i="0" dirty="0">
                  <a:solidFill>
                    <a:schemeClr val="tx1"/>
                  </a:solidFill>
                  <a:effectLst/>
                  <a:latin typeface="+mn-lt"/>
                </a:rPr>
                <a:t>的局部平面引导以及 </a:t>
              </a:r>
              <a:r>
                <a:rPr lang="en-US" altLang="zh-CN" sz="1000" b="0" i="0" dirty="0" err="1">
                  <a:solidFill>
                    <a:schemeClr val="tx1"/>
                  </a:solidFill>
                  <a:effectLst/>
                  <a:latin typeface="+mn-lt"/>
                </a:rPr>
                <a:t>BANet</a:t>
              </a:r>
              <a:r>
                <a:rPr lang="en-US" altLang="zh-CN" sz="1000" b="0" i="0" dirty="0">
                  <a:solidFill>
                    <a:schemeClr val="tx1"/>
                  </a:solidFill>
                  <a:effectLst/>
                  <a:latin typeface="+mn-lt"/>
                </a:rPr>
                <a:t> </a:t>
              </a:r>
              <a:r>
                <a:rPr lang="zh-CN" altLang="en-US" sz="1000" b="0" i="0" dirty="0">
                  <a:solidFill>
                    <a:schemeClr val="tx1"/>
                  </a:solidFill>
                  <a:effectLst/>
                  <a:latin typeface="+mn-lt"/>
                </a:rPr>
                <a:t>的双向注意力模块。这一阶段显著提升了单目相对深度的精度，但绝对深度仍需双目或 </a:t>
              </a:r>
              <a:r>
                <a:rPr lang="en-US" altLang="zh-CN" sz="1000" b="0" i="0" dirty="0">
                  <a:solidFill>
                    <a:schemeClr val="tx1"/>
                  </a:solidFill>
                  <a:effectLst/>
                  <a:latin typeface="+mn-lt"/>
                </a:rPr>
                <a:t>LiDAR </a:t>
              </a:r>
              <a:r>
                <a:rPr lang="zh-CN" altLang="en-US" sz="1000" b="0" i="0" dirty="0">
                  <a:solidFill>
                    <a:schemeClr val="tx1"/>
                  </a:solidFill>
                  <a:effectLst/>
                  <a:latin typeface="+mn-lt"/>
                </a:rPr>
                <a:t>引导。</a:t>
              </a:r>
              <a:endParaRPr lang="zh-CN" altLang="en-US" sz="1000" dirty="0"/>
            </a:p>
          </p:txBody>
        </p:sp>
      </p:grpSp>
      <p:grpSp>
        <p:nvGrpSpPr>
          <p:cNvPr id="39" name="组合 38">
            <a:extLst>
              <a:ext uri="{FF2B5EF4-FFF2-40B4-BE49-F238E27FC236}">
                <a16:creationId xmlns:a16="http://schemas.microsoft.com/office/drawing/2014/main" id="{7526D027-3A0A-260D-7171-F5B3109533BB}"/>
              </a:ext>
            </a:extLst>
          </p:cNvPr>
          <p:cNvGrpSpPr/>
          <p:nvPr/>
        </p:nvGrpSpPr>
        <p:grpSpPr>
          <a:xfrm>
            <a:off x="6999562" y="4651746"/>
            <a:ext cx="3664461" cy="2054717"/>
            <a:chOff x="2885274" y="2419091"/>
            <a:chExt cx="2820790" cy="2054717"/>
          </a:xfrm>
        </p:grpSpPr>
        <p:sp>
          <p:nvSpPr>
            <p:cNvPr id="40" name="圆角矩形 1">
              <a:extLst>
                <a:ext uri="{FF2B5EF4-FFF2-40B4-BE49-F238E27FC236}">
                  <a16:creationId xmlns:a16="http://schemas.microsoft.com/office/drawing/2014/main" id="{7A139447-B19D-DC6A-79D7-044DF21EBA40}"/>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E782D09C-5B13-730E-2F94-B4505C6BA101}"/>
                </a:ext>
              </a:extLst>
            </p:cNvPr>
            <p:cNvSpPr txBox="1"/>
            <p:nvPr/>
          </p:nvSpPr>
          <p:spPr>
            <a:xfrm>
              <a:off x="3297422" y="2472204"/>
              <a:ext cx="2408642" cy="276999"/>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阶段三：双目与 </a:t>
              </a:r>
              <a:r>
                <a:rPr lang="en-US" altLang="zh-CN" sz="1200" b="1" dirty="0">
                  <a:latin typeface="宋体" panose="02010600030101010101" pitchFamily="2" charset="-122"/>
                  <a:ea typeface="宋体" panose="02010600030101010101" pitchFamily="2" charset="-122"/>
                </a:rPr>
                <a:t>LiDAR </a:t>
              </a:r>
              <a:r>
                <a:rPr lang="zh-CN" altLang="en-US" sz="1200" b="1" dirty="0">
                  <a:latin typeface="宋体" panose="02010600030101010101" pitchFamily="2" charset="-122"/>
                  <a:ea typeface="宋体" panose="02010600030101010101" pitchFamily="2" charset="-122"/>
                </a:rPr>
                <a:t>引导</a:t>
              </a:r>
              <a:endParaRPr lang="zh-CN" altLang="en-US" dirty="0"/>
            </a:p>
          </p:txBody>
        </p:sp>
        <p:sp>
          <p:nvSpPr>
            <p:cNvPr id="43" name="文本框 42">
              <a:extLst>
                <a:ext uri="{FF2B5EF4-FFF2-40B4-BE49-F238E27FC236}">
                  <a16:creationId xmlns:a16="http://schemas.microsoft.com/office/drawing/2014/main" id="{45122C9E-5F11-034E-8902-2AE7A989E56E}"/>
                </a:ext>
              </a:extLst>
            </p:cNvPr>
            <p:cNvSpPr txBox="1"/>
            <p:nvPr/>
          </p:nvSpPr>
          <p:spPr>
            <a:xfrm>
              <a:off x="2939508" y="2843123"/>
              <a:ext cx="2711589" cy="1477328"/>
            </a:xfrm>
            <a:prstGeom prst="rect">
              <a:avLst/>
            </a:prstGeom>
            <a:noFill/>
          </p:spPr>
          <p:txBody>
            <a:bodyPr wrap="square">
              <a:spAutoFit/>
            </a:bodyPr>
            <a:lstStyle/>
            <a:p>
              <a:r>
                <a:rPr lang="zh-CN" altLang="zh-CN" sz="1000" b="0" i="0" dirty="0">
                  <a:solidFill>
                    <a:schemeClr val="tx1"/>
                  </a:solidFill>
                  <a:effectLst/>
                  <a:latin typeface="+mn-lt"/>
                </a:rPr>
                <a:t>深度估计最初以深度补全的形式出现，核心任务是从稀疏深度图推断稠密深度图。主要难点包括稀疏深度分布不规则、多传感器融合困难以及缺少稠密像素级真值。早期方法依赖 CRF 模块、多任务结构、全局提取器和分段平面先验等手段，试图在稀疏观测基础上恢复稠密几何。这一阶段解决了“从稀疏到稠密”的基础问题，但精度有限，对复杂场景的泛化能力不足。</a:t>
              </a:r>
              <a:endParaRPr lang="zh-CN" altLang="en-US" sz="1000" dirty="0"/>
            </a:p>
          </p:txBody>
        </p:sp>
      </p:grpSp>
      <p:grpSp>
        <p:nvGrpSpPr>
          <p:cNvPr id="45" name="组合 44">
            <a:extLst>
              <a:ext uri="{FF2B5EF4-FFF2-40B4-BE49-F238E27FC236}">
                <a16:creationId xmlns:a16="http://schemas.microsoft.com/office/drawing/2014/main" id="{3B2BDEBA-3E2B-EE7D-01B6-DE33CAE6C191}"/>
              </a:ext>
            </a:extLst>
          </p:cNvPr>
          <p:cNvGrpSpPr/>
          <p:nvPr/>
        </p:nvGrpSpPr>
        <p:grpSpPr>
          <a:xfrm>
            <a:off x="2601097" y="4667188"/>
            <a:ext cx="3560009" cy="2054717"/>
            <a:chOff x="2885274" y="2419091"/>
            <a:chExt cx="2896324" cy="2054717"/>
          </a:xfrm>
        </p:grpSpPr>
        <p:sp>
          <p:nvSpPr>
            <p:cNvPr id="46" name="圆角矩形 1">
              <a:extLst>
                <a:ext uri="{FF2B5EF4-FFF2-40B4-BE49-F238E27FC236}">
                  <a16:creationId xmlns:a16="http://schemas.microsoft.com/office/drawing/2014/main" id="{3FA68A4F-8FBB-1030-A3A8-4A9DCD2028AE}"/>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E9CB2B9C-2E95-89A2-FB2E-414892F4B2B1}"/>
                </a:ext>
              </a:extLst>
            </p:cNvPr>
            <p:cNvSpPr txBox="1"/>
            <p:nvPr/>
          </p:nvSpPr>
          <p:spPr>
            <a:xfrm>
              <a:off x="3124243" y="2448056"/>
              <a:ext cx="2657355" cy="276999"/>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阶段四：</a:t>
              </a:r>
              <a:r>
                <a:rPr lang="en-US" altLang="zh-CN" sz="1200" b="1" dirty="0">
                  <a:latin typeface="宋体" panose="02010600030101010101" pitchFamily="2" charset="-122"/>
                  <a:ea typeface="宋体" panose="02010600030101010101" pitchFamily="2" charset="-122"/>
                </a:rPr>
                <a:t>Transformer </a:t>
              </a:r>
              <a:r>
                <a:rPr lang="zh-CN" altLang="en-US" sz="1200" b="1" dirty="0">
                  <a:latin typeface="宋体" panose="02010600030101010101" pitchFamily="2" charset="-122"/>
                  <a:ea typeface="宋体" panose="02010600030101010101" pitchFamily="2" charset="-122"/>
                </a:rPr>
                <a:t>与多任务联合</a:t>
              </a:r>
              <a:endParaRPr lang="zh-CN" altLang="en-US" dirty="0"/>
            </a:p>
          </p:txBody>
        </p:sp>
        <p:sp>
          <p:nvSpPr>
            <p:cNvPr id="48" name="文本框 47">
              <a:extLst>
                <a:ext uri="{FF2B5EF4-FFF2-40B4-BE49-F238E27FC236}">
                  <a16:creationId xmlns:a16="http://schemas.microsoft.com/office/drawing/2014/main" id="{A8A41CBD-E3B0-6C7D-2DFA-431460201834}"/>
                </a:ext>
              </a:extLst>
            </p:cNvPr>
            <p:cNvSpPr txBox="1"/>
            <p:nvPr/>
          </p:nvSpPr>
          <p:spPr>
            <a:xfrm>
              <a:off x="2939508" y="2843123"/>
              <a:ext cx="2711589" cy="1477328"/>
            </a:xfrm>
            <a:prstGeom prst="rect">
              <a:avLst/>
            </a:prstGeom>
            <a:noFill/>
          </p:spPr>
          <p:txBody>
            <a:bodyPr wrap="square">
              <a:spAutoFit/>
            </a:bodyPr>
            <a:lstStyle/>
            <a:p>
              <a:r>
                <a:rPr lang="zh-CN" altLang="en-US" sz="1000" b="0" i="0" dirty="0">
                  <a:solidFill>
                    <a:schemeClr val="tx1"/>
                  </a:solidFill>
                  <a:effectLst/>
                  <a:latin typeface="+mn-lt"/>
                </a:rPr>
                <a:t>深度估计引入 </a:t>
              </a:r>
              <a:r>
                <a:rPr lang="en-US" altLang="zh-CN" sz="1000" b="0" i="0" dirty="0">
                  <a:solidFill>
                    <a:schemeClr val="tx1"/>
                  </a:solidFill>
                  <a:effectLst/>
                  <a:latin typeface="+mn-lt"/>
                </a:rPr>
                <a:t>Transformer </a:t>
              </a:r>
              <a:r>
                <a:rPr lang="zh-CN" altLang="en-US" sz="1000" b="0" i="0" dirty="0">
                  <a:solidFill>
                    <a:schemeClr val="tx1"/>
                  </a:solidFill>
                  <a:effectLst/>
                  <a:latin typeface="+mn-lt"/>
                </a:rPr>
                <a:t>结构（如 </a:t>
              </a:r>
              <a:r>
                <a:rPr lang="en-US" altLang="zh-CN" sz="1000" b="0" i="0" dirty="0" err="1">
                  <a:solidFill>
                    <a:schemeClr val="tx1"/>
                  </a:solidFill>
                  <a:effectLst/>
                  <a:latin typeface="+mn-lt"/>
                </a:rPr>
                <a:t>DepthFormer</a:t>
              </a:r>
              <a:r>
                <a:rPr lang="zh-CN" altLang="en-US" sz="1000" b="0" i="0" dirty="0">
                  <a:solidFill>
                    <a:schemeClr val="tx1"/>
                  </a:solidFill>
                  <a:effectLst/>
                  <a:latin typeface="+mn-lt"/>
                </a:rPr>
                <a:t>），增强长程关联与局部信息融合能力；同时与语义分割、光流估计等任务联合训练，利用自监督减少标注依赖，并逐步与检测、跟踪、</a:t>
              </a:r>
              <a:r>
                <a:rPr lang="en-US" altLang="zh-CN" sz="1000" b="0" i="0" dirty="0">
                  <a:solidFill>
                    <a:schemeClr val="tx1"/>
                  </a:solidFill>
                  <a:effectLst/>
                  <a:latin typeface="+mn-lt"/>
                </a:rPr>
                <a:t>BEV</a:t>
              </a:r>
              <a:r>
                <a:rPr lang="zh-CN" altLang="en-US" sz="1000" b="0" i="0" dirty="0">
                  <a:solidFill>
                    <a:schemeClr val="tx1"/>
                  </a:solidFill>
                  <a:effectLst/>
                  <a:latin typeface="+mn-lt"/>
                </a:rPr>
                <a:t>、</a:t>
              </a:r>
              <a:r>
                <a:rPr lang="en-US" altLang="zh-CN" sz="1000" b="0" i="0" dirty="0">
                  <a:solidFill>
                    <a:schemeClr val="tx1"/>
                  </a:solidFill>
                  <a:effectLst/>
                  <a:latin typeface="+mn-lt"/>
                </a:rPr>
                <a:t>Occupancy </a:t>
              </a:r>
              <a:r>
                <a:rPr lang="zh-CN" altLang="en-US" sz="1000" b="0" i="0" dirty="0">
                  <a:solidFill>
                    <a:schemeClr val="tx1"/>
                  </a:solidFill>
                  <a:effectLst/>
                  <a:latin typeface="+mn-lt"/>
                </a:rPr>
                <a:t>融合。这一阶段的趋势是统一表征、多任务协同和自监督学习，深度估计不再孤立运行，而是成为跨模态融合和 </a:t>
              </a:r>
              <a:r>
                <a:rPr lang="en-US" altLang="zh-CN" sz="1000" b="0" i="0" dirty="0">
                  <a:solidFill>
                    <a:schemeClr val="tx1"/>
                  </a:solidFill>
                  <a:effectLst/>
                  <a:latin typeface="+mn-lt"/>
                </a:rPr>
                <a:t>3D </a:t>
              </a:r>
              <a:r>
                <a:rPr lang="zh-CN" altLang="en-US" sz="1000" b="0" i="0" dirty="0">
                  <a:solidFill>
                    <a:schemeClr val="tx1"/>
                  </a:solidFill>
                  <a:effectLst/>
                  <a:latin typeface="+mn-lt"/>
                </a:rPr>
                <a:t>场景理解的关键中间层。</a:t>
              </a:r>
            </a:p>
            <a:p>
              <a:endParaRPr lang="zh-CN" altLang="en-US" sz="1000" b="0" i="0" dirty="0">
                <a:solidFill>
                  <a:schemeClr val="tx1"/>
                </a:solidFill>
                <a:effectLst/>
                <a:latin typeface="+mn-lt"/>
              </a:endParaRPr>
            </a:p>
          </p:txBody>
        </p:sp>
      </p:grpSp>
      <p:sp>
        <p:nvSpPr>
          <p:cNvPr id="49" name="箭头: 右 48">
            <a:extLst>
              <a:ext uri="{FF2B5EF4-FFF2-40B4-BE49-F238E27FC236}">
                <a16:creationId xmlns:a16="http://schemas.microsoft.com/office/drawing/2014/main" id="{86CD02E7-1AD6-7243-4AF5-6AADFA543978}"/>
              </a:ext>
            </a:extLst>
          </p:cNvPr>
          <p:cNvSpPr/>
          <p:nvPr/>
        </p:nvSpPr>
        <p:spPr>
          <a:xfrm>
            <a:off x="5966920" y="3044436"/>
            <a:ext cx="978408" cy="484632"/>
          </a:xfrm>
          <a:prstGeom prst="rightArrow">
            <a:avLst/>
          </a:prstGeom>
          <a:solidFill>
            <a:srgbClr val="2A69A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箭头: 下 49">
            <a:extLst>
              <a:ext uri="{FF2B5EF4-FFF2-40B4-BE49-F238E27FC236}">
                <a16:creationId xmlns:a16="http://schemas.microsoft.com/office/drawing/2014/main" id="{C19396F0-AA01-B208-80DA-BBEFF8C9AC2B}"/>
              </a:ext>
            </a:extLst>
          </p:cNvPr>
          <p:cNvSpPr/>
          <p:nvPr/>
        </p:nvSpPr>
        <p:spPr>
          <a:xfrm>
            <a:off x="8113040" y="4256234"/>
            <a:ext cx="484632" cy="425704"/>
          </a:xfrm>
          <a:prstGeom prst="downArrow">
            <a:avLst/>
          </a:prstGeom>
          <a:solidFill>
            <a:srgbClr val="2A69A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箭头: 右 51">
            <a:extLst>
              <a:ext uri="{FF2B5EF4-FFF2-40B4-BE49-F238E27FC236}">
                <a16:creationId xmlns:a16="http://schemas.microsoft.com/office/drawing/2014/main" id="{4E83D1C2-D190-9B22-4A90-2E38F773312A}"/>
              </a:ext>
            </a:extLst>
          </p:cNvPr>
          <p:cNvSpPr/>
          <p:nvPr/>
        </p:nvSpPr>
        <p:spPr>
          <a:xfrm rot="10800000">
            <a:off x="6000700" y="5436788"/>
            <a:ext cx="978408" cy="484632"/>
          </a:xfrm>
          <a:prstGeom prst="rightArrow">
            <a:avLst/>
          </a:prstGeom>
          <a:solidFill>
            <a:srgbClr val="2A69A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0881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FC529-78BB-6C41-BCA1-B6D5AEDC40F0}"/>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39470705-7860-4D54-51B6-F9A9EB23E6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1D332B93-8C48-8888-1E9F-7F799FA002CF}"/>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C5212A10-D407-79B5-58D0-9291048E32C7}"/>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8A7FC1B6-B011-E904-8C45-4A1BF678394A}"/>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8A2C5E34-94D9-F525-445F-94A525E265F7}"/>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F5DD50B4-D222-6435-B22F-DDCD8553EF64}"/>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621DE539-AA01-AFA7-E141-0E51C9AE6D0D}"/>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1CE4B57F-5A12-8C65-8A7E-1326EACEF96E}"/>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(3)</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场景理解</a:t>
            </a:r>
          </a:p>
        </p:txBody>
      </p:sp>
      <p:sp>
        <p:nvSpPr>
          <p:cNvPr id="29" name="椭圆 28">
            <a:extLst>
              <a:ext uri="{FF2B5EF4-FFF2-40B4-BE49-F238E27FC236}">
                <a16:creationId xmlns:a16="http://schemas.microsoft.com/office/drawing/2014/main" id="{D13D88BE-F685-AA24-C753-D82BFC1A6E2D}"/>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50C13A40-59C6-C4F3-D032-F1B4B8BC08C1}"/>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30</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5D8F3C6C-9EF3-45E1-EFCB-B1E08360EC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E6BA3CEE-B6E8-F6B9-57DB-94E8AB5060C5}"/>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62FAC2BF-8EDC-8EDD-7A40-827B3E78DD20}"/>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B75FA57C-DA5D-5C8B-A93A-7FF6B430FC47}"/>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325E5EBD-68F1-C1A5-62D2-E7937C8E4A43}"/>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C175AED2-B642-2999-502C-9D5709A296F8}"/>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75CC133A-2AE1-460F-CD16-2F7649310872}"/>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6CCB4B1B-952E-D901-4EA7-3409DF6D892E}"/>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EDDF8B60-0BEB-3E7E-4DAF-68FDDED23630}"/>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EFF4549A-B479-9690-2E27-85DF0D5E9ACB}"/>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CED1D712-8320-2FF2-7A80-CF6F9C1BE8B4}"/>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20C726B4-B256-7BCD-5C77-19500DE3F524}"/>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D5EA9C69-80D9-6DFC-BBBC-F3D74FBBE597}"/>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1B37A8EE-CF16-C7C9-BA87-129CBD023CE7}"/>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3" name="文本框 12">
            <a:extLst>
              <a:ext uri="{FF2B5EF4-FFF2-40B4-BE49-F238E27FC236}">
                <a16:creationId xmlns:a16="http://schemas.microsoft.com/office/drawing/2014/main" id="{41651999-13E0-1E20-AFA6-77853F9BB0B5}"/>
              </a:ext>
            </a:extLst>
          </p:cNvPr>
          <p:cNvSpPr txBox="1"/>
          <p:nvPr/>
        </p:nvSpPr>
        <p:spPr>
          <a:xfrm>
            <a:off x="2728384" y="1834955"/>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子任务三：流估计</a:t>
            </a:r>
            <a:endParaRPr lang="zh-CN" altLang="en-US" sz="1800" dirty="0">
              <a:latin typeface="方正小标宋简体" panose="02010601030101010101" pitchFamily="2" charset="-122"/>
              <a:ea typeface="方正小标宋简体" panose="02010601030101010101" pitchFamily="2" charset="-122"/>
            </a:endParaRPr>
          </a:p>
        </p:txBody>
      </p:sp>
      <p:sp>
        <p:nvSpPr>
          <p:cNvPr id="5" name="文本框 4">
            <a:extLst>
              <a:ext uri="{FF2B5EF4-FFF2-40B4-BE49-F238E27FC236}">
                <a16:creationId xmlns:a16="http://schemas.microsoft.com/office/drawing/2014/main" id="{ADC77A58-2993-F798-7B8E-24446954EB93}"/>
              </a:ext>
            </a:extLst>
          </p:cNvPr>
          <p:cNvSpPr txBox="1"/>
          <p:nvPr/>
        </p:nvSpPr>
        <p:spPr>
          <a:xfrm>
            <a:off x="2728384" y="2235353"/>
            <a:ext cx="10402066" cy="276999"/>
          </a:xfrm>
          <a:prstGeom prst="rect">
            <a:avLst/>
          </a:prstGeom>
          <a:noFill/>
        </p:spPr>
        <p:txBody>
          <a:bodyPr wrap="square">
            <a:spAutoFit/>
          </a:bodyPr>
          <a:lstStyle/>
          <a:p>
            <a:r>
              <a:rPr lang="zh-CN" altLang="zh-CN" sz="1800" b="1" i="0" dirty="0">
                <a:solidFill>
                  <a:schemeClr val="tx1"/>
                </a:solidFill>
                <a:effectLst/>
                <a:latin typeface="+mn-lt"/>
              </a:rPr>
              <a:t>描述数据帧间像素运动</a:t>
            </a:r>
            <a:endParaRPr lang="zh-CN" altLang="en-US" dirty="0"/>
          </a:p>
        </p:txBody>
      </p:sp>
      <p:grpSp>
        <p:nvGrpSpPr>
          <p:cNvPr id="10" name="组合 9">
            <a:extLst>
              <a:ext uri="{FF2B5EF4-FFF2-40B4-BE49-F238E27FC236}">
                <a16:creationId xmlns:a16="http://schemas.microsoft.com/office/drawing/2014/main" id="{FD57BDB1-AD8F-670C-1103-5F2B7706A930}"/>
              </a:ext>
            </a:extLst>
          </p:cNvPr>
          <p:cNvGrpSpPr/>
          <p:nvPr/>
        </p:nvGrpSpPr>
        <p:grpSpPr>
          <a:xfrm>
            <a:off x="2233521" y="2711187"/>
            <a:ext cx="2804883" cy="1560388"/>
            <a:chOff x="2700458" y="2345017"/>
            <a:chExt cx="3261939" cy="1560388"/>
          </a:xfrm>
        </p:grpSpPr>
        <p:sp>
          <p:nvSpPr>
            <p:cNvPr id="12" name="圆角矩形 1">
              <a:extLst>
                <a:ext uri="{FF2B5EF4-FFF2-40B4-BE49-F238E27FC236}">
                  <a16:creationId xmlns:a16="http://schemas.microsoft.com/office/drawing/2014/main" id="{CD7EE4F7-09E8-AA0D-73F6-D260978A4F15}"/>
                </a:ext>
              </a:extLst>
            </p:cNvPr>
            <p:cNvSpPr/>
            <p:nvPr/>
          </p:nvSpPr>
          <p:spPr>
            <a:xfrm>
              <a:off x="2700458" y="2345017"/>
              <a:ext cx="2558074" cy="156038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6116BFC0-DBF4-0E3F-072C-F410BBC04B7D}"/>
                </a:ext>
              </a:extLst>
            </p:cNvPr>
            <p:cNvSpPr txBox="1"/>
            <p:nvPr/>
          </p:nvSpPr>
          <p:spPr>
            <a:xfrm>
              <a:off x="3553755" y="2469659"/>
              <a:ext cx="2408642" cy="276999"/>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光流估计</a:t>
              </a:r>
              <a:endParaRPr lang="zh-CN" altLang="en-US" dirty="0"/>
            </a:p>
          </p:txBody>
        </p:sp>
        <p:sp>
          <p:nvSpPr>
            <p:cNvPr id="24" name="文本框 23">
              <a:extLst>
                <a:ext uri="{FF2B5EF4-FFF2-40B4-BE49-F238E27FC236}">
                  <a16:creationId xmlns:a16="http://schemas.microsoft.com/office/drawing/2014/main" id="{5E3FAE04-724F-F2E0-5CD1-4A5244C122BF}"/>
                </a:ext>
              </a:extLst>
            </p:cNvPr>
            <p:cNvSpPr txBox="1"/>
            <p:nvPr/>
          </p:nvSpPr>
          <p:spPr>
            <a:xfrm>
              <a:off x="2849890" y="2846067"/>
              <a:ext cx="2408642" cy="861774"/>
            </a:xfrm>
            <a:prstGeom prst="rect">
              <a:avLst/>
            </a:prstGeom>
            <a:noFill/>
          </p:spPr>
          <p:txBody>
            <a:bodyPr wrap="square">
              <a:spAutoFit/>
            </a:bodyPr>
            <a:lstStyle/>
            <a:p>
              <a:r>
                <a:rPr lang="zh-CN" altLang="en-US" sz="1000" b="0" i="0" dirty="0">
                  <a:solidFill>
                    <a:schemeClr val="tx1"/>
                  </a:solidFill>
                  <a:effectLst/>
                  <a:latin typeface="+mn-lt"/>
                </a:rPr>
                <a:t>光流指像素在成像系统中的运动，包括水平和垂直两个方向。它可以通过最小化目标图像和源图像之间的差异来推断，类似无监督视频深度估计。</a:t>
              </a:r>
              <a:endParaRPr lang="zh-CN" altLang="en-US" sz="1000" dirty="0"/>
            </a:p>
          </p:txBody>
        </p:sp>
      </p:grpSp>
      <p:sp>
        <p:nvSpPr>
          <p:cNvPr id="57" name="文本框 56">
            <a:extLst>
              <a:ext uri="{FF2B5EF4-FFF2-40B4-BE49-F238E27FC236}">
                <a16:creationId xmlns:a16="http://schemas.microsoft.com/office/drawing/2014/main" id="{7A3B892F-2A3B-862D-1882-8FA5CD8BE280}"/>
              </a:ext>
            </a:extLst>
          </p:cNvPr>
          <p:cNvSpPr txBox="1"/>
          <p:nvPr/>
        </p:nvSpPr>
        <p:spPr>
          <a:xfrm>
            <a:off x="5831663" y="2984304"/>
            <a:ext cx="6182030" cy="990015"/>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zh-CN" sz="1000" b="1" i="0" dirty="0">
                <a:solidFill>
                  <a:schemeClr val="tx1"/>
                </a:solidFill>
                <a:effectLst/>
                <a:latin typeface="+mn-lt"/>
              </a:rPr>
              <a:t>FlowNet</a:t>
            </a:r>
            <a:r>
              <a:rPr lang="zh-CN" altLang="zh-CN" sz="1000" b="0" i="0" dirty="0">
                <a:solidFill>
                  <a:schemeClr val="tx1"/>
                </a:solidFill>
                <a:effectLst/>
                <a:latin typeface="+mn-lt"/>
              </a:rPr>
              <a:t>：用 CNN 学习光流，开创深度学习光流估计。</a:t>
            </a:r>
          </a:p>
          <a:p>
            <a:pPr marL="0" marR="0" lvl="0" indent="-342900" algn="l">
              <a:spcBef>
                <a:spcPts val="450"/>
              </a:spcBef>
              <a:spcAft>
                <a:spcPts val="1200"/>
              </a:spcAft>
              <a:buFont typeface="Arial" panose="020B0604020202020204" pitchFamily="34" charset="0"/>
              <a:buChar char="•"/>
            </a:pPr>
            <a:r>
              <a:rPr lang="zh-CN" altLang="zh-CN" sz="1000" b="1" i="0" dirty="0">
                <a:solidFill>
                  <a:schemeClr val="tx1"/>
                </a:solidFill>
                <a:effectLst/>
                <a:latin typeface="+mn-lt"/>
              </a:rPr>
              <a:t>SPyNet</a:t>
            </a:r>
            <a:r>
              <a:rPr lang="zh-CN" altLang="zh-CN" sz="1000" b="0" i="0" dirty="0">
                <a:solidFill>
                  <a:schemeClr val="tx1"/>
                </a:solidFill>
                <a:effectLst/>
                <a:latin typeface="+mn-lt"/>
              </a:rPr>
              <a:t>：轻量框架，采用经典空间金字塔公式，估计大位移运动和精确亚像素光流。</a:t>
            </a:r>
          </a:p>
          <a:p>
            <a:pPr marL="0" marR="0" lvl="0" indent="-342900" algn="l">
              <a:spcBef>
                <a:spcPts val="450"/>
              </a:spcBef>
              <a:spcAft>
                <a:spcPts val="1200"/>
              </a:spcAft>
              <a:buFont typeface="Arial" panose="020B0604020202020204" pitchFamily="34" charset="0"/>
              <a:buChar char="•"/>
            </a:pPr>
            <a:r>
              <a:rPr lang="zh-CN" altLang="zh-CN" sz="1000" b="1" i="0" dirty="0">
                <a:solidFill>
                  <a:schemeClr val="tx1"/>
                </a:solidFill>
                <a:effectLst/>
                <a:latin typeface="+mn-lt"/>
              </a:rPr>
              <a:t>PWC-Net</a:t>
            </a:r>
            <a:r>
              <a:rPr lang="zh-CN" altLang="zh-CN" sz="1000" b="0" i="0" dirty="0">
                <a:solidFill>
                  <a:schemeClr val="tx1"/>
                </a:solidFill>
                <a:effectLst/>
                <a:latin typeface="+mn-lt"/>
              </a:rPr>
              <a:t>：包含三个子网——特征金字塔提取器、warping 层、cost volume 层，显著提升光流质量。</a:t>
            </a:r>
            <a:endParaRPr lang="zh-CN" altLang="zh-CN" sz="1000" b="0" i="0" dirty="0">
              <a:solidFill>
                <a:srgbClr val="0F1115"/>
              </a:solidFill>
              <a:effectLst/>
              <a:latin typeface="quote-cjk-patch"/>
            </a:endParaRPr>
          </a:p>
        </p:txBody>
      </p:sp>
      <p:sp>
        <p:nvSpPr>
          <p:cNvPr id="58" name="箭头: 右 57">
            <a:extLst>
              <a:ext uri="{FF2B5EF4-FFF2-40B4-BE49-F238E27FC236}">
                <a16:creationId xmlns:a16="http://schemas.microsoft.com/office/drawing/2014/main" id="{BA436382-9A0C-672B-1DD0-3E732E40542A}"/>
              </a:ext>
            </a:extLst>
          </p:cNvPr>
          <p:cNvSpPr/>
          <p:nvPr/>
        </p:nvSpPr>
        <p:spPr>
          <a:xfrm>
            <a:off x="4487397" y="3229368"/>
            <a:ext cx="978408" cy="484632"/>
          </a:xfrm>
          <a:prstGeom prst="rightArrow">
            <a:avLst/>
          </a:prstGeom>
          <a:solidFill>
            <a:srgbClr val="2A69A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t>代表方法</a:t>
            </a:r>
          </a:p>
        </p:txBody>
      </p:sp>
      <p:grpSp>
        <p:nvGrpSpPr>
          <p:cNvPr id="59" name="组合 58">
            <a:extLst>
              <a:ext uri="{FF2B5EF4-FFF2-40B4-BE49-F238E27FC236}">
                <a16:creationId xmlns:a16="http://schemas.microsoft.com/office/drawing/2014/main" id="{402399F0-BD2E-B3E9-5E9B-F22068F7EE33}"/>
              </a:ext>
            </a:extLst>
          </p:cNvPr>
          <p:cNvGrpSpPr/>
          <p:nvPr/>
        </p:nvGrpSpPr>
        <p:grpSpPr>
          <a:xfrm>
            <a:off x="2233521" y="4721144"/>
            <a:ext cx="2687599" cy="1560388"/>
            <a:chOff x="2700458" y="2345017"/>
            <a:chExt cx="3125543" cy="1560388"/>
          </a:xfrm>
        </p:grpSpPr>
        <p:sp>
          <p:nvSpPr>
            <p:cNvPr id="60" name="圆角矩形 1">
              <a:extLst>
                <a:ext uri="{FF2B5EF4-FFF2-40B4-BE49-F238E27FC236}">
                  <a16:creationId xmlns:a16="http://schemas.microsoft.com/office/drawing/2014/main" id="{99A33FD7-33C4-054D-ED67-B372B417FDCD}"/>
                </a:ext>
              </a:extLst>
            </p:cNvPr>
            <p:cNvSpPr/>
            <p:nvPr/>
          </p:nvSpPr>
          <p:spPr>
            <a:xfrm>
              <a:off x="2700458" y="2345017"/>
              <a:ext cx="2558074" cy="156038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61" name="文本框 60">
              <a:extLst>
                <a:ext uri="{FF2B5EF4-FFF2-40B4-BE49-F238E27FC236}">
                  <a16:creationId xmlns:a16="http://schemas.microsoft.com/office/drawing/2014/main" id="{2DC55B3A-3363-6D41-F989-36403F076BCD}"/>
                </a:ext>
              </a:extLst>
            </p:cNvPr>
            <p:cNvSpPr txBox="1"/>
            <p:nvPr/>
          </p:nvSpPr>
          <p:spPr>
            <a:xfrm>
              <a:off x="3417359" y="2468677"/>
              <a:ext cx="2408642" cy="276999"/>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场景流估计</a:t>
              </a:r>
              <a:endParaRPr lang="zh-CN" altLang="en-US" dirty="0"/>
            </a:p>
          </p:txBody>
        </p:sp>
        <p:sp>
          <p:nvSpPr>
            <p:cNvPr id="62" name="文本框 61">
              <a:extLst>
                <a:ext uri="{FF2B5EF4-FFF2-40B4-BE49-F238E27FC236}">
                  <a16:creationId xmlns:a16="http://schemas.microsoft.com/office/drawing/2014/main" id="{8A0F02CD-BD30-AAF7-71A3-C06EA4A478B4}"/>
                </a:ext>
              </a:extLst>
            </p:cNvPr>
            <p:cNvSpPr txBox="1"/>
            <p:nvPr/>
          </p:nvSpPr>
          <p:spPr>
            <a:xfrm>
              <a:off x="2849890" y="2846067"/>
              <a:ext cx="2408643" cy="1015663"/>
            </a:xfrm>
            <a:prstGeom prst="rect">
              <a:avLst/>
            </a:prstGeom>
            <a:noFill/>
          </p:spPr>
          <p:txBody>
            <a:bodyPr wrap="square">
              <a:spAutoFit/>
            </a:bodyPr>
            <a:lstStyle/>
            <a:p>
              <a:r>
                <a:rPr lang="zh-CN" altLang="en-US" sz="1000" b="0" i="0" dirty="0">
                  <a:solidFill>
                    <a:schemeClr val="tx1"/>
                  </a:solidFill>
                  <a:effectLst/>
                  <a:latin typeface="+mn-lt"/>
                </a:rPr>
                <a:t>场景流表示三维运动场，是光流在 </a:t>
              </a:r>
              <a:r>
                <a:rPr lang="en-US" altLang="zh-CN" sz="1000" b="0" i="0" dirty="0">
                  <a:solidFill>
                    <a:schemeClr val="tx1"/>
                  </a:solidFill>
                  <a:effectLst/>
                  <a:latin typeface="+mn-lt"/>
                </a:rPr>
                <a:t>3D </a:t>
              </a:r>
              <a:r>
                <a:rPr lang="zh-CN" altLang="en-US" sz="1000" b="0" i="0" dirty="0">
                  <a:solidFill>
                    <a:schemeClr val="tx1"/>
                  </a:solidFill>
                  <a:effectLst/>
                  <a:latin typeface="+mn-lt"/>
                </a:rPr>
                <a:t>场景中的扩展，本质上是光流与深度估计的结合。单目图像很少用于场景流的整体训练，通常以双目视频为输入，回归视差以恢复尺度。</a:t>
              </a:r>
              <a:endParaRPr lang="zh-CN" altLang="en-US" sz="1000" dirty="0"/>
            </a:p>
          </p:txBody>
        </p:sp>
      </p:grpSp>
      <p:sp>
        <p:nvSpPr>
          <p:cNvPr id="9216" name="箭头: 右 9215">
            <a:extLst>
              <a:ext uri="{FF2B5EF4-FFF2-40B4-BE49-F238E27FC236}">
                <a16:creationId xmlns:a16="http://schemas.microsoft.com/office/drawing/2014/main" id="{5C5DA355-8BAC-D474-A69B-B2E7F950A4AF}"/>
              </a:ext>
            </a:extLst>
          </p:cNvPr>
          <p:cNvSpPr/>
          <p:nvPr/>
        </p:nvSpPr>
        <p:spPr>
          <a:xfrm>
            <a:off x="4487397" y="5217035"/>
            <a:ext cx="978408" cy="484632"/>
          </a:xfrm>
          <a:prstGeom prst="rightArrow">
            <a:avLst/>
          </a:prstGeom>
          <a:solidFill>
            <a:srgbClr val="2A69A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t>代表方法</a:t>
            </a:r>
          </a:p>
        </p:txBody>
      </p:sp>
      <p:sp>
        <p:nvSpPr>
          <p:cNvPr id="9219" name="文本框 9218">
            <a:extLst>
              <a:ext uri="{FF2B5EF4-FFF2-40B4-BE49-F238E27FC236}">
                <a16:creationId xmlns:a16="http://schemas.microsoft.com/office/drawing/2014/main" id="{75953F7E-B25A-16F9-92DA-8F287A78C994}"/>
              </a:ext>
            </a:extLst>
          </p:cNvPr>
          <p:cNvSpPr txBox="1"/>
          <p:nvPr/>
        </p:nvSpPr>
        <p:spPr>
          <a:xfrm>
            <a:off x="5831663" y="4875946"/>
            <a:ext cx="6182030" cy="1515800"/>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zh-CN" sz="1000" b="1" i="0" dirty="0">
                <a:solidFill>
                  <a:schemeClr val="tx1"/>
                </a:solidFill>
                <a:effectLst/>
                <a:latin typeface="+mn-lt"/>
              </a:rPr>
              <a:t>DRISF</a:t>
            </a:r>
            <a:r>
              <a:rPr lang="zh-CN" altLang="zh-CN" sz="1000" b="0" i="0" dirty="0">
                <a:solidFill>
                  <a:schemeClr val="tx1"/>
                </a:solidFill>
                <a:effectLst/>
                <a:latin typeface="+mn-lt"/>
              </a:rPr>
              <a:t>：把高斯牛顿（GN）推理步骤视为 RNN，可端到端训练。</a:t>
            </a:r>
          </a:p>
          <a:p>
            <a:pPr marL="0" marR="0" lvl="0" indent="-342900" algn="l">
              <a:spcBef>
                <a:spcPts val="450"/>
              </a:spcBef>
              <a:spcAft>
                <a:spcPts val="1200"/>
              </a:spcAft>
              <a:buFont typeface="Arial" panose="020B0604020202020204" pitchFamily="34" charset="0"/>
              <a:buChar char="•"/>
            </a:pPr>
            <a:r>
              <a:rPr lang="zh-CN" altLang="zh-CN" sz="1000" b="1" i="0" dirty="0">
                <a:solidFill>
                  <a:schemeClr val="tx1"/>
                </a:solidFill>
                <a:effectLst/>
                <a:latin typeface="+mn-lt"/>
              </a:rPr>
              <a:t>FD-Net</a:t>
            </a:r>
            <a:r>
              <a:rPr lang="zh-CN" altLang="zh-CN" sz="1000" b="0" i="0" dirty="0">
                <a:solidFill>
                  <a:schemeClr val="tx1"/>
                </a:solidFill>
                <a:effectLst/>
                <a:latin typeface="+mn-lt"/>
              </a:rPr>
              <a:t>：扩展无监督深度估计，把全流分解为物体流（目标像素）和刚性流（背景像素），分别评估特性，避免遮挡和截断带来的 warping 歧义。</a:t>
            </a:r>
          </a:p>
          <a:p>
            <a:pPr marL="0" marR="0" lvl="0" indent="-342900" algn="l">
              <a:spcBef>
                <a:spcPts val="450"/>
              </a:spcBef>
              <a:spcAft>
                <a:spcPts val="1200"/>
              </a:spcAft>
              <a:buFont typeface="Arial" panose="020B0604020202020204" pitchFamily="34" charset="0"/>
              <a:buChar char="•"/>
            </a:pPr>
            <a:r>
              <a:rPr lang="zh-CN" altLang="zh-CN" sz="1000" b="1" i="0" dirty="0">
                <a:solidFill>
                  <a:schemeClr val="tx1"/>
                </a:solidFill>
                <a:effectLst/>
                <a:latin typeface="+mn-lt"/>
              </a:rPr>
              <a:t>竞争协作（CC）</a:t>
            </a:r>
            <a:r>
              <a:rPr lang="zh-CN" altLang="zh-CN" sz="1000" b="0" i="0" dirty="0">
                <a:solidFill>
                  <a:schemeClr val="tx1"/>
                </a:solidFill>
                <a:effectLst/>
                <a:latin typeface="+mn-lt"/>
              </a:rPr>
              <a:t>：把场景流估计设为三人博弈，两个竞争资源，最后一个充当仲裁者。</a:t>
            </a:r>
          </a:p>
          <a:p>
            <a:pPr marL="0" marR="0" lvl="0" indent="-342900" algn="l">
              <a:spcBef>
                <a:spcPts val="450"/>
              </a:spcBef>
              <a:spcAft>
                <a:spcPts val="1200"/>
              </a:spcAft>
              <a:buFont typeface="Arial" panose="020B0604020202020204" pitchFamily="34" charset="0"/>
              <a:buChar char="•"/>
            </a:pPr>
            <a:r>
              <a:rPr lang="zh-CN" altLang="zh-CN" sz="1000" b="1" i="0" dirty="0">
                <a:solidFill>
                  <a:schemeClr val="tx1"/>
                </a:solidFill>
                <a:effectLst/>
                <a:latin typeface="+mn-lt"/>
              </a:rPr>
              <a:t>GeoNet</a:t>
            </a:r>
            <a:r>
              <a:rPr lang="zh-CN" altLang="zh-CN" sz="1000" b="0" i="0" dirty="0">
                <a:solidFill>
                  <a:schemeClr val="tx1"/>
                </a:solidFill>
                <a:effectLst/>
                <a:latin typeface="+mn-lt"/>
              </a:rPr>
              <a:t>：由两个模块组成——单目深度与 6DoF 自运动估计，以及残差网络学习物体光流。</a:t>
            </a:r>
            <a:endParaRPr lang="zh-CN" altLang="zh-CN" sz="1000" b="0" i="0" dirty="0">
              <a:solidFill>
                <a:srgbClr val="0F1115"/>
              </a:solidFill>
              <a:effectLst/>
              <a:latin typeface="quote-cjk-patch"/>
            </a:endParaRPr>
          </a:p>
        </p:txBody>
      </p:sp>
    </p:spTree>
    <p:extLst>
      <p:ext uri="{BB962C8B-B14F-4D97-AF65-F5344CB8AC3E}">
        <p14:creationId xmlns:p14="http://schemas.microsoft.com/office/powerpoint/2010/main" val="2443892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17FDF-44F8-123D-6F49-A9C7C45FD08D}"/>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3AC72B7C-CC6F-5BB4-8592-6814C6DA50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37C79FD0-10BF-CCB6-3002-D6190EABF2A2}"/>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06652FDC-6541-629C-50AF-6D1D8D0B7552}"/>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2C2939BF-5469-401C-A9EF-CFD82C4BFC67}"/>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CD69F34-B19C-6B13-BFB6-28070B9AE862}"/>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02B057CF-D4CF-224D-C3E8-695F7AC7EDAB}"/>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40297435-5E63-1CD4-7B72-AC14B39D514F}"/>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9DFF61E0-4FD3-E5AC-1B10-43E2C5ABE43B}"/>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(3)</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场景理解</a:t>
            </a:r>
          </a:p>
        </p:txBody>
      </p:sp>
      <p:sp>
        <p:nvSpPr>
          <p:cNvPr id="29" name="椭圆 28">
            <a:extLst>
              <a:ext uri="{FF2B5EF4-FFF2-40B4-BE49-F238E27FC236}">
                <a16:creationId xmlns:a16="http://schemas.microsoft.com/office/drawing/2014/main" id="{35BB199D-C9E5-655C-E4BB-375237A19580}"/>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B6C716E2-E61D-BFB7-5229-8E9FD637ECA1}"/>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31</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D991E1B6-002A-F4A1-12E4-706F642830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F823938C-9EBF-7E8E-D577-C7E2461225F9}"/>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A363BDFC-471B-330F-147D-4263DA88AF4E}"/>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C2323061-F13C-D643-A9B7-03F089FA8EC4}"/>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AF710376-9D2C-A924-C847-EEE16BC747E7}"/>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2767A9FB-B59F-D394-E0CA-6506DA5532C2}"/>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A4F04AF8-4BAC-87FE-BE94-702EDA4A229F}"/>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02B00C8E-9BD5-23F5-314C-7D6D596A95BF}"/>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F7CC296C-536F-E513-6A4F-75CBC8D95895}"/>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70F9F0FD-1F1E-E786-11FA-04000EB55B61}"/>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ED8B1F60-39AA-AB3C-909E-4C8C270A7CEF}"/>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A7B83EB6-4684-E216-C73A-5E21C7AF7720}"/>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8012E1D1-8598-DB04-52BF-C9E7BD8D070B}"/>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03AB2DDA-FDF9-E7D1-5087-992F9A8ABB11}"/>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3" name="文本框 12">
            <a:extLst>
              <a:ext uri="{FF2B5EF4-FFF2-40B4-BE49-F238E27FC236}">
                <a16:creationId xmlns:a16="http://schemas.microsoft.com/office/drawing/2014/main" id="{8CB79B21-11AE-C40C-6FA4-9B2FBE3073DC}"/>
              </a:ext>
            </a:extLst>
          </p:cNvPr>
          <p:cNvSpPr txBox="1"/>
          <p:nvPr/>
        </p:nvSpPr>
        <p:spPr>
          <a:xfrm>
            <a:off x="2728384" y="1834955"/>
            <a:ext cx="10401300" cy="369332"/>
          </a:xfrm>
          <a:prstGeom prst="rect">
            <a:avLst/>
          </a:prstGeom>
          <a:noFill/>
        </p:spPr>
        <p:txBody>
          <a:bodyPr wrap="square">
            <a:spAutoFit/>
          </a:bodyPr>
          <a:lstStyle/>
          <a:p>
            <a:r>
              <a:rPr lang="zh-CN" altLang="en-US" sz="1800" b="1" i="0" dirty="0">
                <a:effectLst/>
                <a:latin typeface="方正小标宋简体" panose="02010601030101010101" pitchFamily="2" charset="-122"/>
                <a:ea typeface="方正小标宋简体" panose="02010601030101010101" pitchFamily="2" charset="-122"/>
              </a:rPr>
              <a:t>子任务三：流估计</a:t>
            </a:r>
            <a:endParaRPr lang="zh-CN" altLang="en-US" sz="1800" dirty="0">
              <a:latin typeface="方正小标宋简体" panose="02010601030101010101" pitchFamily="2" charset="-122"/>
              <a:ea typeface="方正小标宋简体" panose="02010601030101010101" pitchFamily="2" charset="-122"/>
            </a:endParaRPr>
          </a:p>
        </p:txBody>
      </p:sp>
      <p:sp>
        <p:nvSpPr>
          <p:cNvPr id="5" name="文本框 4">
            <a:extLst>
              <a:ext uri="{FF2B5EF4-FFF2-40B4-BE49-F238E27FC236}">
                <a16:creationId xmlns:a16="http://schemas.microsoft.com/office/drawing/2014/main" id="{A43501F6-5419-9A82-90E6-2628578321AB}"/>
              </a:ext>
            </a:extLst>
          </p:cNvPr>
          <p:cNvSpPr txBox="1"/>
          <p:nvPr/>
        </p:nvSpPr>
        <p:spPr>
          <a:xfrm>
            <a:off x="2728384" y="2235353"/>
            <a:ext cx="10402066" cy="276999"/>
          </a:xfrm>
          <a:prstGeom prst="rect">
            <a:avLst/>
          </a:prstGeom>
          <a:noFill/>
        </p:spPr>
        <p:txBody>
          <a:bodyPr wrap="square">
            <a:spAutoFit/>
          </a:bodyPr>
          <a:lstStyle/>
          <a:p>
            <a:r>
              <a:rPr lang="zh-CN" altLang="zh-CN" sz="1800" b="1" i="0" dirty="0">
                <a:solidFill>
                  <a:schemeClr val="tx1"/>
                </a:solidFill>
                <a:effectLst/>
                <a:latin typeface="+mn-lt"/>
              </a:rPr>
              <a:t>描述数据帧间像素运动</a:t>
            </a:r>
            <a:endParaRPr lang="zh-CN" altLang="en-US" dirty="0"/>
          </a:p>
        </p:txBody>
      </p:sp>
      <p:sp>
        <p:nvSpPr>
          <p:cNvPr id="4" name="文本框 3">
            <a:extLst>
              <a:ext uri="{FF2B5EF4-FFF2-40B4-BE49-F238E27FC236}">
                <a16:creationId xmlns:a16="http://schemas.microsoft.com/office/drawing/2014/main" id="{9FFC9748-0259-D056-69A5-8F150DD07BE9}"/>
              </a:ext>
            </a:extLst>
          </p:cNvPr>
          <p:cNvSpPr txBox="1"/>
          <p:nvPr/>
        </p:nvSpPr>
        <p:spPr>
          <a:xfrm>
            <a:off x="2728384" y="2696318"/>
            <a:ext cx="4908884" cy="3685624"/>
          </a:xfrm>
          <a:prstGeom prst="rect">
            <a:avLst/>
          </a:prstGeom>
          <a:noFill/>
        </p:spPr>
        <p:txBody>
          <a:bodyPr wrap="square">
            <a:spAutoFit/>
          </a:bodyPr>
          <a:lstStyle/>
          <a:p>
            <a:pPr marL="0" marR="0" indent="0" algn="l">
              <a:lnSpc>
                <a:spcPct val="100000"/>
              </a:lnSpc>
              <a:spcBef>
                <a:spcPts val="2400"/>
              </a:spcBef>
              <a:buNone/>
            </a:pPr>
            <a:r>
              <a:rPr lang="zh-CN" altLang="zh-CN" sz="1200" b="1" dirty="0">
                <a:solidFill>
                  <a:schemeClr val="tx1"/>
                </a:solidFill>
                <a:effectLst/>
                <a:latin typeface="+mn-lt"/>
              </a:rPr>
              <a:t>优点</a:t>
            </a:r>
          </a:p>
          <a:p>
            <a:pPr marL="0" marR="0" lvl="0" indent="-342900" algn="l">
              <a:spcBef>
                <a:spcPts val="1200"/>
              </a:spcBef>
              <a:buFont typeface="Arial" panose="020B0604020202020204" pitchFamily="34" charset="0"/>
              <a:buChar char="•"/>
            </a:pPr>
            <a:r>
              <a:rPr lang="zh-CN" altLang="zh-CN" sz="1200" b="0" i="0" dirty="0">
                <a:solidFill>
                  <a:schemeClr val="tx1"/>
                </a:solidFill>
                <a:effectLst/>
                <a:latin typeface="+mn-lt"/>
              </a:rPr>
              <a:t>提供像素级运动信息，比目标框更细粒度；</a:t>
            </a:r>
          </a:p>
          <a:p>
            <a:pPr marL="0" marR="0" lvl="0" indent="-342900" algn="l">
              <a:spcBef>
                <a:spcPts val="450"/>
              </a:spcBef>
              <a:buFont typeface="Arial" panose="020B0604020202020204" pitchFamily="34" charset="0"/>
              <a:buChar char="•"/>
            </a:pPr>
            <a:r>
              <a:rPr lang="zh-CN" altLang="zh-CN" sz="1200" b="0" i="0" dirty="0">
                <a:solidFill>
                  <a:schemeClr val="tx1"/>
                </a:solidFill>
                <a:effectLst/>
                <a:latin typeface="+mn-lt"/>
              </a:rPr>
              <a:t>光流低算力、高实时，适合事件相机；</a:t>
            </a:r>
          </a:p>
          <a:p>
            <a:pPr marL="0" marR="0" lvl="0" indent="-342900" algn="l">
              <a:spcBef>
                <a:spcPts val="450"/>
              </a:spcBef>
              <a:buFont typeface="Arial" panose="020B0604020202020204" pitchFamily="34" charset="0"/>
              <a:buChar char="•"/>
            </a:pPr>
            <a:r>
              <a:rPr lang="zh-CN" altLang="zh-CN" sz="1200" b="0" i="0" dirty="0">
                <a:solidFill>
                  <a:schemeClr val="tx1"/>
                </a:solidFill>
                <a:effectLst/>
                <a:latin typeface="+mn-lt"/>
              </a:rPr>
              <a:t>场景流提供 3D 运动场，服务运动目标跟踪；</a:t>
            </a:r>
          </a:p>
          <a:p>
            <a:pPr marL="0" marR="0" lvl="0" indent="-342900" algn="l">
              <a:spcBef>
                <a:spcPts val="450"/>
              </a:spcBef>
              <a:buFont typeface="Arial" panose="020B0604020202020204" pitchFamily="34" charset="0"/>
              <a:buChar char="•"/>
            </a:pPr>
            <a:r>
              <a:rPr lang="zh-CN" altLang="zh-CN" sz="1200" b="0" i="0" dirty="0">
                <a:solidFill>
                  <a:schemeClr val="tx1"/>
                </a:solidFill>
                <a:effectLst/>
                <a:latin typeface="+mn-lt"/>
              </a:rPr>
              <a:t>与深度估计、分割联合，增强跨模态融合；</a:t>
            </a:r>
          </a:p>
          <a:p>
            <a:pPr marL="0" marR="0" lvl="0" indent="-342900" algn="l">
              <a:spcBef>
                <a:spcPts val="450"/>
              </a:spcBef>
              <a:buFont typeface="Arial" panose="020B0604020202020204" pitchFamily="34" charset="0"/>
              <a:buChar char="•"/>
            </a:pPr>
            <a:r>
              <a:rPr lang="zh-CN" altLang="zh-CN" sz="1200" b="0" i="0" dirty="0">
                <a:solidFill>
                  <a:schemeClr val="tx1"/>
                </a:solidFill>
                <a:effectLst/>
                <a:latin typeface="+mn-lt"/>
              </a:rPr>
              <a:t>无监督方法减少标注依赖。</a:t>
            </a:r>
          </a:p>
          <a:p>
            <a:pPr marL="0" marR="0" indent="0" algn="l">
              <a:lnSpc>
                <a:spcPct val="100000"/>
              </a:lnSpc>
              <a:spcBef>
                <a:spcPts val="2400"/>
              </a:spcBef>
              <a:buNone/>
            </a:pPr>
            <a:r>
              <a:rPr lang="zh-CN" altLang="zh-CN" sz="1200" b="1" dirty="0">
                <a:solidFill>
                  <a:schemeClr val="tx1"/>
                </a:solidFill>
                <a:effectLst/>
                <a:latin typeface="+mn-lt"/>
              </a:rPr>
              <a:t>缺点</a:t>
            </a:r>
          </a:p>
          <a:p>
            <a:pPr marL="0" marR="0" lvl="0" indent="-342900" algn="l">
              <a:spcBef>
                <a:spcPts val="1200"/>
              </a:spcBef>
              <a:buFont typeface="Arial" panose="020B0604020202020204" pitchFamily="34" charset="0"/>
              <a:buChar char="•"/>
            </a:pPr>
            <a:r>
              <a:rPr lang="zh-CN" altLang="zh-CN" sz="1200" b="0" i="0" dirty="0">
                <a:solidFill>
                  <a:schemeClr val="tx1"/>
                </a:solidFill>
                <a:effectLst/>
                <a:latin typeface="+mn-lt"/>
              </a:rPr>
              <a:t>光流对光照变化极度敏感；</a:t>
            </a:r>
          </a:p>
          <a:p>
            <a:pPr marL="0" marR="0" lvl="0" indent="-342900" algn="l">
              <a:spcBef>
                <a:spcPts val="450"/>
              </a:spcBef>
              <a:buFont typeface="Arial" panose="020B0604020202020204" pitchFamily="34" charset="0"/>
              <a:buChar char="•"/>
            </a:pPr>
            <a:r>
              <a:rPr lang="zh-CN" altLang="zh-CN" sz="1200" b="0" i="0" dirty="0">
                <a:solidFill>
                  <a:schemeClr val="tx1"/>
                </a:solidFill>
                <a:effectLst/>
                <a:latin typeface="+mn-lt"/>
              </a:rPr>
              <a:t>场景流需要双目视频，尺度恢复依赖视差；</a:t>
            </a:r>
          </a:p>
          <a:p>
            <a:pPr marL="0" marR="0" lvl="0" indent="-342900" algn="l">
              <a:spcBef>
                <a:spcPts val="450"/>
              </a:spcBef>
              <a:buFont typeface="Arial" panose="020B0604020202020204" pitchFamily="34" charset="0"/>
              <a:buChar char="•"/>
            </a:pPr>
            <a:r>
              <a:rPr lang="zh-CN" altLang="zh-CN" sz="1200" b="0" i="0" dirty="0">
                <a:solidFill>
                  <a:schemeClr val="tx1"/>
                </a:solidFill>
                <a:effectLst/>
                <a:latin typeface="+mn-lt"/>
              </a:rPr>
              <a:t>遮挡、截断导致 warping 歧义；</a:t>
            </a:r>
          </a:p>
          <a:p>
            <a:pPr marL="0" marR="0" lvl="0" indent="-342900" algn="l">
              <a:spcBef>
                <a:spcPts val="450"/>
              </a:spcBef>
              <a:buFont typeface="Arial" panose="020B0604020202020204" pitchFamily="34" charset="0"/>
              <a:buChar char="•"/>
            </a:pPr>
            <a:r>
              <a:rPr lang="zh-CN" altLang="zh-CN" sz="1200" b="0" i="0" dirty="0">
                <a:solidFill>
                  <a:schemeClr val="tx1"/>
                </a:solidFill>
                <a:effectLst/>
                <a:latin typeface="+mn-lt"/>
              </a:rPr>
              <a:t>单目场景流训练困难；</a:t>
            </a:r>
          </a:p>
          <a:p>
            <a:pPr marL="0" marR="0" lvl="0" indent="-342900" algn="l">
              <a:spcBef>
                <a:spcPts val="450"/>
              </a:spcBef>
              <a:buFont typeface="Arial" panose="020B0604020202020204" pitchFamily="34" charset="0"/>
              <a:buChar char="•"/>
            </a:pPr>
            <a:r>
              <a:rPr lang="zh-CN" altLang="zh-CN" sz="1200" b="0" i="0" dirty="0">
                <a:solidFill>
                  <a:schemeClr val="tx1"/>
                </a:solidFill>
                <a:effectLst/>
                <a:latin typeface="+mn-lt"/>
              </a:rPr>
              <a:t>实时性差，计算量大；</a:t>
            </a:r>
          </a:p>
          <a:p>
            <a:pPr marL="0" marR="0" lvl="0" indent="-342900" algn="l">
              <a:spcBef>
                <a:spcPts val="450"/>
              </a:spcBef>
              <a:buFont typeface="Arial" panose="020B0604020202020204" pitchFamily="34" charset="0"/>
              <a:buChar char="•"/>
            </a:pPr>
            <a:r>
              <a:rPr lang="zh-CN" altLang="zh-CN" sz="1200" b="0" i="0" dirty="0">
                <a:solidFill>
                  <a:schemeClr val="tx1"/>
                </a:solidFill>
                <a:effectLst/>
                <a:latin typeface="+mn-lt"/>
              </a:rPr>
              <a:t>不直接服务规划，需与检测、跟踪结合。</a:t>
            </a:r>
            <a:endParaRPr lang="zh-CN" altLang="zh-CN" sz="1200" b="0" i="0" dirty="0">
              <a:solidFill>
                <a:srgbClr val="0F1115"/>
              </a:solidFill>
              <a:effectLst/>
              <a:latin typeface="quote-cjk-patch"/>
            </a:endParaRPr>
          </a:p>
        </p:txBody>
      </p:sp>
    </p:spTree>
    <p:extLst>
      <p:ext uri="{BB962C8B-B14F-4D97-AF65-F5344CB8AC3E}">
        <p14:creationId xmlns:p14="http://schemas.microsoft.com/office/powerpoint/2010/main" val="2044578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2A807-427B-FB93-D414-D2A668CCDC9D}"/>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A8AB3EBF-1BCC-5742-1A81-57D2E21D46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373BE213-4EA3-34FD-604E-193718C3DC27}"/>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0B98D93A-F78A-9B48-F591-404F1E2C93F3}"/>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54D9373E-9708-D8E5-40C3-647364CEEA3F}"/>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B4EC3774-7417-A20B-A85C-DCAA97BD2141}"/>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835A724E-ECAD-B451-378B-F991100F5411}"/>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7A605614-C00E-DF43-E612-FA300DF5E089}"/>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E2E8D635-E6F2-A90C-68A1-37BDCC5F258F}"/>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(4)</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预测与跟踪</a:t>
            </a:r>
          </a:p>
        </p:txBody>
      </p:sp>
      <p:sp>
        <p:nvSpPr>
          <p:cNvPr id="29" name="椭圆 28">
            <a:extLst>
              <a:ext uri="{FF2B5EF4-FFF2-40B4-BE49-F238E27FC236}">
                <a16:creationId xmlns:a16="http://schemas.microsoft.com/office/drawing/2014/main" id="{D772EE16-8C68-12A5-A495-31F808717F4C}"/>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E5FAA723-F1E7-B7A1-5FC5-15CEB601119A}"/>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32</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847A21DB-31DD-BDA4-0BFE-0DEE37C80D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D58F9501-0E2E-404D-66C9-B408B37052EC}"/>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EA2430A2-1F1C-E36A-3EE1-6AE59947F41E}"/>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AFB00C70-15A0-ACE9-91DB-F84D6F81649B}"/>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06736EFC-1AD0-6483-96F4-F097743F5649}"/>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135EC191-CBE2-00E7-F33D-C71F664E2128}"/>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8E681CCC-5222-9FED-FF0B-E72ECBE85A06}"/>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8BFCA602-7BDB-4174-97EF-B090DACE061D}"/>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54FC128B-A0D5-A5E7-6CE7-699A6A18339A}"/>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F7A5EB6C-030C-3535-B5C5-68A59325FAE4}"/>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6ED17616-08CB-2EB6-FF60-1E03B5FE5846}"/>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9709443D-C008-EDBE-6492-9529C695C21E}"/>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BE9188C6-BF5C-1B92-C19A-990AC6BF0AB0}"/>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DFB0037E-A3B1-CFA6-FD78-BC0FED996F90}"/>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7" name="文本框 16">
            <a:extLst>
              <a:ext uri="{FF2B5EF4-FFF2-40B4-BE49-F238E27FC236}">
                <a16:creationId xmlns:a16="http://schemas.microsoft.com/office/drawing/2014/main" id="{745296C0-F68C-0563-EBD3-2BAB5290143D}"/>
              </a:ext>
            </a:extLst>
          </p:cNvPr>
          <p:cNvSpPr txBox="1"/>
          <p:nvPr/>
        </p:nvSpPr>
        <p:spPr>
          <a:xfrm>
            <a:off x="2311088" y="1881688"/>
            <a:ext cx="6417141" cy="369332"/>
          </a:xfrm>
          <a:prstGeom prst="rect">
            <a:avLst/>
          </a:prstGeom>
          <a:noFill/>
        </p:spPr>
        <p:txBody>
          <a:bodyPr wrap="none" rtlCol="0">
            <a:spAutoFit/>
          </a:bodyPr>
          <a:lstStyle/>
          <a:p>
            <a:r>
              <a:rPr lang="zh-CN" altLang="zh-CN" b="1" dirty="0"/>
              <a:t>预测</a:t>
            </a:r>
            <a:r>
              <a:rPr lang="zh-CN" altLang="en-US" b="1" dirty="0"/>
              <a:t>：</a:t>
            </a:r>
            <a:r>
              <a:rPr lang="zh-CN" altLang="zh-CN" dirty="0"/>
              <a:t>预测其他交通参与者未来行为，输出概率分布或轨迹。</a:t>
            </a:r>
            <a:endParaRPr lang="zh-CN" altLang="zh-CN" b="1" dirty="0"/>
          </a:p>
        </p:txBody>
      </p:sp>
      <p:pic>
        <p:nvPicPr>
          <p:cNvPr id="41" name="table">
            <a:extLst>
              <a:ext uri="{FF2B5EF4-FFF2-40B4-BE49-F238E27FC236}">
                <a16:creationId xmlns:a16="http://schemas.microsoft.com/office/drawing/2014/main" id="{37B84C44-5654-C641-D90C-2413772E205E}"/>
              </a:ext>
            </a:extLst>
          </p:cNvPr>
          <p:cNvPicPr>
            <a:picLocks noChangeAspect="1"/>
          </p:cNvPicPr>
          <p:nvPr/>
        </p:nvPicPr>
        <p:blipFill>
          <a:blip r:embed="rId4"/>
          <a:stretch>
            <a:fillRect/>
          </a:stretch>
        </p:blipFill>
        <p:spPr>
          <a:xfrm>
            <a:off x="1845934" y="2584939"/>
            <a:ext cx="9562699" cy="1730393"/>
          </a:xfrm>
          <a:prstGeom prst="rect">
            <a:avLst/>
          </a:prstGeom>
        </p:spPr>
      </p:pic>
      <p:grpSp>
        <p:nvGrpSpPr>
          <p:cNvPr id="42" name="组合 41">
            <a:extLst>
              <a:ext uri="{FF2B5EF4-FFF2-40B4-BE49-F238E27FC236}">
                <a16:creationId xmlns:a16="http://schemas.microsoft.com/office/drawing/2014/main" id="{24427854-A920-4CDD-1A52-8FF54F17F770}"/>
              </a:ext>
            </a:extLst>
          </p:cNvPr>
          <p:cNvGrpSpPr/>
          <p:nvPr/>
        </p:nvGrpSpPr>
        <p:grpSpPr>
          <a:xfrm>
            <a:off x="1845934" y="4713971"/>
            <a:ext cx="2408566" cy="1445544"/>
            <a:chOff x="2885274" y="2419091"/>
            <a:chExt cx="2711589" cy="2054717"/>
          </a:xfrm>
        </p:grpSpPr>
        <p:sp>
          <p:nvSpPr>
            <p:cNvPr id="43" name="圆角矩形 1">
              <a:extLst>
                <a:ext uri="{FF2B5EF4-FFF2-40B4-BE49-F238E27FC236}">
                  <a16:creationId xmlns:a16="http://schemas.microsoft.com/office/drawing/2014/main" id="{3052D489-0ED4-22FE-ADA9-187B06B5EE24}"/>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58F772B4-1A81-095F-8F85-A02442A75907}"/>
                </a:ext>
              </a:extLst>
            </p:cNvPr>
            <p:cNvSpPr txBox="1"/>
            <p:nvPr/>
          </p:nvSpPr>
          <p:spPr>
            <a:xfrm>
              <a:off x="2885274" y="2665389"/>
              <a:ext cx="2711589" cy="861774"/>
            </a:xfrm>
            <a:prstGeom prst="rect">
              <a:avLst/>
            </a:prstGeom>
            <a:noFill/>
          </p:spPr>
          <p:txBody>
            <a:bodyPr wrap="square">
              <a:spAutoFit/>
            </a:bodyPr>
            <a:lstStyle/>
            <a:p>
              <a:r>
                <a:rPr lang="zh-CN" altLang="en-US" sz="1000" b="0" i="0" dirty="0">
                  <a:solidFill>
                    <a:schemeClr val="tx1"/>
                  </a:solidFill>
                  <a:effectLst/>
                  <a:latin typeface="+mn-lt"/>
                </a:rPr>
                <a:t>最早以基于模型的方法为主，代表是自主多模型（</a:t>
              </a:r>
              <a:r>
                <a:rPr lang="en-US" altLang="zh-CN" sz="1000" b="0" i="0" dirty="0">
                  <a:solidFill>
                    <a:schemeClr val="tx1"/>
                  </a:solidFill>
                  <a:effectLst/>
                  <a:latin typeface="+mn-lt"/>
                </a:rPr>
                <a:t>AMM</a:t>
              </a:r>
              <a:r>
                <a:rPr lang="zh-CN" altLang="en-US" sz="1000" b="0" i="0" dirty="0">
                  <a:solidFill>
                    <a:schemeClr val="tx1"/>
                  </a:solidFill>
                  <a:effectLst/>
                  <a:latin typeface="+mn-lt"/>
                </a:rPr>
                <a:t>）算法。它通过计算每个交通参与者最大概率的轨迹来预测行为，例如换道、左转等。这类方法结构简单、可解释性强，但规则固定，难以覆盖复杂交互场景，场景普适性和泛化能力有限。</a:t>
              </a:r>
              <a:endParaRPr lang="zh-CN" altLang="en-US" sz="1000" dirty="0"/>
            </a:p>
          </p:txBody>
        </p:sp>
      </p:grpSp>
      <p:grpSp>
        <p:nvGrpSpPr>
          <p:cNvPr id="47" name="组合 46">
            <a:extLst>
              <a:ext uri="{FF2B5EF4-FFF2-40B4-BE49-F238E27FC236}">
                <a16:creationId xmlns:a16="http://schemas.microsoft.com/office/drawing/2014/main" id="{00B6157F-4FE5-E4A1-A82F-CD9E456C0F49}"/>
              </a:ext>
            </a:extLst>
          </p:cNvPr>
          <p:cNvGrpSpPr/>
          <p:nvPr/>
        </p:nvGrpSpPr>
        <p:grpSpPr>
          <a:xfrm>
            <a:off x="5319384" y="4713971"/>
            <a:ext cx="2408566" cy="1445544"/>
            <a:chOff x="2885274" y="2419091"/>
            <a:chExt cx="2711589" cy="2054717"/>
          </a:xfrm>
        </p:grpSpPr>
        <p:sp>
          <p:nvSpPr>
            <p:cNvPr id="48" name="圆角矩形 1">
              <a:extLst>
                <a:ext uri="{FF2B5EF4-FFF2-40B4-BE49-F238E27FC236}">
                  <a16:creationId xmlns:a16="http://schemas.microsoft.com/office/drawing/2014/main" id="{52ECFE1C-CD9F-1282-6A60-344AE1A55F88}"/>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576C2DAF-B198-93F9-883B-04F6B7A5AF2B}"/>
                </a:ext>
              </a:extLst>
            </p:cNvPr>
            <p:cNvSpPr txBox="1"/>
            <p:nvPr/>
          </p:nvSpPr>
          <p:spPr>
            <a:xfrm>
              <a:off x="2885274" y="2530310"/>
              <a:ext cx="2711589" cy="1881155"/>
            </a:xfrm>
            <a:prstGeom prst="rect">
              <a:avLst/>
            </a:prstGeom>
            <a:noFill/>
          </p:spPr>
          <p:txBody>
            <a:bodyPr wrap="square">
              <a:spAutoFit/>
            </a:bodyPr>
            <a:lstStyle/>
            <a:p>
              <a:r>
                <a:rPr lang="zh-CN" altLang="en-US" sz="1000" b="0" i="0" dirty="0">
                  <a:solidFill>
                    <a:schemeClr val="tx1"/>
                  </a:solidFill>
                  <a:effectLst/>
                  <a:latin typeface="+mn-lt"/>
                </a:rPr>
                <a:t>随着深度学习兴起，预测转向数据驱动方法。</a:t>
              </a:r>
              <a:r>
                <a:rPr lang="en-US" altLang="zh-CN" sz="1000" b="0" i="0" dirty="0">
                  <a:solidFill>
                    <a:schemeClr val="tx1"/>
                  </a:solidFill>
                  <a:effectLst/>
                  <a:latin typeface="+mn-lt"/>
                </a:rPr>
                <a:t>DESIRE </a:t>
              </a:r>
              <a:r>
                <a:rPr lang="zh-CN" altLang="en-US" sz="1000" b="0" i="0" dirty="0">
                  <a:solidFill>
                    <a:schemeClr val="tx1"/>
                  </a:solidFill>
                  <a:effectLst/>
                  <a:latin typeface="+mn-lt"/>
                </a:rPr>
                <a:t>提出编码器</a:t>
              </a:r>
              <a:r>
                <a:rPr lang="en-US" altLang="zh-CN" sz="1000" b="0" i="0" dirty="0">
                  <a:solidFill>
                    <a:schemeClr val="tx1"/>
                  </a:solidFill>
                  <a:effectLst/>
                  <a:latin typeface="+mn-lt"/>
                </a:rPr>
                <a:t>-</a:t>
              </a:r>
              <a:r>
                <a:rPr lang="zh-CN" altLang="en-US" sz="1000" b="0" i="0" dirty="0">
                  <a:solidFill>
                    <a:schemeClr val="tx1"/>
                  </a:solidFill>
                  <a:effectLst/>
                  <a:latin typeface="+mn-lt"/>
                </a:rPr>
                <a:t>解码器框架，首次将场景上下文和交通参与者之间的交互引入预测；</a:t>
              </a:r>
              <a:r>
                <a:rPr lang="en-US" altLang="zh-CN" sz="1000" b="0" i="0" dirty="0">
                  <a:solidFill>
                    <a:schemeClr val="tx1"/>
                  </a:solidFill>
                  <a:effectLst/>
                  <a:latin typeface="+mn-lt"/>
                </a:rPr>
                <a:t>SIMP </a:t>
              </a:r>
              <a:r>
                <a:rPr lang="zh-CN" altLang="en-US" sz="1000" b="0" i="0" dirty="0">
                  <a:solidFill>
                    <a:schemeClr val="tx1"/>
                  </a:solidFill>
                  <a:effectLst/>
                  <a:latin typeface="+mn-lt"/>
                </a:rPr>
                <a:t>将输出空间离散化，预测车辆目的地分布、到达时间和空间偏移；</a:t>
              </a:r>
              <a:r>
                <a:rPr lang="en-US" altLang="zh-CN" sz="1000" b="0" i="0" dirty="0" err="1">
                  <a:solidFill>
                    <a:schemeClr val="tx1"/>
                  </a:solidFill>
                  <a:effectLst/>
                  <a:latin typeface="+mn-lt"/>
                </a:rPr>
                <a:t>FaF</a:t>
              </a:r>
              <a:r>
                <a:rPr lang="en-US" altLang="zh-CN" sz="1000" b="0" i="0" dirty="0">
                  <a:solidFill>
                    <a:schemeClr val="tx1"/>
                  </a:solidFill>
                  <a:effectLst/>
                  <a:latin typeface="+mn-lt"/>
                </a:rPr>
                <a:t> </a:t>
              </a:r>
              <a:r>
                <a:rPr lang="zh-CN" altLang="en-US" sz="1000" b="0" i="0" dirty="0">
                  <a:solidFill>
                    <a:schemeClr val="tx1"/>
                  </a:solidFill>
                  <a:effectLst/>
                  <a:latin typeface="+mn-lt"/>
                </a:rPr>
                <a:t>则基于 </a:t>
              </a:r>
              <a:r>
                <a:rPr lang="en-US" altLang="zh-CN" sz="1000" b="0" i="0" dirty="0">
                  <a:solidFill>
                    <a:schemeClr val="tx1"/>
                  </a:solidFill>
                  <a:effectLst/>
                  <a:latin typeface="+mn-lt"/>
                </a:rPr>
                <a:t>LiDAR </a:t>
              </a:r>
              <a:r>
                <a:rPr lang="zh-CN" altLang="en-US" sz="1000" b="0" i="0" dirty="0">
                  <a:solidFill>
                    <a:schemeClr val="tx1"/>
                  </a:solidFill>
                  <a:effectLst/>
                  <a:latin typeface="+mn-lt"/>
                </a:rPr>
                <a:t>点云，把检测和短期运动预测统一起来，实现实时端到端预测。</a:t>
              </a:r>
              <a:endParaRPr lang="zh-CN" altLang="en-US" sz="1000" dirty="0"/>
            </a:p>
          </p:txBody>
        </p:sp>
      </p:grpSp>
      <p:grpSp>
        <p:nvGrpSpPr>
          <p:cNvPr id="52" name="组合 51">
            <a:extLst>
              <a:ext uri="{FF2B5EF4-FFF2-40B4-BE49-F238E27FC236}">
                <a16:creationId xmlns:a16="http://schemas.microsoft.com/office/drawing/2014/main" id="{9ECF214A-E6CF-CB1E-98ED-893ED44B5D24}"/>
              </a:ext>
            </a:extLst>
          </p:cNvPr>
          <p:cNvGrpSpPr/>
          <p:nvPr/>
        </p:nvGrpSpPr>
        <p:grpSpPr>
          <a:xfrm>
            <a:off x="8792834" y="4704859"/>
            <a:ext cx="2453016" cy="1445544"/>
            <a:chOff x="2885274" y="2419091"/>
            <a:chExt cx="2761631" cy="2054717"/>
          </a:xfrm>
        </p:grpSpPr>
        <p:sp>
          <p:nvSpPr>
            <p:cNvPr id="53" name="圆角矩形 1">
              <a:extLst>
                <a:ext uri="{FF2B5EF4-FFF2-40B4-BE49-F238E27FC236}">
                  <a16:creationId xmlns:a16="http://schemas.microsoft.com/office/drawing/2014/main" id="{D319E4D8-E9DF-3942-2A2E-79AA54677711}"/>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06023B87-057E-C358-5EAE-6D88899E2A0B}"/>
                </a:ext>
              </a:extLst>
            </p:cNvPr>
            <p:cNvSpPr txBox="1"/>
            <p:nvPr/>
          </p:nvSpPr>
          <p:spPr>
            <a:xfrm>
              <a:off x="2935316" y="2522008"/>
              <a:ext cx="2711589" cy="1881155"/>
            </a:xfrm>
            <a:prstGeom prst="rect">
              <a:avLst/>
            </a:prstGeom>
            <a:noFill/>
          </p:spPr>
          <p:txBody>
            <a:bodyPr wrap="square">
              <a:spAutoFit/>
            </a:bodyPr>
            <a:lstStyle/>
            <a:p>
              <a:r>
                <a:rPr lang="zh-CN" altLang="en-US" sz="1000" b="0" i="0" dirty="0">
                  <a:solidFill>
                    <a:schemeClr val="tx1"/>
                  </a:solidFill>
                  <a:effectLst/>
                  <a:latin typeface="+mn-lt"/>
                </a:rPr>
                <a:t>当前预测研究进一步走向联合优化与统一表征。未来预测将关注通用规则的制定、场景的普适性和模块的简单性；同时，预测与规划正从解耦走向联合，如共享场景编码器、协同优化预测与规划。</a:t>
              </a:r>
              <a:r>
                <a:rPr lang="en-US" altLang="zh-CN" sz="1000" b="0" i="0" dirty="0">
                  <a:solidFill>
                    <a:schemeClr val="tx1"/>
                  </a:solidFill>
                  <a:effectLst/>
                  <a:latin typeface="+mn-lt"/>
                </a:rPr>
                <a:t>Transformer</a:t>
              </a:r>
              <a:r>
                <a:rPr lang="zh-CN" altLang="en-US" sz="1000" b="0" i="0" dirty="0">
                  <a:solidFill>
                    <a:schemeClr val="tx1"/>
                  </a:solidFill>
                  <a:effectLst/>
                  <a:latin typeface="+mn-lt"/>
                </a:rPr>
                <a:t>、图神经网络和大模型也开始用于建模长时依赖、交互博弈和语义推理，端到端预测规划成为重要趋势。</a:t>
              </a:r>
              <a:endParaRPr lang="zh-CN" altLang="en-US" sz="1000" dirty="0"/>
            </a:p>
          </p:txBody>
        </p:sp>
      </p:grpSp>
      <p:sp>
        <p:nvSpPr>
          <p:cNvPr id="55" name="箭头: 右 54">
            <a:extLst>
              <a:ext uri="{FF2B5EF4-FFF2-40B4-BE49-F238E27FC236}">
                <a16:creationId xmlns:a16="http://schemas.microsoft.com/office/drawing/2014/main" id="{DE59CF37-2FAA-90FB-207D-65DBFFC61464}"/>
              </a:ext>
            </a:extLst>
          </p:cNvPr>
          <p:cNvSpPr/>
          <p:nvPr/>
        </p:nvSpPr>
        <p:spPr>
          <a:xfrm>
            <a:off x="4297738" y="5160579"/>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箭头: 右 56">
            <a:extLst>
              <a:ext uri="{FF2B5EF4-FFF2-40B4-BE49-F238E27FC236}">
                <a16:creationId xmlns:a16="http://schemas.microsoft.com/office/drawing/2014/main" id="{498FB1B7-0DEC-FF17-F1C6-10EBD0001E21}"/>
              </a:ext>
            </a:extLst>
          </p:cNvPr>
          <p:cNvSpPr/>
          <p:nvPr/>
        </p:nvSpPr>
        <p:spPr>
          <a:xfrm>
            <a:off x="7792201" y="5194427"/>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22710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3565-7C22-87F0-5D9B-F0C8E6F56C71}"/>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A6AAA15E-8D68-0A5C-2FEC-6586903C20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0E6762B0-E22E-C42E-E6A6-67A605AD4DFC}"/>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BAFD523B-3A0C-9C58-B0C2-8A85B2261378}"/>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8ADE5483-4DF4-238B-B31F-DB633CFD1B30}"/>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937BDA8B-B7D1-62C4-726B-FE9A23F1C243}"/>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感知模块技术路线演进脉络</a:t>
            </a:r>
          </a:p>
        </p:txBody>
      </p:sp>
      <p:sp>
        <p:nvSpPr>
          <p:cNvPr id="8" name="文本框 7">
            <a:extLst>
              <a:ext uri="{FF2B5EF4-FFF2-40B4-BE49-F238E27FC236}">
                <a16:creationId xmlns:a16="http://schemas.microsoft.com/office/drawing/2014/main" id="{20958DE1-31EC-AEC0-9840-CA1B391FF7C5}"/>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1FCA2CC2-CF66-A8ED-7CE8-71367BD8DC3F}"/>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932A6EAC-A861-4545-28EE-D9DDE94564C3}"/>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(4)</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预测与跟踪</a:t>
            </a:r>
          </a:p>
        </p:txBody>
      </p:sp>
      <p:sp>
        <p:nvSpPr>
          <p:cNvPr id="29" name="椭圆 28">
            <a:extLst>
              <a:ext uri="{FF2B5EF4-FFF2-40B4-BE49-F238E27FC236}">
                <a16:creationId xmlns:a16="http://schemas.microsoft.com/office/drawing/2014/main" id="{B14F7184-1D33-4A2E-E6EB-3A667E2ABC4C}"/>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BF079171-5D2F-1FC4-EA69-1F76947E2044}"/>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33</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13591F78-0B10-2E59-117B-56BD062E52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431E87DA-DE5A-7306-9AA1-EF95292B13CF}"/>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1CCAB918-6565-9582-8AC2-020273B011A2}"/>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B7904C1E-5CF2-A426-02C5-3DE53D14ED3F}"/>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C48CBA96-FDE7-AF6E-28CA-0F69DB36EF43}"/>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F29872D0-2A1F-A006-F152-D2A1BA4C13F6}"/>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FACA0D42-243A-5D07-F922-1E788787F37E}"/>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grpSp>
        <p:nvGrpSpPr>
          <p:cNvPr id="44" name="组合 43">
            <a:extLst>
              <a:ext uri="{FF2B5EF4-FFF2-40B4-BE49-F238E27FC236}">
                <a16:creationId xmlns:a16="http://schemas.microsoft.com/office/drawing/2014/main" id="{C73F5D9E-B4E8-F0EF-2DAF-8BF0EF8D2F06}"/>
              </a:ext>
            </a:extLst>
          </p:cNvPr>
          <p:cNvGrpSpPr/>
          <p:nvPr/>
        </p:nvGrpSpPr>
        <p:grpSpPr>
          <a:xfrm>
            <a:off x="4820" y="2896027"/>
            <a:ext cx="1433384" cy="651163"/>
            <a:chOff x="4820" y="2896027"/>
            <a:chExt cx="1433384" cy="651163"/>
          </a:xfrm>
        </p:grpSpPr>
        <p:sp>
          <p:nvSpPr>
            <p:cNvPr id="33" name="矩形 32">
              <a:extLst>
                <a:ext uri="{FF2B5EF4-FFF2-40B4-BE49-F238E27FC236}">
                  <a16:creationId xmlns:a16="http://schemas.microsoft.com/office/drawing/2014/main" id="{B990F455-22CB-F03C-8443-41A60DFE4613}"/>
                </a:ext>
              </a:extLst>
            </p:cNvPr>
            <p:cNvSpPr/>
            <p:nvPr/>
          </p:nvSpPr>
          <p:spPr>
            <a:xfrm>
              <a:off x="4820" y="28960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文本框 24">
              <a:extLst>
                <a:ext uri="{FF2B5EF4-FFF2-40B4-BE49-F238E27FC236}">
                  <a16:creationId xmlns:a16="http://schemas.microsoft.com/office/drawing/2014/main" id="{7763A011-0729-9374-56FC-0FF6C0BAA497}"/>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感知模块技术路线演进脉络</a:t>
              </a:r>
              <a:endParaRPr lang="zh-CN" altLang="en-US" sz="1200" dirty="0"/>
            </a:p>
          </p:txBody>
        </p:sp>
      </p:grpSp>
      <p:sp>
        <p:nvSpPr>
          <p:cNvPr id="26" name="文本框 25">
            <a:extLst>
              <a:ext uri="{FF2B5EF4-FFF2-40B4-BE49-F238E27FC236}">
                <a16:creationId xmlns:a16="http://schemas.microsoft.com/office/drawing/2014/main" id="{1E2989C0-7BD4-4D61-E7C0-4124A880AA28}"/>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sp>
        <p:nvSpPr>
          <p:cNvPr id="27" name="文本框 26">
            <a:extLst>
              <a:ext uri="{FF2B5EF4-FFF2-40B4-BE49-F238E27FC236}">
                <a16:creationId xmlns:a16="http://schemas.microsoft.com/office/drawing/2014/main" id="{1D12C282-AB7F-8652-DB37-02A919C2E595}"/>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EBB17E77-8ABE-5D60-D84C-DC5D4EE6F412}"/>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2E7F5DDA-F5C1-F655-4D1C-300B8D62956E}"/>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7" name="文本框 16">
            <a:extLst>
              <a:ext uri="{FF2B5EF4-FFF2-40B4-BE49-F238E27FC236}">
                <a16:creationId xmlns:a16="http://schemas.microsoft.com/office/drawing/2014/main" id="{E2D5449D-05FA-C816-34CB-3382AA14987C}"/>
              </a:ext>
            </a:extLst>
          </p:cNvPr>
          <p:cNvSpPr txBox="1"/>
          <p:nvPr/>
        </p:nvSpPr>
        <p:spPr>
          <a:xfrm>
            <a:off x="2311088" y="1881688"/>
            <a:ext cx="7340471" cy="369332"/>
          </a:xfrm>
          <a:prstGeom prst="rect">
            <a:avLst/>
          </a:prstGeom>
          <a:noFill/>
        </p:spPr>
        <p:txBody>
          <a:bodyPr wrap="none" rtlCol="0">
            <a:spAutoFit/>
          </a:bodyPr>
          <a:lstStyle/>
          <a:p>
            <a:r>
              <a:rPr lang="zh-CN" altLang="en-US" b="1" dirty="0"/>
              <a:t>跟踪：</a:t>
            </a:r>
            <a:r>
              <a:rPr lang="zh-CN" altLang="en-US" dirty="0"/>
              <a:t>从传感器数据序列中持续估计目标状态（位置、速度、身份）</a:t>
            </a:r>
            <a:r>
              <a:rPr lang="zh-CN" altLang="zh-CN" dirty="0"/>
              <a:t>。</a:t>
            </a:r>
            <a:endParaRPr lang="zh-CN" altLang="zh-CN" b="1" dirty="0"/>
          </a:p>
        </p:txBody>
      </p:sp>
      <p:grpSp>
        <p:nvGrpSpPr>
          <p:cNvPr id="2" name="组合 1">
            <a:extLst>
              <a:ext uri="{FF2B5EF4-FFF2-40B4-BE49-F238E27FC236}">
                <a16:creationId xmlns:a16="http://schemas.microsoft.com/office/drawing/2014/main" id="{73CE7E9A-CE63-A9FC-04B0-1CECA4FDAFFA}"/>
              </a:ext>
            </a:extLst>
          </p:cNvPr>
          <p:cNvGrpSpPr/>
          <p:nvPr/>
        </p:nvGrpSpPr>
        <p:grpSpPr>
          <a:xfrm>
            <a:off x="1604365" y="4698098"/>
            <a:ext cx="2408566" cy="1445543"/>
            <a:chOff x="2885274" y="2419091"/>
            <a:chExt cx="2711589" cy="2054717"/>
          </a:xfrm>
        </p:grpSpPr>
        <p:sp>
          <p:nvSpPr>
            <p:cNvPr id="4" name="圆角矩形 1">
              <a:extLst>
                <a:ext uri="{FF2B5EF4-FFF2-40B4-BE49-F238E27FC236}">
                  <a16:creationId xmlns:a16="http://schemas.microsoft.com/office/drawing/2014/main" id="{C643AA94-6C28-848A-06F6-D89DB511D320}"/>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6DE62CF-3AE4-A256-E1E5-CE5F0B00DFFB}"/>
                </a:ext>
              </a:extLst>
            </p:cNvPr>
            <p:cNvSpPr txBox="1"/>
            <p:nvPr/>
          </p:nvSpPr>
          <p:spPr>
            <a:xfrm>
              <a:off x="2885274" y="2530308"/>
              <a:ext cx="2711589" cy="1881156"/>
            </a:xfrm>
            <a:prstGeom prst="rect">
              <a:avLst/>
            </a:prstGeom>
            <a:noFill/>
          </p:spPr>
          <p:txBody>
            <a:bodyPr wrap="square">
              <a:spAutoFit/>
            </a:bodyPr>
            <a:lstStyle/>
            <a:p>
              <a:r>
                <a:rPr lang="zh-CN" altLang="en-US" sz="1000" b="0" i="0" dirty="0">
                  <a:solidFill>
                    <a:schemeClr val="tx1"/>
                  </a:solidFill>
                  <a:effectLst/>
                  <a:latin typeface="+mn-lt"/>
                </a:rPr>
                <a:t>跟踪的演进最早以传统方法为主。卡尔曼滤波基于预测</a:t>
              </a:r>
              <a:r>
                <a:rPr lang="en-US" altLang="zh-CN" sz="1000" b="0" i="0" dirty="0">
                  <a:solidFill>
                    <a:schemeClr val="tx1"/>
                  </a:solidFill>
                  <a:effectLst/>
                  <a:latin typeface="+mn-lt"/>
                </a:rPr>
                <a:t>-</a:t>
              </a:r>
              <a:r>
                <a:rPr lang="zh-CN" altLang="en-US" sz="1000" b="0" i="0" dirty="0">
                  <a:solidFill>
                    <a:schemeClr val="tx1"/>
                  </a:solidFill>
                  <a:effectLst/>
                  <a:latin typeface="+mn-lt"/>
                </a:rPr>
                <a:t>更新框架，计算量低，但它依赖线性高斯假设，对非线性运动和多目标场景效果有限。图搜索方法相比卡尔曼滤波更适合多目标跟踪，但计算复杂度更高。这一阶段的核心是“用数学模型做状态估计”，可解释性强，但泛化能力有限。</a:t>
              </a:r>
              <a:endParaRPr lang="zh-CN" altLang="en-US" sz="1000" dirty="0"/>
            </a:p>
          </p:txBody>
        </p:sp>
      </p:grpSp>
      <p:grpSp>
        <p:nvGrpSpPr>
          <p:cNvPr id="6" name="组合 5">
            <a:extLst>
              <a:ext uri="{FF2B5EF4-FFF2-40B4-BE49-F238E27FC236}">
                <a16:creationId xmlns:a16="http://schemas.microsoft.com/office/drawing/2014/main" id="{4BE854A4-DE63-1ACB-716A-A318AA157C04}"/>
              </a:ext>
            </a:extLst>
          </p:cNvPr>
          <p:cNvGrpSpPr/>
          <p:nvPr/>
        </p:nvGrpSpPr>
        <p:grpSpPr>
          <a:xfrm>
            <a:off x="4260112" y="4697488"/>
            <a:ext cx="2408566" cy="1445544"/>
            <a:chOff x="2885274" y="2419091"/>
            <a:chExt cx="2711589" cy="2054717"/>
          </a:xfrm>
        </p:grpSpPr>
        <p:sp>
          <p:nvSpPr>
            <p:cNvPr id="10" name="圆角矩形 1">
              <a:extLst>
                <a:ext uri="{FF2B5EF4-FFF2-40B4-BE49-F238E27FC236}">
                  <a16:creationId xmlns:a16="http://schemas.microsoft.com/office/drawing/2014/main" id="{E3458599-87DA-1048-9140-4427C5DFE6FA}"/>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EBECD989-46E9-4CA9-0140-414E652BF303}"/>
                </a:ext>
              </a:extLst>
            </p:cNvPr>
            <p:cNvSpPr txBox="1"/>
            <p:nvPr/>
          </p:nvSpPr>
          <p:spPr>
            <a:xfrm>
              <a:off x="2885274" y="2639676"/>
              <a:ext cx="2711589" cy="1662417"/>
            </a:xfrm>
            <a:prstGeom prst="rect">
              <a:avLst/>
            </a:prstGeom>
            <a:noFill/>
          </p:spPr>
          <p:txBody>
            <a:bodyPr wrap="square">
              <a:spAutoFit/>
            </a:bodyPr>
            <a:lstStyle/>
            <a:p>
              <a:r>
                <a:rPr lang="zh-CN" altLang="en-US" sz="1000" b="0" i="0" dirty="0">
                  <a:solidFill>
                    <a:schemeClr val="tx1"/>
                  </a:solidFill>
                  <a:effectLst/>
                  <a:latin typeface="+mn-lt"/>
                </a:rPr>
                <a:t>随着深度学习兴起，跟踪开始引入神经网络。</a:t>
              </a:r>
              <a:r>
                <a:rPr lang="en-US" altLang="zh-CN" sz="1000" b="0" i="0" dirty="0">
                  <a:solidFill>
                    <a:schemeClr val="tx1"/>
                  </a:solidFill>
                  <a:effectLst/>
                  <a:latin typeface="+mn-lt"/>
                </a:rPr>
                <a:t>CNN </a:t>
              </a:r>
              <a:r>
                <a:rPr lang="zh-CN" altLang="en-US" sz="1000" b="0" i="0" dirty="0">
                  <a:solidFill>
                    <a:schemeClr val="tx1"/>
                  </a:solidFill>
                  <a:effectLst/>
                  <a:latin typeface="+mn-lt"/>
                </a:rPr>
                <a:t>被广泛用于目标跟踪，通过卷积层提取鲁棒的外观特征，</a:t>
              </a:r>
              <a:r>
                <a:rPr lang="en-US" altLang="zh-CN" sz="1000" b="0" i="0" dirty="0">
                  <a:solidFill>
                    <a:schemeClr val="tx1"/>
                  </a:solidFill>
                  <a:effectLst/>
                  <a:latin typeface="+mn-lt"/>
                </a:rPr>
                <a:t>CNN </a:t>
              </a:r>
              <a:r>
                <a:rPr lang="zh-CN" altLang="en-US" sz="1000" b="0" i="0" dirty="0">
                  <a:solidFill>
                    <a:schemeClr val="tx1"/>
                  </a:solidFill>
                  <a:effectLst/>
                  <a:latin typeface="+mn-lt"/>
                </a:rPr>
                <a:t>的优势是能学习到传统方法难以手工设计的特征，但它对时序信息的建模能力较弱，难以处理目标长时间遮挡或离开视野的情况。</a:t>
              </a:r>
              <a:endParaRPr lang="zh-CN" altLang="en-US" sz="1000" dirty="0"/>
            </a:p>
          </p:txBody>
        </p:sp>
      </p:grpSp>
      <p:grpSp>
        <p:nvGrpSpPr>
          <p:cNvPr id="13" name="组合 12">
            <a:extLst>
              <a:ext uri="{FF2B5EF4-FFF2-40B4-BE49-F238E27FC236}">
                <a16:creationId xmlns:a16="http://schemas.microsoft.com/office/drawing/2014/main" id="{7DDD3FA1-905E-BAD2-F299-F45172DB9A38}"/>
              </a:ext>
            </a:extLst>
          </p:cNvPr>
          <p:cNvGrpSpPr/>
          <p:nvPr/>
        </p:nvGrpSpPr>
        <p:grpSpPr>
          <a:xfrm>
            <a:off x="6915859" y="4704859"/>
            <a:ext cx="2453016" cy="1445544"/>
            <a:chOff x="2885274" y="2419091"/>
            <a:chExt cx="2761631" cy="2054717"/>
          </a:xfrm>
        </p:grpSpPr>
        <p:sp>
          <p:nvSpPr>
            <p:cNvPr id="15" name="圆角矩形 1">
              <a:extLst>
                <a:ext uri="{FF2B5EF4-FFF2-40B4-BE49-F238E27FC236}">
                  <a16:creationId xmlns:a16="http://schemas.microsoft.com/office/drawing/2014/main" id="{829644DC-2035-AF80-41A6-1358BBAEF793}"/>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1F00EED5-4A47-9E59-64E7-FED4DAA71672}"/>
                </a:ext>
              </a:extLst>
            </p:cNvPr>
            <p:cNvSpPr txBox="1"/>
            <p:nvPr/>
          </p:nvSpPr>
          <p:spPr>
            <a:xfrm>
              <a:off x="2935316" y="2522009"/>
              <a:ext cx="2711589" cy="1881155"/>
            </a:xfrm>
            <a:prstGeom prst="rect">
              <a:avLst/>
            </a:prstGeom>
            <a:noFill/>
          </p:spPr>
          <p:txBody>
            <a:bodyPr wrap="square">
              <a:spAutoFit/>
            </a:bodyPr>
            <a:lstStyle/>
            <a:p>
              <a:r>
                <a:rPr lang="zh-CN" altLang="en-US" sz="1000" b="0" i="0" dirty="0">
                  <a:solidFill>
                    <a:schemeClr val="tx1"/>
                  </a:solidFill>
                  <a:effectLst/>
                  <a:latin typeface="+mn-lt"/>
                </a:rPr>
                <a:t>为了解决时序一致性问题，</a:t>
              </a:r>
              <a:r>
                <a:rPr lang="en-US" altLang="zh-CN" sz="1000" b="0" i="0" dirty="0">
                  <a:solidFill>
                    <a:schemeClr val="tx1"/>
                  </a:solidFill>
                  <a:effectLst/>
                  <a:latin typeface="+mn-lt"/>
                </a:rPr>
                <a:t>RNN </a:t>
              </a:r>
              <a:r>
                <a:rPr lang="zh-CN" altLang="en-US" sz="1000" b="0" i="0" dirty="0">
                  <a:solidFill>
                    <a:schemeClr val="tx1"/>
                  </a:solidFill>
                  <a:effectLst/>
                  <a:latin typeface="+mn-lt"/>
                </a:rPr>
                <a:t>和 </a:t>
              </a:r>
              <a:r>
                <a:rPr lang="en-US" altLang="zh-CN" sz="1000" b="0" i="0" dirty="0">
                  <a:solidFill>
                    <a:schemeClr val="tx1"/>
                  </a:solidFill>
                  <a:effectLst/>
                  <a:latin typeface="+mn-lt"/>
                </a:rPr>
                <a:t>LSTM </a:t>
              </a:r>
              <a:r>
                <a:rPr lang="zh-CN" altLang="en-US" sz="1000" b="0" i="0" dirty="0">
                  <a:solidFill>
                    <a:schemeClr val="tx1"/>
                  </a:solidFill>
                  <a:effectLst/>
                  <a:latin typeface="+mn-lt"/>
                </a:rPr>
                <a:t>被引入跟踪框架。相比 </a:t>
              </a:r>
              <a:r>
                <a:rPr lang="en-US" altLang="zh-CN" sz="1000" b="0" i="0" dirty="0">
                  <a:solidFill>
                    <a:schemeClr val="tx1"/>
                  </a:solidFill>
                  <a:effectLst/>
                  <a:latin typeface="+mn-lt"/>
                </a:rPr>
                <a:t>CNN</a:t>
              </a:r>
              <a:r>
                <a:rPr lang="zh-CN" altLang="en-US" sz="1000" b="0" i="0" dirty="0">
                  <a:solidFill>
                    <a:schemeClr val="tx1"/>
                  </a:solidFill>
                  <a:effectLst/>
                  <a:latin typeface="+mn-lt"/>
                </a:rPr>
                <a:t>，</a:t>
              </a:r>
              <a:r>
                <a:rPr lang="en-US" altLang="zh-CN" sz="1000" b="0" i="0" dirty="0">
                  <a:solidFill>
                    <a:schemeClr val="tx1"/>
                  </a:solidFill>
                  <a:effectLst/>
                  <a:latin typeface="+mn-lt"/>
                </a:rPr>
                <a:t>LSTM </a:t>
              </a:r>
              <a:r>
                <a:rPr lang="zh-CN" altLang="en-US" sz="1000" b="0" i="0" dirty="0">
                  <a:solidFill>
                    <a:schemeClr val="tx1"/>
                  </a:solidFill>
                  <a:effectLst/>
                  <a:latin typeface="+mn-lt"/>
                </a:rPr>
                <a:t>更适合处理目标离开或重新进入可见区域时的候选观测移除与重插入问题。</a:t>
              </a:r>
              <a:r>
                <a:rPr lang="en-US" altLang="zh-CN" sz="1000" b="0" i="0" dirty="0">
                  <a:solidFill>
                    <a:schemeClr val="tx1"/>
                  </a:solidFill>
                  <a:effectLst/>
                  <a:latin typeface="+mn-lt"/>
                </a:rPr>
                <a:t>RNN/LSTM </a:t>
              </a:r>
              <a:r>
                <a:rPr lang="zh-CN" altLang="en-US" sz="1000" b="0" i="0" dirty="0">
                  <a:solidFill>
                    <a:schemeClr val="tx1"/>
                  </a:solidFill>
                  <a:effectLst/>
                  <a:latin typeface="+mn-lt"/>
                </a:rPr>
                <a:t>的引入使跟踪从“逐帧独立估计”走向“时序一致建模”，但训练难度大、实时性差，且仍然依赖检测结果作为输入。</a:t>
              </a:r>
              <a:endParaRPr lang="zh-CN" altLang="en-US" sz="1000" dirty="0"/>
            </a:p>
          </p:txBody>
        </p:sp>
      </p:grpSp>
      <p:grpSp>
        <p:nvGrpSpPr>
          <p:cNvPr id="35" name="组合 34">
            <a:extLst>
              <a:ext uri="{FF2B5EF4-FFF2-40B4-BE49-F238E27FC236}">
                <a16:creationId xmlns:a16="http://schemas.microsoft.com/office/drawing/2014/main" id="{28A8A348-CB8F-5FA1-2320-DD9FC4642CAE}"/>
              </a:ext>
            </a:extLst>
          </p:cNvPr>
          <p:cNvGrpSpPr/>
          <p:nvPr/>
        </p:nvGrpSpPr>
        <p:grpSpPr>
          <a:xfrm>
            <a:off x="9571704" y="4697488"/>
            <a:ext cx="2453016" cy="1445544"/>
            <a:chOff x="2885274" y="2419091"/>
            <a:chExt cx="2761631" cy="2054717"/>
          </a:xfrm>
        </p:grpSpPr>
        <p:sp>
          <p:nvSpPr>
            <p:cNvPr id="37" name="圆角矩形 1">
              <a:extLst>
                <a:ext uri="{FF2B5EF4-FFF2-40B4-BE49-F238E27FC236}">
                  <a16:creationId xmlns:a16="http://schemas.microsoft.com/office/drawing/2014/main" id="{BE9CB6CD-DEB2-EA51-5B6C-814FD02ACD10}"/>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17F53923-BC69-23EC-F3D8-A3C05613D177}"/>
                </a:ext>
              </a:extLst>
            </p:cNvPr>
            <p:cNvSpPr txBox="1"/>
            <p:nvPr/>
          </p:nvSpPr>
          <p:spPr>
            <a:xfrm>
              <a:off x="2935316" y="2522009"/>
              <a:ext cx="2711589" cy="1881155"/>
            </a:xfrm>
            <a:prstGeom prst="rect">
              <a:avLst/>
            </a:prstGeom>
            <a:noFill/>
          </p:spPr>
          <p:txBody>
            <a:bodyPr wrap="square">
              <a:spAutoFit/>
            </a:bodyPr>
            <a:lstStyle/>
            <a:p>
              <a:r>
                <a:rPr lang="zh-CN" altLang="en-US" sz="1000" b="0" i="0" dirty="0">
                  <a:solidFill>
                    <a:schemeClr val="tx1"/>
                  </a:solidFill>
                  <a:effectLst/>
                  <a:latin typeface="+mn-lt"/>
                </a:rPr>
                <a:t>为了解决时序一致性问题，</a:t>
              </a:r>
              <a:r>
                <a:rPr lang="en-US" altLang="zh-CN" sz="1000" b="0" i="0" dirty="0">
                  <a:solidFill>
                    <a:schemeClr val="tx1"/>
                  </a:solidFill>
                  <a:effectLst/>
                  <a:latin typeface="+mn-lt"/>
                </a:rPr>
                <a:t>RNN </a:t>
              </a:r>
              <a:r>
                <a:rPr lang="zh-CN" altLang="en-US" sz="1000" b="0" i="0" dirty="0">
                  <a:solidFill>
                    <a:schemeClr val="tx1"/>
                  </a:solidFill>
                  <a:effectLst/>
                  <a:latin typeface="+mn-lt"/>
                </a:rPr>
                <a:t>和 </a:t>
              </a:r>
              <a:r>
                <a:rPr lang="en-US" altLang="zh-CN" sz="1000" b="0" i="0" dirty="0">
                  <a:solidFill>
                    <a:schemeClr val="tx1"/>
                  </a:solidFill>
                  <a:effectLst/>
                  <a:latin typeface="+mn-lt"/>
                </a:rPr>
                <a:t>LSTM </a:t>
              </a:r>
              <a:r>
                <a:rPr lang="zh-CN" altLang="en-US" sz="1000" b="0" i="0" dirty="0">
                  <a:solidFill>
                    <a:schemeClr val="tx1"/>
                  </a:solidFill>
                  <a:effectLst/>
                  <a:latin typeface="+mn-lt"/>
                </a:rPr>
                <a:t>被引入跟踪框架。相比 </a:t>
              </a:r>
              <a:r>
                <a:rPr lang="en-US" altLang="zh-CN" sz="1000" b="0" i="0" dirty="0">
                  <a:solidFill>
                    <a:schemeClr val="tx1"/>
                  </a:solidFill>
                  <a:effectLst/>
                  <a:latin typeface="+mn-lt"/>
                </a:rPr>
                <a:t>CNN</a:t>
              </a:r>
              <a:r>
                <a:rPr lang="zh-CN" altLang="en-US" sz="1000" b="0" i="0" dirty="0">
                  <a:solidFill>
                    <a:schemeClr val="tx1"/>
                  </a:solidFill>
                  <a:effectLst/>
                  <a:latin typeface="+mn-lt"/>
                </a:rPr>
                <a:t>，</a:t>
              </a:r>
              <a:r>
                <a:rPr lang="en-US" altLang="zh-CN" sz="1000" b="0" i="0" dirty="0">
                  <a:solidFill>
                    <a:schemeClr val="tx1"/>
                  </a:solidFill>
                  <a:effectLst/>
                  <a:latin typeface="+mn-lt"/>
                </a:rPr>
                <a:t>LSTM </a:t>
              </a:r>
              <a:r>
                <a:rPr lang="zh-CN" altLang="en-US" sz="1000" b="0" i="0" dirty="0">
                  <a:solidFill>
                    <a:schemeClr val="tx1"/>
                  </a:solidFill>
                  <a:effectLst/>
                  <a:latin typeface="+mn-lt"/>
                </a:rPr>
                <a:t>更适合处理目标离开或重新进入可见区域时的候选观测移除与重插入问题。</a:t>
              </a:r>
              <a:r>
                <a:rPr lang="en-US" altLang="zh-CN" sz="1000" b="0" i="0" dirty="0">
                  <a:solidFill>
                    <a:schemeClr val="tx1"/>
                  </a:solidFill>
                  <a:effectLst/>
                  <a:latin typeface="+mn-lt"/>
                </a:rPr>
                <a:t>RNN/LSTM </a:t>
              </a:r>
              <a:r>
                <a:rPr lang="zh-CN" altLang="en-US" sz="1000" b="0" i="0" dirty="0">
                  <a:solidFill>
                    <a:schemeClr val="tx1"/>
                  </a:solidFill>
                  <a:effectLst/>
                  <a:latin typeface="+mn-lt"/>
                </a:rPr>
                <a:t>的引入使跟踪从“逐帧独立估计”走向“时序一致建模”，但训练难度大、实时性差，且仍然依赖检测结果作为输入。</a:t>
              </a:r>
              <a:endParaRPr lang="zh-CN" altLang="en-US" sz="1000" dirty="0"/>
            </a:p>
          </p:txBody>
        </p:sp>
      </p:grpSp>
      <p:cxnSp>
        <p:nvCxnSpPr>
          <p:cNvPr id="40" name="直接箭头连接符 39">
            <a:extLst>
              <a:ext uri="{FF2B5EF4-FFF2-40B4-BE49-F238E27FC236}">
                <a16:creationId xmlns:a16="http://schemas.microsoft.com/office/drawing/2014/main" id="{DDA23566-EA06-9C06-C841-67F9C8E71D6D}"/>
              </a:ext>
            </a:extLst>
          </p:cNvPr>
          <p:cNvCxnSpPr>
            <a:cxnSpLocks/>
            <a:stCxn id="5" idx="3"/>
            <a:endCxn id="12" idx="1"/>
          </p:cNvCxnSpPr>
          <p:nvPr/>
        </p:nvCxnSpPr>
        <p:spPr>
          <a:xfrm flipV="1">
            <a:off x="4012931" y="5437451"/>
            <a:ext cx="247181" cy="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5825BC01-A67A-91BD-0D23-914F513A5AC6}"/>
              </a:ext>
            </a:extLst>
          </p:cNvPr>
          <p:cNvCxnSpPr>
            <a:cxnSpLocks/>
            <a:stCxn id="12" idx="3"/>
            <a:endCxn id="15" idx="1"/>
          </p:cNvCxnSpPr>
          <p:nvPr/>
        </p:nvCxnSpPr>
        <p:spPr>
          <a:xfrm flipV="1">
            <a:off x="6668678" y="5427631"/>
            <a:ext cx="247181" cy="9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8304F829-6ABD-ECD3-742A-A84F8C4219AA}"/>
              </a:ext>
            </a:extLst>
          </p:cNvPr>
          <p:cNvCxnSpPr>
            <a:cxnSpLocks/>
          </p:cNvCxnSpPr>
          <p:nvPr/>
        </p:nvCxnSpPr>
        <p:spPr>
          <a:xfrm flipV="1">
            <a:off x="9346650" y="5430079"/>
            <a:ext cx="247279" cy="7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219" name="table">
            <a:extLst>
              <a:ext uri="{FF2B5EF4-FFF2-40B4-BE49-F238E27FC236}">
                <a16:creationId xmlns:a16="http://schemas.microsoft.com/office/drawing/2014/main" id="{2C6AD44F-B338-4BA9-1D12-F91F960B77FE}"/>
              </a:ext>
            </a:extLst>
          </p:cNvPr>
          <p:cNvPicPr>
            <a:picLocks noChangeAspect="1"/>
          </p:cNvPicPr>
          <p:nvPr/>
        </p:nvPicPr>
        <p:blipFill>
          <a:blip r:embed="rId4"/>
          <a:stretch>
            <a:fillRect/>
          </a:stretch>
        </p:blipFill>
        <p:spPr>
          <a:xfrm>
            <a:off x="2988675" y="2297187"/>
            <a:ext cx="7023697" cy="2240894"/>
          </a:xfrm>
          <a:prstGeom prst="rect">
            <a:avLst/>
          </a:prstGeom>
        </p:spPr>
      </p:pic>
    </p:spTree>
    <p:extLst>
      <p:ext uri="{BB962C8B-B14F-4D97-AF65-F5344CB8AC3E}">
        <p14:creationId xmlns:p14="http://schemas.microsoft.com/office/powerpoint/2010/main" val="355615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V="1">
            <a:off x="2043767" y="4422098"/>
            <a:ext cx="8104466" cy="45719"/>
          </a:xfrm>
          <a:prstGeom prst="rect">
            <a:avLst/>
          </a:prstGeom>
          <a:solidFill>
            <a:schemeClr val="accent1">
              <a:alpha val="39918"/>
            </a:schemeClr>
          </a:solidFill>
          <a:ln>
            <a:noFill/>
          </a:ln>
          <a:effectLst>
            <a:outerShdw blurRad="387740" dist="38100" algn="l" rotWithShape="0">
              <a:schemeClr val="accent1">
                <a:lumMod val="75000"/>
                <a:alpha val="14476"/>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5">
                  <a:lumMod val="50000"/>
                </a:schemeClr>
              </a:solidFill>
            </a:endParaRPr>
          </a:p>
        </p:txBody>
      </p:sp>
      <p:sp>
        <p:nvSpPr>
          <p:cNvPr id="9" name="文本框 8"/>
          <p:cNvSpPr txBox="1"/>
          <p:nvPr/>
        </p:nvSpPr>
        <p:spPr>
          <a:xfrm>
            <a:off x="2176267" y="3149211"/>
            <a:ext cx="7839467" cy="769441"/>
          </a:xfrm>
          <a:prstGeom prst="rect">
            <a:avLst/>
          </a:prstGeom>
          <a:noFill/>
        </p:spPr>
        <p:txBody>
          <a:bodyPr wrap="square" rtlCol="0">
            <a:spAutoFit/>
          </a:bodyPr>
          <a:lstStyle/>
          <a:p>
            <a:pPr algn="ctr"/>
            <a:r>
              <a:rPr kumimoji="1" lang="zh-CN" altLang="en-US" sz="4400" b="1" dirty="0">
                <a:solidFill>
                  <a:schemeClr val="accent5">
                    <a:lumMod val="50000"/>
                  </a:schemeClr>
                </a:solidFill>
                <a:latin typeface="方正小标宋简体" panose="02010601030101010101" pitchFamily="2" charset="-122"/>
                <a:ea typeface="方正小标宋简体" panose="02010601030101010101" pitchFamily="2" charset="-122"/>
                <a:cs typeface="Arial" panose="020B0604020202020204" pitchFamily="34" charset="0"/>
              </a:rPr>
              <a:t>规划模块技术路线演进脉络</a:t>
            </a:r>
          </a:p>
        </p:txBody>
      </p:sp>
      <p:sp>
        <p:nvSpPr>
          <p:cNvPr id="10" name="文本框 9"/>
          <p:cNvSpPr txBox="1"/>
          <p:nvPr/>
        </p:nvSpPr>
        <p:spPr>
          <a:xfrm>
            <a:off x="5033045" y="2128047"/>
            <a:ext cx="2125909" cy="769441"/>
          </a:xfrm>
          <a:prstGeom prst="rect">
            <a:avLst/>
          </a:prstGeom>
          <a:noFill/>
        </p:spPr>
        <p:txBody>
          <a:bodyPr wrap="square" rtlCol="0">
            <a:spAutoFit/>
          </a:bodyPr>
          <a:lstStyle/>
          <a:p>
            <a:pPr algn="ctr"/>
            <a:r>
              <a:rPr kumimoji="1" lang="en-US" altLang="zh-CN" sz="4400" b="1" dirty="0">
                <a:solidFill>
                  <a:schemeClr val="accent5">
                    <a:lumMod val="50000"/>
                  </a:schemeClr>
                </a:solidFill>
                <a:latin typeface="Arial" panose="020B0604020202020204" pitchFamily="34" charset="0"/>
                <a:cs typeface="Arial" panose="020B0604020202020204" pitchFamily="34" charset="0"/>
              </a:rPr>
              <a:t>03</a:t>
            </a:r>
            <a:endParaRPr kumimoji="1" lang="zh-CN" altLang="en-US" sz="4400" b="1" dirty="0">
              <a:solidFill>
                <a:schemeClr val="accent5">
                  <a:lumMod val="50000"/>
                </a:schemeClr>
              </a:solidFill>
              <a:latin typeface="Arial" panose="020B0604020202020204" pitchFamily="34" charset="0"/>
              <a:cs typeface="Arial" panose="020B0604020202020204" pitchFamily="34" charset="0"/>
            </a:endParaRPr>
          </a:p>
        </p:txBody>
      </p:sp>
      <p:sp>
        <p:nvSpPr>
          <p:cNvPr id="2" name="椭圆 1"/>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灯片编号占位符 18"/>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34</a:t>
            </a:fld>
            <a:endParaRPr kumimoji="1" lang="zh-CN" altLang="en-US" dirty="0">
              <a:solidFill>
                <a:schemeClr val="bg1"/>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AE16F-D920-8FEA-3229-10B9BE0154C4}"/>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133A5CE5-3934-6FC5-6D87-007952815C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60A99F83-8C16-7873-0590-5FFC54736DAD}"/>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7784DD84-9D35-9728-9F79-71F3F76FA1DD}"/>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65B260E3-6BA8-3C9C-E05A-F43829C80FDE}"/>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C6F7A12-9F71-38B4-5AD8-C256BB1E0680}"/>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规划模块技术路线演进脉络</a:t>
            </a:r>
          </a:p>
        </p:txBody>
      </p:sp>
      <p:sp>
        <p:nvSpPr>
          <p:cNvPr id="8" name="文本框 7">
            <a:extLst>
              <a:ext uri="{FF2B5EF4-FFF2-40B4-BE49-F238E27FC236}">
                <a16:creationId xmlns:a16="http://schemas.microsoft.com/office/drawing/2014/main" id="{B51A57A6-6C7F-35F6-D482-D3301515916D}"/>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5E5C9665-BEF9-4841-E37E-4E803B793E86}"/>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A13D7B35-C66F-1BAF-901C-AF92F2CFE5D2}"/>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全局路径规划</a:t>
            </a:r>
          </a:p>
        </p:txBody>
      </p:sp>
      <p:sp>
        <p:nvSpPr>
          <p:cNvPr id="29" name="椭圆 28">
            <a:extLst>
              <a:ext uri="{FF2B5EF4-FFF2-40B4-BE49-F238E27FC236}">
                <a16:creationId xmlns:a16="http://schemas.microsoft.com/office/drawing/2014/main" id="{00B1FD41-F330-0B37-D07C-385E136D6371}"/>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0D7DCEF3-B332-CEB8-1789-90F57280C8F7}"/>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35</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30496BB4-0C99-3719-722E-3D7A4F91B6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4C7684AD-D345-E9F4-1F31-95F2CBC49D55}"/>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A1FCAB23-40FA-42F0-1CAE-77E651EDA0F6}"/>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A98F0AF7-62CA-EB93-DB81-3CC61451D9E1}"/>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B110E65F-7608-78C1-4D93-B8153DB1E051}"/>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8A8E897D-4B49-0AAD-3481-FD5390743173}"/>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AA75C043-BAA6-5CF7-BC80-3938856A36BF}"/>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28BE8FB6-5110-0398-D980-EA07B0442DB1}"/>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CEB31C19-4F0F-EE93-3F89-6DFDE11DC733}"/>
              </a:ext>
            </a:extLst>
          </p:cNvPr>
          <p:cNvGrpSpPr/>
          <p:nvPr/>
        </p:nvGrpSpPr>
        <p:grpSpPr>
          <a:xfrm>
            <a:off x="0" y="4058527"/>
            <a:ext cx="1433384" cy="646332"/>
            <a:chOff x="0" y="4058527"/>
            <a:chExt cx="1433384" cy="646332"/>
          </a:xfrm>
        </p:grpSpPr>
        <p:sp>
          <p:nvSpPr>
            <p:cNvPr id="33" name="矩形 32">
              <a:extLst>
                <a:ext uri="{FF2B5EF4-FFF2-40B4-BE49-F238E27FC236}">
                  <a16:creationId xmlns:a16="http://schemas.microsoft.com/office/drawing/2014/main" id="{EA970020-A0DD-F02F-7AF2-5687BA0CA4DB}"/>
                </a:ext>
              </a:extLst>
            </p:cNvPr>
            <p:cNvSpPr/>
            <p:nvPr/>
          </p:nvSpPr>
          <p:spPr>
            <a:xfrm>
              <a:off x="0" y="40585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BC61DDCC-CFE7-3BE1-FDB4-73F493F76FF2}"/>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规划模块技术路线演进脉络</a:t>
              </a:r>
              <a:endParaRPr lang="zh-CN" altLang="en-US" sz="1200" dirty="0"/>
            </a:p>
          </p:txBody>
        </p:sp>
      </p:grpSp>
      <p:sp>
        <p:nvSpPr>
          <p:cNvPr id="27" name="文本框 26">
            <a:extLst>
              <a:ext uri="{FF2B5EF4-FFF2-40B4-BE49-F238E27FC236}">
                <a16:creationId xmlns:a16="http://schemas.microsoft.com/office/drawing/2014/main" id="{115FC36E-A393-622A-84BE-90EEBE877F7B}"/>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A6CDC54F-FA38-8C3F-0518-197CED34015D}"/>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9D37BB84-5C74-DDD6-600A-77C0EEC9E2DA}"/>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17" name="文本框 16">
            <a:extLst>
              <a:ext uri="{FF2B5EF4-FFF2-40B4-BE49-F238E27FC236}">
                <a16:creationId xmlns:a16="http://schemas.microsoft.com/office/drawing/2014/main" id="{8139291A-C735-C7BC-1BCE-57E11A0DAF99}"/>
              </a:ext>
            </a:extLst>
          </p:cNvPr>
          <p:cNvSpPr txBox="1"/>
          <p:nvPr/>
        </p:nvSpPr>
        <p:spPr>
          <a:xfrm>
            <a:off x="2311088" y="1757441"/>
            <a:ext cx="8508289" cy="923330"/>
          </a:xfrm>
          <a:prstGeom prst="rect">
            <a:avLst/>
          </a:prstGeom>
          <a:noFill/>
        </p:spPr>
        <p:txBody>
          <a:bodyPr wrap="square" rtlCol="0">
            <a:spAutoFit/>
          </a:bodyPr>
          <a:lstStyle/>
          <a:p>
            <a:r>
              <a:rPr lang="zh-CN" altLang="en-US" b="1" dirty="0"/>
              <a:t>在全局地图上提供从起点到终点的道路级路径。地图被表示为包含边和节点的有向图，规划器搜索最小代价序列。全局路径规划的发展历史远长于自动驾驶，因为它也服务于人工驾驶车辆。</a:t>
            </a:r>
            <a:endParaRPr lang="zh-CN" altLang="zh-CN" b="1" dirty="0"/>
          </a:p>
        </p:txBody>
      </p:sp>
      <p:graphicFrame>
        <p:nvGraphicFramePr>
          <p:cNvPr id="39" name="表格 38">
            <a:extLst>
              <a:ext uri="{FF2B5EF4-FFF2-40B4-BE49-F238E27FC236}">
                <a16:creationId xmlns:a16="http://schemas.microsoft.com/office/drawing/2014/main" id="{DABD0B6F-80DB-F2B7-2730-D67E0BF57E11}"/>
              </a:ext>
            </a:extLst>
          </p:cNvPr>
          <p:cNvGraphicFramePr>
            <a:graphicFrameLocks noGrp="1"/>
          </p:cNvGraphicFramePr>
          <p:nvPr>
            <p:extLst>
              <p:ext uri="{D42A27DB-BD31-4B8C-83A1-F6EECF244321}">
                <p14:modId xmlns:p14="http://schemas.microsoft.com/office/powerpoint/2010/main" val="3216124344"/>
              </p:ext>
            </p:extLst>
          </p:nvPr>
        </p:nvGraphicFramePr>
        <p:xfrm>
          <a:off x="3347580" y="2830975"/>
          <a:ext cx="6643313" cy="3530300"/>
        </p:xfrm>
        <a:graphic>
          <a:graphicData uri="http://schemas.openxmlformats.org/drawingml/2006/table">
            <a:tbl>
              <a:tblPr firstRow="1" bandRow="1">
                <a:tableStyleId>{7DF18680-E054-41AD-8BC1-D1AEF772440D}</a:tableStyleId>
              </a:tblPr>
              <a:tblGrid>
                <a:gridCol w="1481753">
                  <a:extLst>
                    <a:ext uri="{9D8B030D-6E8A-4147-A177-3AD203B41FA5}">
                      <a16:colId xmlns:a16="http://schemas.microsoft.com/office/drawing/2014/main" val="20000"/>
                    </a:ext>
                  </a:extLst>
                </a:gridCol>
                <a:gridCol w="2626427">
                  <a:extLst>
                    <a:ext uri="{9D8B030D-6E8A-4147-A177-3AD203B41FA5}">
                      <a16:colId xmlns:a16="http://schemas.microsoft.com/office/drawing/2014/main" val="20001"/>
                    </a:ext>
                  </a:extLst>
                </a:gridCol>
                <a:gridCol w="2535133">
                  <a:extLst>
                    <a:ext uri="{9D8B030D-6E8A-4147-A177-3AD203B41FA5}">
                      <a16:colId xmlns:a16="http://schemas.microsoft.com/office/drawing/2014/main" val="20002"/>
                    </a:ext>
                  </a:extLst>
                </a:gridCol>
              </a:tblGrid>
              <a:tr h="308901">
                <a:tc>
                  <a:txBody>
                    <a:bodyPr/>
                    <a:lstStyle/>
                    <a:p>
                      <a:pPr marL="0" algn="ctr" defTabSz="914400" rtl="0" eaLnBrk="1" latinLnBrk="0" hangingPunct="1"/>
                      <a:endParaRPr lang="zh-CN" altLang="en-US" sz="1200" b="1" i="0" kern="1200" dirty="0">
                        <a:solidFill>
                          <a:schemeClr val="lt1"/>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en-US" sz="1200" b="1" dirty="0">
                          <a:solidFill>
                            <a:schemeClr val="tx1"/>
                          </a:solidFill>
                          <a:effectLst/>
                          <a:latin typeface="方正小标宋简体" panose="02010601030101010101" pitchFamily="2" charset="-122"/>
                          <a:ea typeface="方正小标宋简体" panose="02010601030101010101" pitchFamily="2" charset="-122"/>
                        </a:rPr>
                        <a:t>核心思想</a:t>
                      </a:r>
                      <a:endParaRPr lang="zh-CN" altLang="en-US" sz="1200" b="1" i="0" kern="1200" dirty="0">
                        <a:solidFill>
                          <a:schemeClr val="lt1"/>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en-US" sz="1200" b="1" i="0" kern="1200" dirty="0">
                          <a:solidFill>
                            <a:schemeClr val="tx1"/>
                          </a:solidFill>
                          <a:latin typeface="方正小标宋简体" panose="02010601030101010101" pitchFamily="2" charset="-122"/>
                          <a:ea typeface="方正小标宋简体" panose="02010601030101010101" pitchFamily="2" charset="-122"/>
                          <a:cs typeface="Arial" panose="020B0604020202020204" pitchFamily="34" charset="0"/>
                        </a:rPr>
                        <a:t>特点</a:t>
                      </a:r>
                    </a:p>
                  </a:txBody>
                  <a:tcPr anchor="ctr"/>
                </a:tc>
                <a:extLst>
                  <a:ext uri="{0D108BD9-81ED-4DB2-BD59-A6C34878D82A}">
                    <a16:rowId xmlns:a16="http://schemas.microsoft.com/office/drawing/2014/main" val="10000"/>
                  </a:ext>
                </a:extLst>
              </a:tr>
              <a:tr h="920439">
                <a:tc>
                  <a:txBody>
                    <a:bodyPr/>
                    <a:lstStyle/>
                    <a:p>
                      <a:pPr marL="0" algn="ctr" defTabSz="914400" rtl="0" eaLnBrk="1" latinLnBrk="0" hangingPunct="1"/>
                      <a:r>
                        <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rPr>
                        <a:t>早期</a:t>
                      </a:r>
                    </a:p>
                  </a:txBody>
                  <a:tcPr anchor="ctr"/>
                </a:tc>
                <a:tc>
                  <a:txBody>
                    <a:bodyPr/>
                    <a:lstStyle/>
                    <a:p>
                      <a:pPr marL="0" algn="ctr" defTabSz="914400" rtl="0" eaLnBrk="1" latinLnBrk="0" hangingPunct="1"/>
                      <a:r>
                        <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rPr>
                        <a:t>在完整图上搜索最短路径</a:t>
                      </a:r>
                    </a:p>
                  </a:txBody>
                  <a:tcPr anchor="ctr"/>
                </a:tc>
                <a:tc>
                  <a:txBody>
                    <a:bodyPr/>
                    <a:lstStyle/>
                    <a:p>
                      <a:pPr marL="0" algn="ctr" defTabSz="914400" rtl="0" eaLnBrk="1" latinLnBrk="0" hangingPunct="1"/>
                      <a:r>
                        <a:rPr lang="zh-CN" altLang="en-US" sz="1200" b="0" i="0" kern="1200" dirty="0">
                          <a:solidFill>
                            <a:schemeClr val="dk1"/>
                          </a:solidFill>
                          <a:effectLst/>
                          <a:latin typeface="+mn-lt"/>
                          <a:ea typeface="+mn-ea"/>
                          <a:cs typeface="+mn-cs"/>
                        </a:rPr>
                        <a:t>经典、可解释，但大规模图效率低</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0001"/>
                  </a:ext>
                </a:extLst>
              </a:tr>
              <a:tr h="575240">
                <a:tc>
                  <a:txBody>
                    <a:bodyPr/>
                    <a:lstStyle/>
                    <a:p>
                      <a:pPr marL="0" algn="ctr" defTabSz="914400" rtl="0" eaLnBrk="1" latinLnBrk="0" hangingPunct="1"/>
                      <a:r>
                        <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rPr>
                        <a:t>目标导向</a:t>
                      </a:r>
                    </a:p>
                  </a:txBody>
                  <a:tcPr anchor="ctr"/>
                </a:tc>
                <a:tc>
                  <a:txBody>
                    <a:bodyPr/>
                    <a:lstStyle/>
                    <a:p>
                      <a:pPr marL="0" algn="ctr" defTabSz="914400" rtl="0" eaLnBrk="1" latinLnBrk="0" hangingPunct="1"/>
                      <a:r>
                        <a:rPr lang="zh-CN" altLang="en-US" sz="1200" b="1" i="0" kern="1200" dirty="0">
                          <a:solidFill>
                            <a:schemeClr val="dk1"/>
                          </a:solidFill>
                          <a:effectLst/>
                          <a:latin typeface="+mn-lt"/>
                          <a:ea typeface="+mn-ea"/>
                          <a:cs typeface="+mn-cs"/>
                        </a:rPr>
                        <a:t>启发式加速搜索</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效率提升，仍依赖图规模</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3591990814"/>
                  </a:ext>
                </a:extLst>
              </a:tr>
              <a:tr h="575240">
                <a:tc>
                  <a:txBody>
                    <a:bodyPr/>
                    <a:lstStyle/>
                    <a:p>
                      <a:pPr marL="0" algn="ctr" defTabSz="914400" rtl="0" eaLnBrk="1" latinLnBrk="0" hangingPunct="1"/>
                      <a:r>
                        <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rPr>
                        <a:t>基于分隔符</a:t>
                      </a:r>
                    </a:p>
                  </a:txBody>
                  <a:tcPr anchor="ctr"/>
                </a:tc>
                <a:tc>
                  <a:txBody>
                    <a:bodyPr/>
                    <a:lstStyle/>
                    <a:p>
                      <a:pPr marL="0" algn="ctr" defTabSz="914400" rtl="0" eaLnBrk="1" latinLnBrk="0" hangingPunct="1"/>
                      <a:r>
                        <a:rPr lang="zh-CN" altLang="en-US" sz="1200" b="1" i="0" kern="1200" dirty="0">
                          <a:solidFill>
                            <a:schemeClr val="dk1"/>
                          </a:solidFill>
                          <a:effectLst/>
                          <a:latin typeface="+mn-lt"/>
                          <a:ea typeface="+mn-ea"/>
                          <a:cs typeface="+mn-cs"/>
                        </a:rPr>
                        <a:t>将大图分割为子图</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降低搜索空间</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86262575"/>
                  </a:ext>
                </a:extLst>
              </a:tr>
              <a:tr h="575240">
                <a:tc>
                  <a:txBody>
                    <a:bodyPr/>
                    <a:lstStyle/>
                    <a:p>
                      <a:pPr marL="0" algn="ctr" defTabSz="914400" rtl="0" eaLnBrk="1" latinLnBrk="0" hangingPunct="1"/>
                      <a:r>
                        <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rPr>
                        <a:t>分层方法</a:t>
                      </a:r>
                    </a:p>
                  </a:txBody>
                  <a:tcPr anchor="ctr"/>
                </a:tc>
                <a:tc>
                  <a:txBody>
                    <a:bodyPr/>
                    <a:lstStyle/>
                    <a:p>
                      <a:pPr marL="0" algn="ctr" defTabSz="914400" rtl="0" eaLnBrk="1" latinLnBrk="0" hangingPunct="1"/>
                      <a:r>
                        <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rPr>
                        <a:t>粗粒度规划 </a:t>
                      </a:r>
                      <a:r>
                        <a:rPr lang="en-US" altLang="zh-CN" sz="1200" b="1" i="0" kern="1200" dirty="0">
                          <a:solidFill>
                            <a:schemeClr val="tx1">
                              <a:lumMod val="95000"/>
                              <a:lumOff val="5000"/>
                            </a:schemeClr>
                          </a:solidFill>
                          <a:latin typeface="Arial" panose="020B0604020202020204" pitchFamily="34" charset="0"/>
                          <a:ea typeface="+mn-ea"/>
                          <a:cs typeface="Arial" panose="020B0604020202020204" pitchFamily="34" charset="0"/>
                        </a:rPr>
                        <a:t>+ </a:t>
                      </a:r>
                      <a:r>
                        <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rPr>
                        <a:t>细粒度精化</a:t>
                      </a: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适合城市级路网</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3353665011"/>
                  </a:ext>
                </a:extLst>
              </a:tr>
              <a:tr h="575240">
                <a:tc>
                  <a:txBody>
                    <a:bodyPr/>
                    <a:lstStyle/>
                    <a:p>
                      <a:pPr marL="0" algn="ctr" defTabSz="914400" rtl="0" eaLnBrk="1" latinLnBrk="0" hangingPunct="1"/>
                      <a:r>
                        <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rPr>
                        <a:t>有界跳数</a:t>
                      </a:r>
                    </a:p>
                  </a:txBody>
                  <a:tcPr anchor="ctr"/>
                </a:tc>
                <a:tc>
                  <a:txBody>
                    <a:bodyPr/>
                    <a:lstStyle/>
                    <a:p>
                      <a:pPr marL="0" algn="ctr" defTabSz="914400" rtl="0" eaLnBrk="1" latinLnBrk="0" hangingPunct="1"/>
                      <a:r>
                        <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rPr>
                        <a:t>限制搜索跳数</a:t>
                      </a:r>
                    </a:p>
                  </a:txBody>
                  <a:tcPr anchor="ctr"/>
                </a:tc>
                <a:tc>
                  <a:txBody>
                    <a:bodyPr/>
                    <a:lstStyle/>
                    <a:p>
                      <a:pPr marL="0" algn="ctr" defTabSz="914400" rtl="0" eaLnBrk="1" latinLnBrk="0" hangingPunct="1"/>
                      <a:r>
                        <a:rPr lang="zh-CN" altLang="zh-CN" sz="1200" b="0" i="0" kern="1200" dirty="0">
                          <a:solidFill>
                            <a:schemeClr val="dk1"/>
                          </a:solidFill>
                          <a:effectLst/>
                          <a:latin typeface="+mn-lt"/>
                          <a:ea typeface="+mn-ea"/>
                          <a:cs typeface="+mn-cs"/>
                        </a:rPr>
                        <a:t>实时性提升</a:t>
                      </a:r>
                      <a:endParaRPr lang="zh-CN" altLang="en-US" sz="1200" b="1" i="0" kern="1200" dirty="0">
                        <a:solidFill>
                          <a:schemeClr val="tx1">
                            <a:lumMod val="95000"/>
                            <a:lumOff val="5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4134893524"/>
                  </a:ext>
                </a:extLst>
              </a:tr>
            </a:tbl>
          </a:graphicData>
        </a:graphic>
      </p:graphicFrame>
    </p:spTree>
    <p:extLst>
      <p:ext uri="{BB962C8B-B14F-4D97-AF65-F5344CB8AC3E}">
        <p14:creationId xmlns:p14="http://schemas.microsoft.com/office/powerpoint/2010/main" val="3916677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EBF0C-2D16-D3EF-411D-96A022F4ACC9}"/>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915A2193-CBC4-22E1-A4DC-AE4B1C106B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34573514-62BC-8596-5A9D-3D524E76FEEB}"/>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DB11CF1C-94E0-57B3-10EE-0BBEE50133D2}"/>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E446D36A-86F2-C531-70CC-51C450EBF348}"/>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479330A-C97B-A7C7-B79E-CE3363D9EC08}"/>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规划模块技术路线演进脉络</a:t>
            </a:r>
          </a:p>
        </p:txBody>
      </p:sp>
      <p:sp>
        <p:nvSpPr>
          <p:cNvPr id="8" name="文本框 7">
            <a:extLst>
              <a:ext uri="{FF2B5EF4-FFF2-40B4-BE49-F238E27FC236}">
                <a16:creationId xmlns:a16="http://schemas.microsoft.com/office/drawing/2014/main" id="{D6DCD683-2C1A-CD8F-07AD-CCFDC84332C7}"/>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C8383AF5-C703-F772-AED4-4CCCDB8FE7BF}"/>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0605B261-AD97-B5E0-3E3E-E1EBE68EE3AC}"/>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全局路径规划</a:t>
            </a:r>
          </a:p>
        </p:txBody>
      </p:sp>
      <p:sp>
        <p:nvSpPr>
          <p:cNvPr id="29" name="椭圆 28">
            <a:extLst>
              <a:ext uri="{FF2B5EF4-FFF2-40B4-BE49-F238E27FC236}">
                <a16:creationId xmlns:a16="http://schemas.microsoft.com/office/drawing/2014/main" id="{2D56093B-9A7C-6056-8EEE-DA6D3F0DE827}"/>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485F3D22-A33F-EBF3-1D42-360E42E14910}"/>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36</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C6DF5A01-6A5D-4992-C3D5-5B540B9B47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534D4DC3-166F-4C9F-5349-D7F68D44E1E1}"/>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99D3C8BD-62BC-0C61-A922-EEC0AAFE8FD5}"/>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8E83BECC-C899-7A18-E361-FC2A366C724F}"/>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281C5E7E-BA4D-5577-1394-EA526FB080A6}"/>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1657B54F-CE57-BC90-D72D-A9D066BD3E31}"/>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AA69E3D7-4CD5-ED7A-461D-BF1FD14F453B}"/>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7B39B70D-6F53-34C5-4DBA-4D94C39AB7AE}"/>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2836096D-FC1D-EFE7-4547-D2DFAD5CF7DB}"/>
              </a:ext>
            </a:extLst>
          </p:cNvPr>
          <p:cNvGrpSpPr/>
          <p:nvPr/>
        </p:nvGrpSpPr>
        <p:grpSpPr>
          <a:xfrm>
            <a:off x="0" y="4058527"/>
            <a:ext cx="1433384" cy="646332"/>
            <a:chOff x="0" y="4058527"/>
            <a:chExt cx="1433384" cy="646332"/>
          </a:xfrm>
        </p:grpSpPr>
        <p:sp>
          <p:nvSpPr>
            <p:cNvPr id="33" name="矩形 32">
              <a:extLst>
                <a:ext uri="{FF2B5EF4-FFF2-40B4-BE49-F238E27FC236}">
                  <a16:creationId xmlns:a16="http://schemas.microsoft.com/office/drawing/2014/main" id="{23934747-D17B-7F85-62B8-E6BD1E074906}"/>
                </a:ext>
              </a:extLst>
            </p:cNvPr>
            <p:cNvSpPr/>
            <p:nvPr/>
          </p:nvSpPr>
          <p:spPr>
            <a:xfrm>
              <a:off x="0" y="40585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FAA94291-DCCF-544B-5544-F72445AA1BBC}"/>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规划模块技术路线演进脉络</a:t>
              </a:r>
              <a:endParaRPr lang="zh-CN" altLang="en-US" sz="1200" dirty="0"/>
            </a:p>
          </p:txBody>
        </p:sp>
      </p:grpSp>
      <p:sp>
        <p:nvSpPr>
          <p:cNvPr id="27" name="文本框 26">
            <a:extLst>
              <a:ext uri="{FF2B5EF4-FFF2-40B4-BE49-F238E27FC236}">
                <a16:creationId xmlns:a16="http://schemas.microsoft.com/office/drawing/2014/main" id="{3AE3FCEA-0A8E-16A5-667C-99E55F9EF58E}"/>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E0BEB2DA-0C14-56E0-8379-50E0EDFBAACE}"/>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E44BD366-47D8-C955-5497-DA23F89E84BF}"/>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grpSp>
        <p:nvGrpSpPr>
          <p:cNvPr id="38" name="组合 37">
            <a:extLst>
              <a:ext uri="{FF2B5EF4-FFF2-40B4-BE49-F238E27FC236}">
                <a16:creationId xmlns:a16="http://schemas.microsoft.com/office/drawing/2014/main" id="{FE040B45-0F10-4CFD-6A7C-085864597733}"/>
              </a:ext>
            </a:extLst>
          </p:cNvPr>
          <p:cNvGrpSpPr/>
          <p:nvPr/>
        </p:nvGrpSpPr>
        <p:grpSpPr>
          <a:xfrm>
            <a:off x="2741079" y="1873621"/>
            <a:ext cx="8092021" cy="2430450"/>
            <a:chOff x="2741079" y="2037410"/>
            <a:chExt cx="8185716" cy="2530816"/>
          </a:xfrm>
        </p:grpSpPr>
        <p:grpSp>
          <p:nvGrpSpPr>
            <p:cNvPr id="24" name="组合 23">
              <a:extLst>
                <a:ext uri="{FF2B5EF4-FFF2-40B4-BE49-F238E27FC236}">
                  <a16:creationId xmlns:a16="http://schemas.microsoft.com/office/drawing/2014/main" id="{92E5C5A9-8D70-64F6-30C6-8B70BB5CC80F}"/>
                </a:ext>
              </a:extLst>
            </p:cNvPr>
            <p:cNvGrpSpPr/>
            <p:nvPr/>
          </p:nvGrpSpPr>
          <p:grpSpPr>
            <a:xfrm>
              <a:off x="2741079" y="2037410"/>
              <a:ext cx="8185716" cy="2327884"/>
              <a:chOff x="2885275" y="2168714"/>
              <a:chExt cx="8185716" cy="1030085"/>
            </a:xfrm>
          </p:grpSpPr>
          <p:sp>
            <p:nvSpPr>
              <p:cNvPr id="34" name="圆角矩形 1">
                <a:extLst>
                  <a:ext uri="{FF2B5EF4-FFF2-40B4-BE49-F238E27FC236}">
                    <a16:creationId xmlns:a16="http://schemas.microsoft.com/office/drawing/2014/main" id="{9796C44B-8B06-91D6-C398-4144465E281E}"/>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dirty="0">
                  <a:solidFill>
                    <a:schemeClr val="tx1"/>
                  </a:solidFill>
                </a:endParaRPr>
              </a:p>
            </p:txBody>
          </p:sp>
          <p:sp>
            <p:nvSpPr>
              <p:cNvPr id="35" name="圆角矩形 77">
                <a:extLst>
                  <a:ext uri="{FF2B5EF4-FFF2-40B4-BE49-F238E27FC236}">
                    <a16:creationId xmlns:a16="http://schemas.microsoft.com/office/drawing/2014/main" id="{E53AE7CE-559D-49DC-08D1-431398529C4F}"/>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t>早期经典图搜索</a:t>
                </a:r>
              </a:p>
            </p:txBody>
          </p:sp>
        </p:grpSp>
        <p:sp>
          <p:nvSpPr>
            <p:cNvPr id="37" name="文本框 36">
              <a:extLst>
                <a:ext uri="{FF2B5EF4-FFF2-40B4-BE49-F238E27FC236}">
                  <a16:creationId xmlns:a16="http://schemas.microsoft.com/office/drawing/2014/main" id="{F07EDB9A-7AFD-4F66-5783-23218280F747}"/>
                </a:ext>
              </a:extLst>
            </p:cNvPr>
            <p:cNvSpPr txBox="1"/>
            <p:nvPr/>
          </p:nvSpPr>
          <p:spPr>
            <a:xfrm>
              <a:off x="3068997" y="2721567"/>
              <a:ext cx="7529880" cy="1846659"/>
            </a:xfrm>
            <a:prstGeom prst="rect">
              <a:avLst/>
            </a:prstGeom>
            <a:noFill/>
          </p:spPr>
          <p:txBody>
            <a:bodyPr wrap="square" rtlCol="0">
              <a:spAutoFit/>
            </a:bodyPr>
            <a:lstStyle/>
            <a:p>
              <a:r>
                <a:rPr lang="en-US" altLang="zh-CN" sz="1600" dirty="0"/>
                <a:t>1959</a:t>
              </a:r>
              <a:r>
                <a:rPr lang="zh-CN" altLang="en-US" sz="1600" dirty="0"/>
                <a:t>年，</a:t>
              </a:r>
              <a:r>
                <a:rPr lang="en-US" altLang="zh-CN" sz="1600" dirty="0"/>
                <a:t>Dijkstra</a:t>
              </a:r>
              <a:r>
                <a:rPr lang="zh-CN" altLang="en-US" sz="1600" dirty="0"/>
                <a:t>提出以他名字命名的最短路径算法，首次为带权有向图提供了系统性求解方法；同一时期</a:t>
              </a:r>
              <a:r>
                <a:rPr lang="en-US" altLang="zh-CN" sz="1600" dirty="0"/>
                <a:t>Bellman-Ford</a:t>
              </a:r>
              <a:r>
                <a:rPr lang="zh-CN" altLang="en-US" sz="1600" dirty="0"/>
                <a:t>算法也用于解决含负权边的路径问题。</a:t>
              </a:r>
              <a:r>
                <a:rPr lang="en-US" altLang="zh-CN" sz="1600" dirty="0"/>
                <a:t>1966</a:t>
              </a:r>
              <a:r>
                <a:rPr lang="zh-CN" altLang="en-US" sz="1600" dirty="0"/>
                <a:t>年，斯坦福研究所的</a:t>
              </a:r>
              <a:r>
                <a:rPr lang="en-US" altLang="zh-CN" sz="1600" dirty="0"/>
                <a:t>Shakey</a:t>
              </a:r>
              <a:r>
                <a:rPr lang="zh-CN" altLang="en-US" sz="1600" dirty="0"/>
                <a:t>机器人将</a:t>
              </a:r>
              <a:r>
                <a:rPr lang="en-US" altLang="zh-CN" sz="1600" dirty="0"/>
                <a:t>STRIPS</a:t>
              </a:r>
              <a:r>
                <a:rPr lang="zh-CN" altLang="en-US" sz="1600" dirty="0"/>
                <a:t>规划器与</a:t>
              </a:r>
              <a:r>
                <a:rPr lang="en-US" altLang="zh-CN" sz="1600" dirty="0"/>
                <a:t>A*</a:t>
              </a:r>
              <a:r>
                <a:rPr lang="zh-CN" altLang="en-US" sz="1600" dirty="0"/>
                <a:t>搜索结合，首次在自主机器人上实现分层路径规划，奠定了“感知</a:t>
              </a:r>
              <a:r>
                <a:rPr lang="en-US" altLang="zh-CN" sz="1600" dirty="0"/>
                <a:t>—</a:t>
              </a:r>
              <a:r>
                <a:rPr lang="zh-CN" altLang="en-US" sz="1600" dirty="0"/>
                <a:t>规划</a:t>
              </a:r>
              <a:r>
                <a:rPr lang="en-US" altLang="zh-CN" sz="1600" dirty="0"/>
                <a:t>—</a:t>
              </a:r>
              <a:r>
                <a:rPr lang="zh-CN" altLang="en-US" sz="1600" dirty="0"/>
                <a:t>控制”的架构雏形。这一阶段的核心是在完整图上搜索最短路径，可解释性强，但面对大规模路网时效率低，难以满足实时性要求。</a:t>
              </a:r>
            </a:p>
            <a:p>
              <a:endParaRPr lang="zh-CN" altLang="en-US" dirty="0"/>
            </a:p>
          </p:txBody>
        </p:sp>
      </p:grpSp>
      <p:grpSp>
        <p:nvGrpSpPr>
          <p:cNvPr id="40" name="组合 39">
            <a:extLst>
              <a:ext uri="{FF2B5EF4-FFF2-40B4-BE49-F238E27FC236}">
                <a16:creationId xmlns:a16="http://schemas.microsoft.com/office/drawing/2014/main" id="{F4E716B3-4CC5-6ACF-7DA4-E64AF3070E69}"/>
              </a:ext>
            </a:extLst>
          </p:cNvPr>
          <p:cNvGrpSpPr/>
          <p:nvPr/>
        </p:nvGrpSpPr>
        <p:grpSpPr>
          <a:xfrm>
            <a:off x="2785639" y="4304071"/>
            <a:ext cx="8047461" cy="2462274"/>
            <a:chOff x="2741079" y="2037410"/>
            <a:chExt cx="8185716" cy="2530816"/>
          </a:xfrm>
        </p:grpSpPr>
        <p:grpSp>
          <p:nvGrpSpPr>
            <p:cNvPr id="41" name="组合 40">
              <a:extLst>
                <a:ext uri="{FF2B5EF4-FFF2-40B4-BE49-F238E27FC236}">
                  <a16:creationId xmlns:a16="http://schemas.microsoft.com/office/drawing/2014/main" id="{EE4D4F69-D163-6E0B-EFD5-48A720068DB3}"/>
                </a:ext>
              </a:extLst>
            </p:cNvPr>
            <p:cNvGrpSpPr/>
            <p:nvPr/>
          </p:nvGrpSpPr>
          <p:grpSpPr>
            <a:xfrm>
              <a:off x="2741079" y="2037410"/>
              <a:ext cx="8185716" cy="2327884"/>
              <a:chOff x="2885275" y="2168714"/>
              <a:chExt cx="8185716" cy="1030085"/>
            </a:xfrm>
          </p:grpSpPr>
          <p:sp>
            <p:nvSpPr>
              <p:cNvPr id="43" name="圆角矩形 1">
                <a:extLst>
                  <a:ext uri="{FF2B5EF4-FFF2-40B4-BE49-F238E27FC236}">
                    <a16:creationId xmlns:a16="http://schemas.microsoft.com/office/drawing/2014/main" id="{37049257-80D4-103D-7994-5BF7389D1C90}"/>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dirty="0">
                  <a:solidFill>
                    <a:schemeClr val="tx1"/>
                  </a:solidFill>
                </a:endParaRPr>
              </a:p>
            </p:txBody>
          </p:sp>
          <p:sp>
            <p:nvSpPr>
              <p:cNvPr id="44" name="圆角矩形 77">
                <a:extLst>
                  <a:ext uri="{FF2B5EF4-FFF2-40B4-BE49-F238E27FC236}">
                    <a16:creationId xmlns:a16="http://schemas.microsoft.com/office/drawing/2014/main" id="{4F165210-DEE2-9E7C-4B36-172294612DAE}"/>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t>目标导向与启发式搜索</a:t>
                </a:r>
              </a:p>
            </p:txBody>
          </p:sp>
        </p:grpSp>
        <p:sp>
          <p:nvSpPr>
            <p:cNvPr id="42" name="文本框 41">
              <a:extLst>
                <a:ext uri="{FF2B5EF4-FFF2-40B4-BE49-F238E27FC236}">
                  <a16:creationId xmlns:a16="http://schemas.microsoft.com/office/drawing/2014/main" id="{BC32CD76-91FE-35FA-9086-96574B8A8158}"/>
                </a:ext>
              </a:extLst>
            </p:cNvPr>
            <p:cNvSpPr txBox="1"/>
            <p:nvPr/>
          </p:nvSpPr>
          <p:spPr>
            <a:xfrm>
              <a:off x="3068997" y="2721567"/>
              <a:ext cx="7529880" cy="1846659"/>
            </a:xfrm>
            <a:prstGeom prst="rect">
              <a:avLst/>
            </a:prstGeom>
            <a:noFill/>
          </p:spPr>
          <p:txBody>
            <a:bodyPr wrap="square" rtlCol="0">
              <a:spAutoFit/>
            </a:bodyPr>
            <a:lstStyle/>
            <a:p>
              <a:r>
                <a:rPr lang="en-US" altLang="zh-CN" sz="1600" dirty="0"/>
                <a:t>1968</a:t>
              </a:r>
              <a:r>
                <a:rPr lang="zh-CN" altLang="en-US" sz="1600" dirty="0"/>
                <a:t>年，</a:t>
              </a:r>
              <a:r>
                <a:rPr lang="en-US" altLang="zh-CN" sz="1600" dirty="0"/>
                <a:t>Hart</a:t>
              </a:r>
              <a:r>
                <a:rPr lang="zh-CN" altLang="en-US" sz="1600" dirty="0"/>
                <a:t>、</a:t>
              </a:r>
              <a:r>
                <a:rPr lang="en-US" altLang="zh-CN" sz="1600" dirty="0"/>
                <a:t>Nilsson</a:t>
              </a:r>
              <a:r>
                <a:rPr lang="zh-CN" altLang="en-US" sz="1600" dirty="0"/>
                <a:t>和</a:t>
              </a:r>
              <a:r>
                <a:rPr lang="en-US" altLang="zh-CN" sz="1600" dirty="0"/>
                <a:t>Raphael</a:t>
              </a:r>
              <a:r>
                <a:rPr lang="zh-CN" altLang="en-US" sz="1600" dirty="0"/>
                <a:t>发表</a:t>
              </a:r>
              <a:r>
                <a:rPr lang="en-US" altLang="zh-CN" sz="1600" dirty="0"/>
                <a:t>A</a:t>
              </a:r>
              <a:r>
                <a:rPr lang="zh-CN" altLang="en-US" sz="1600" dirty="0"/>
                <a:t>星算法，首次将启发式信息引入图搜索，通过评估函数引导搜索方向，在保证最优解的同时大幅减少扩展节点数。此后，双向搜索、</a:t>
              </a:r>
              <a:r>
                <a:rPr lang="en-US" altLang="zh-CN" sz="1600" dirty="0"/>
                <a:t>A</a:t>
              </a:r>
              <a:r>
                <a:rPr lang="zh-CN" altLang="en-US" sz="1600" dirty="0"/>
                <a:t>星变体等目标导向方法相继出现，进一步加速路径查找。这一阶段的核心思想是用启发式信息缩小搜索空间，但效果仍依赖启发式函数的设计质量，且图规模增大时优势会减弱。</a:t>
              </a:r>
              <a:r>
                <a:rPr lang="en-US" altLang="zh-CN" sz="1600" dirty="0"/>
                <a:t>A*</a:t>
              </a:r>
              <a:r>
                <a:rPr lang="zh-CN" altLang="en-US" sz="1600" dirty="0"/>
                <a:t>成为此后数十年路径规划领域的基准算法，至今仍广泛用于导航系统。</a:t>
              </a:r>
            </a:p>
            <a:p>
              <a:endParaRPr lang="zh-CN" altLang="en-US" dirty="0"/>
            </a:p>
          </p:txBody>
        </p:sp>
      </p:grpSp>
    </p:spTree>
    <p:extLst>
      <p:ext uri="{BB962C8B-B14F-4D97-AF65-F5344CB8AC3E}">
        <p14:creationId xmlns:p14="http://schemas.microsoft.com/office/powerpoint/2010/main" val="465313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AFA6B-685F-38AA-79ED-84B3C3556BEA}"/>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30BA8943-F9B4-FFF9-2D0E-A50FFFF86E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8714FD72-7074-B70A-9D2C-C4B52E185109}"/>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87688857-DD7A-89FB-B04C-E7EEADFEBD47}"/>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D90AC93C-9EEE-011F-51CB-D61720583F74}"/>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1AAEA44-980C-7F3E-8D67-A6CEF7C69962}"/>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规划模块技术路线演进脉络</a:t>
            </a:r>
          </a:p>
        </p:txBody>
      </p:sp>
      <p:sp>
        <p:nvSpPr>
          <p:cNvPr id="8" name="文本框 7">
            <a:extLst>
              <a:ext uri="{FF2B5EF4-FFF2-40B4-BE49-F238E27FC236}">
                <a16:creationId xmlns:a16="http://schemas.microsoft.com/office/drawing/2014/main" id="{3B8E8678-504C-BCD3-0C5D-2B6088F26CA1}"/>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3773D977-8257-ADEC-7560-2283949AECB4}"/>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7B833610-BA66-A107-6B2D-9834724249DB}"/>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全局路径规划</a:t>
            </a:r>
          </a:p>
        </p:txBody>
      </p:sp>
      <p:sp>
        <p:nvSpPr>
          <p:cNvPr id="29" name="椭圆 28">
            <a:extLst>
              <a:ext uri="{FF2B5EF4-FFF2-40B4-BE49-F238E27FC236}">
                <a16:creationId xmlns:a16="http://schemas.microsoft.com/office/drawing/2014/main" id="{90759C9B-0A89-D2AE-F6D3-1FB25423AE4F}"/>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3B169B17-9DEC-E050-1F10-D59D81336EFD}"/>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37</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258A9DEC-A7AC-840F-05BB-EAEA6E9AD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62BF040B-080C-D307-9FFA-82CCCE3FBF20}"/>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F43C7788-2C7E-056D-D5F6-AF0A573CD248}"/>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B0C63B63-BD05-2F79-5424-34CF9933706B}"/>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D32D124B-E0E3-01B6-00DD-7FECAE041C43}"/>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7B153DF5-2C23-60E1-4AE9-C952239B5E1B}"/>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B0EB278F-5446-D01D-0FA4-F90906F6220C}"/>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99DF1DA7-FEC3-692C-26BD-A3E1CCE4AE30}"/>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E4CB19C0-5CBD-74B7-F234-F74AF98C4B6C}"/>
              </a:ext>
            </a:extLst>
          </p:cNvPr>
          <p:cNvGrpSpPr/>
          <p:nvPr/>
        </p:nvGrpSpPr>
        <p:grpSpPr>
          <a:xfrm>
            <a:off x="0" y="4058527"/>
            <a:ext cx="1433384" cy="646332"/>
            <a:chOff x="0" y="4058527"/>
            <a:chExt cx="1433384" cy="646332"/>
          </a:xfrm>
        </p:grpSpPr>
        <p:sp>
          <p:nvSpPr>
            <p:cNvPr id="33" name="矩形 32">
              <a:extLst>
                <a:ext uri="{FF2B5EF4-FFF2-40B4-BE49-F238E27FC236}">
                  <a16:creationId xmlns:a16="http://schemas.microsoft.com/office/drawing/2014/main" id="{C0EA942B-D137-DEC8-1044-9CE443CF8C6D}"/>
                </a:ext>
              </a:extLst>
            </p:cNvPr>
            <p:cNvSpPr/>
            <p:nvPr/>
          </p:nvSpPr>
          <p:spPr>
            <a:xfrm>
              <a:off x="0" y="40585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22387272-6FE8-BFF2-84EB-6CC3928493D1}"/>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规划模块技术路线演进脉络</a:t>
              </a:r>
              <a:endParaRPr lang="zh-CN" altLang="en-US" sz="1200" dirty="0"/>
            </a:p>
          </p:txBody>
        </p:sp>
      </p:grpSp>
      <p:sp>
        <p:nvSpPr>
          <p:cNvPr id="27" name="文本框 26">
            <a:extLst>
              <a:ext uri="{FF2B5EF4-FFF2-40B4-BE49-F238E27FC236}">
                <a16:creationId xmlns:a16="http://schemas.microsoft.com/office/drawing/2014/main" id="{CC31AB76-6CEB-8ED5-9190-917442AF8CF2}"/>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0A5C8DDA-4C3E-32B0-6C36-5B5B0CC2FC05}"/>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4536A89A-D55C-1262-3B27-AE315ED4F1C6}"/>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grpSp>
        <p:nvGrpSpPr>
          <p:cNvPr id="38" name="组合 37">
            <a:extLst>
              <a:ext uri="{FF2B5EF4-FFF2-40B4-BE49-F238E27FC236}">
                <a16:creationId xmlns:a16="http://schemas.microsoft.com/office/drawing/2014/main" id="{D225EE43-C856-B0EE-93E5-0CBBB2D6F860}"/>
              </a:ext>
            </a:extLst>
          </p:cNvPr>
          <p:cNvGrpSpPr/>
          <p:nvPr/>
        </p:nvGrpSpPr>
        <p:grpSpPr>
          <a:xfrm>
            <a:off x="2741079" y="1873621"/>
            <a:ext cx="8092021" cy="2235566"/>
            <a:chOff x="2741079" y="2037410"/>
            <a:chExt cx="8185716" cy="2327884"/>
          </a:xfrm>
        </p:grpSpPr>
        <p:grpSp>
          <p:nvGrpSpPr>
            <p:cNvPr id="24" name="组合 23">
              <a:extLst>
                <a:ext uri="{FF2B5EF4-FFF2-40B4-BE49-F238E27FC236}">
                  <a16:creationId xmlns:a16="http://schemas.microsoft.com/office/drawing/2014/main" id="{14E94299-C61B-2139-C577-41DD054B28A7}"/>
                </a:ext>
              </a:extLst>
            </p:cNvPr>
            <p:cNvGrpSpPr/>
            <p:nvPr/>
          </p:nvGrpSpPr>
          <p:grpSpPr>
            <a:xfrm>
              <a:off x="2741079" y="2037410"/>
              <a:ext cx="8185716" cy="2327884"/>
              <a:chOff x="2885275" y="2168714"/>
              <a:chExt cx="8185716" cy="1030085"/>
            </a:xfrm>
          </p:grpSpPr>
          <p:sp>
            <p:nvSpPr>
              <p:cNvPr id="34" name="圆角矩形 1">
                <a:extLst>
                  <a:ext uri="{FF2B5EF4-FFF2-40B4-BE49-F238E27FC236}">
                    <a16:creationId xmlns:a16="http://schemas.microsoft.com/office/drawing/2014/main" id="{D6360601-A0FE-52CA-B0A0-E109A4166BDB}"/>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dirty="0">
                  <a:solidFill>
                    <a:schemeClr val="tx1"/>
                  </a:solidFill>
                </a:endParaRPr>
              </a:p>
            </p:txBody>
          </p:sp>
          <p:sp>
            <p:nvSpPr>
              <p:cNvPr id="35" name="圆角矩形 77">
                <a:extLst>
                  <a:ext uri="{FF2B5EF4-FFF2-40B4-BE49-F238E27FC236}">
                    <a16:creationId xmlns:a16="http://schemas.microsoft.com/office/drawing/2014/main" id="{43960802-C0CB-2094-B92B-F8C8B647D229}"/>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t>分层与基于分隔符的大规模路网方法</a:t>
                </a:r>
              </a:p>
            </p:txBody>
          </p:sp>
        </p:grpSp>
        <p:sp>
          <p:nvSpPr>
            <p:cNvPr id="37" name="文本框 36">
              <a:extLst>
                <a:ext uri="{FF2B5EF4-FFF2-40B4-BE49-F238E27FC236}">
                  <a16:creationId xmlns:a16="http://schemas.microsoft.com/office/drawing/2014/main" id="{FE8B9BCB-4475-D1B8-68E3-85554F964CD5}"/>
                </a:ext>
              </a:extLst>
            </p:cNvPr>
            <p:cNvSpPr txBox="1"/>
            <p:nvPr/>
          </p:nvSpPr>
          <p:spPr>
            <a:xfrm>
              <a:off x="3068997" y="2721567"/>
              <a:ext cx="7529880" cy="1121702"/>
            </a:xfrm>
            <a:prstGeom prst="rect">
              <a:avLst/>
            </a:prstGeom>
            <a:noFill/>
          </p:spPr>
          <p:txBody>
            <a:bodyPr wrap="square" rtlCol="0">
              <a:spAutoFit/>
            </a:bodyPr>
            <a:lstStyle/>
            <a:p>
              <a:r>
                <a:rPr lang="zh-CN" altLang="en-US" sz="1600" dirty="0"/>
                <a:t>面对城市级路网中百万级节点的挑战，分层方法和基于分隔符的方法成为关键突破。分层方法将路网按道路等级划分为多层，先进行粗粒度规划，再进行细粒度精化，实现“先粗后细”的搜索策略；基于分隔符的方法则将大图分割为子图分别处理，降低单次搜索规模。</a:t>
              </a:r>
              <a:endParaRPr lang="zh-CN" altLang="en-US" dirty="0"/>
            </a:p>
          </p:txBody>
        </p:sp>
      </p:grpSp>
      <p:grpSp>
        <p:nvGrpSpPr>
          <p:cNvPr id="40" name="组合 39">
            <a:extLst>
              <a:ext uri="{FF2B5EF4-FFF2-40B4-BE49-F238E27FC236}">
                <a16:creationId xmlns:a16="http://schemas.microsoft.com/office/drawing/2014/main" id="{B22E04BA-08BB-7686-E8F4-531ADE123AEC}"/>
              </a:ext>
            </a:extLst>
          </p:cNvPr>
          <p:cNvGrpSpPr/>
          <p:nvPr/>
        </p:nvGrpSpPr>
        <p:grpSpPr>
          <a:xfrm>
            <a:off x="2785639" y="4304071"/>
            <a:ext cx="8047461" cy="2264838"/>
            <a:chOff x="2741079" y="2037410"/>
            <a:chExt cx="8185716" cy="2327884"/>
          </a:xfrm>
        </p:grpSpPr>
        <p:grpSp>
          <p:nvGrpSpPr>
            <p:cNvPr id="41" name="组合 40">
              <a:extLst>
                <a:ext uri="{FF2B5EF4-FFF2-40B4-BE49-F238E27FC236}">
                  <a16:creationId xmlns:a16="http://schemas.microsoft.com/office/drawing/2014/main" id="{5E366EA2-D1C8-7576-8C15-F16626190681}"/>
                </a:ext>
              </a:extLst>
            </p:cNvPr>
            <p:cNvGrpSpPr/>
            <p:nvPr/>
          </p:nvGrpSpPr>
          <p:grpSpPr>
            <a:xfrm>
              <a:off x="2741079" y="2037410"/>
              <a:ext cx="8185716" cy="2327884"/>
              <a:chOff x="2885275" y="2168714"/>
              <a:chExt cx="8185716" cy="1030085"/>
            </a:xfrm>
          </p:grpSpPr>
          <p:sp>
            <p:nvSpPr>
              <p:cNvPr id="43" name="圆角矩形 1">
                <a:extLst>
                  <a:ext uri="{FF2B5EF4-FFF2-40B4-BE49-F238E27FC236}">
                    <a16:creationId xmlns:a16="http://schemas.microsoft.com/office/drawing/2014/main" id="{17F61ECF-DA2F-69CD-44E5-A4607D23412D}"/>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dirty="0">
                  <a:solidFill>
                    <a:schemeClr val="tx1"/>
                  </a:solidFill>
                </a:endParaRPr>
              </a:p>
            </p:txBody>
          </p:sp>
          <p:sp>
            <p:nvSpPr>
              <p:cNvPr id="44" name="圆角矩形 77">
                <a:extLst>
                  <a:ext uri="{FF2B5EF4-FFF2-40B4-BE49-F238E27FC236}">
                    <a16:creationId xmlns:a16="http://schemas.microsoft.com/office/drawing/2014/main" id="{9FA923FF-542B-9C90-BBBA-2CEE63240AD5}"/>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t>有界跳数与实时查询优化</a:t>
                </a:r>
              </a:p>
            </p:txBody>
          </p:sp>
        </p:grpSp>
        <p:sp>
          <p:nvSpPr>
            <p:cNvPr id="42" name="文本框 41">
              <a:extLst>
                <a:ext uri="{FF2B5EF4-FFF2-40B4-BE49-F238E27FC236}">
                  <a16:creationId xmlns:a16="http://schemas.microsoft.com/office/drawing/2014/main" id="{59C55FA9-A79D-AC2C-F462-2267BAF5415E}"/>
                </a:ext>
              </a:extLst>
            </p:cNvPr>
            <p:cNvSpPr txBox="1"/>
            <p:nvPr/>
          </p:nvSpPr>
          <p:spPr>
            <a:xfrm>
              <a:off x="2902732" y="2695692"/>
              <a:ext cx="7912388" cy="1613354"/>
            </a:xfrm>
            <a:prstGeom prst="rect">
              <a:avLst/>
            </a:prstGeom>
            <a:noFill/>
          </p:spPr>
          <p:txBody>
            <a:bodyPr wrap="square" rtlCol="0">
              <a:spAutoFit/>
            </a:bodyPr>
            <a:lstStyle/>
            <a:p>
              <a:r>
                <a:rPr lang="zh-CN" altLang="en-US" sz="1600" dirty="0"/>
                <a:t>为进一步满足实时性要求，有界跳数方法通过限制搜索跳数来保证快速响应。</a:t>
              </a:r>
              <a:r>
                <a:rPr lang="en-US" altLang="zh-CN" sz="1600" dirty="0"/>
                <a:t>2011</a:t>
              </a:r>
              <a:r>
                <a:rPr lang="zh-CN" altLang="en-US" sz="1600" dirty="0"/>
                <a:t>年，</a:t>
              </a:r>
              <a:r>
                <a:rPr lang="en-US" altLang="zh-CN" sz="1600" dirty="0" err="1"/>
                <a:t>Harabor</a:t>
              </a:r>
              <a:r>
                <a:rPr lang="zh-CN" altLang="en-US" sz="1600" dirty="0"/>
                <a:t>和</a:t>
              </a:r>
              <a:r>
                <a:rPr lang="en-US" altLang="zh-CN" sz="1600" dirty="0" err="1"/>
                <a:t>Grastien</a:t>
              </a:r>
              <a:r>
                <a:rPr lang="zh-CN" altLang="en-US" sz="1600" dirty="0"/>
                <a:t>提出</a:t>
              </a:r>
              <a:r>
                <a:rPr lang="en-US" altLang="zh-CN" sz="1600" dirty="0"/>
                <a:t>Jump Point Search</a:t>
              </a:r>
              <a:r>
                <a:rPr lang="zh-CN" altLang="en-US" sz="1600" dirty="0"/>
                <a:t>（</a:t>
              </a:r>
              <a:r>
                <a:rPr lang="en-US" altLang="zh-CN" sz="1600" dirty="0"/>
                <a:t>JPS</a:t>
              </a:r>
              <a:r>
                <a:rPr lang="zh-CN" altLang="en-US" sz="1600" dirty="0"/>
                <a:t>）算法，通过剪枝规则选择性地扩展“跳点”，在保证最优路径的同时极大减少搜索节点数量，被认为是当时最快的静态栅格搜索算法。</a:t>
              </a:r>
              <a:r>
                <a:rPr lang="en-US" altLang="zh-CN" sz="1600" dirty="0"/>
                <a:t>JPS</a:t>
              </a:r>
              <a:r>
                <a:rPr lang="zh-CN" altLang="en-US" sz="1600" dirty="0"/>
                <a:t>与</a:t>
              </a:r>
              <a:r>
                <a:rPr lang="en-US" altLang="zh-CN" sz="1600" dirty="0"/>
                <a:t>Goal Bounding</a:t>
              </a:r>
              <a:r>
                <a:rPr lang="zh-CN" altLang="en-US" sz="1600" dirty="0"/>
                <a:t>技术结合后，可进一步限定搜索边界，将搜索空间压缩到与目标相关的区域。这一阶段的核心是牺牲少量最优性换取显著的实时性提升，在动态或实时性要求高的场景中具有重要价值，也常与其他方法组合使用。</a:t>
              </a:r>
              <a:endParaRPr lang="zh-CN" altLang="en-US" dirty="0"/>
            </a:p>
          </p:txBody>
        </p:sp>
      </p:grpSp>
    </p:spTree>
    <p:extLst>
      <p:ext uri="{BB962C8B-B14F-4D97-AF65-F5344CB8AC3E}">
        <p14:creationId xmlns:p14="http://schemas.microsoft.com/office/powerpoint/2010/main" val="27040933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F573-E9F2-5C5A-0CF5-944283F08793}"/>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58C2CC6B-F79E-5771-A50B-12FAD3DCB8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4419F065-B98C-7D6B-15D3-1631D368F606}"/>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5636591D-0CAA-AD62-C96F-59A0656EC624}"/>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96C56C4B-2F2E-4420-4BEA-BF7BE4C5D229}"/>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A8B6640C-B5F6-56ED-5C2A-01EFFD3D1837}"/>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规划模块技术路线演进脉络</a:t>
            </a:r>
          </a:p>
        </p:txBody>
      </p:sp>
      <p:sp>
        <p:nvSpPr>
          <p:cNvPr id="8" name="文本框 7">
            <a:extLst>
              <a:ext uri="{FF2B5EF4-FFF2-40B4-BE49-F238E27FC236}">
                <a16:creationId xmlns:a16="http://schemas.microsoft.com/office/drawing/2014/main" id="{6C07772C-CAD3-F1FD-CABF-001327910C41}"/>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12FA2502-9B4B-BA2F-16FF-AE3F92063132}"/>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4B72683A-134A-D6B9-0F1D-6E41EB7348E9}"/>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(1)</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全局路径规划</a:t>
            </a:r>
          </a:p>
        </p:txBody>
      </p:sp>
      <p:sp>
        <p:nvSpPr>
          <p:cNvPr id="29" name="椭圆 28">
            <a:extLst>
              <a:ext uri="{FF2B5EF4-FFF2-40B4-BE49-F238E27FC236}">
                <a16:creationId xmlns:a16="http://schemas.microsoft.com/office/drawing/2014/main" id="{83A8C66D-11F3-7FE8-37CD-0366AF75A97A}"/>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8CCB0707-C172-F540-949C-21C2794B9EBD}"/>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38</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B110AE97-CBBC-B860-0975-1FF85C8A0DB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632C01D6-77B3-1ADD-511F-806E70C6337D}"/>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D2995360-94EF-4170-0A9B-4C5A154B3836}"/>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7042D601-E80E-C6A9-3552-23D9A9CD9D02}"/>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66E98BC5-68A1-3490-FFA2-5E2E373DE85C}"/>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289DC435-8845-F36E-30ED-CF5C237D90E5}"/>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ECF791FC-622C-5681-57E4-0AD9B8F45B62}"/>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033821A7-969E-4651-3C5A-497C78883764}"/>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FD03D38F-B7DE-B9FA-3B7A-2AF0CDE7A3A4}"/>
              </a:ext>
            </a:extLst>
          </p:cNvPr>
          <p:cNvGrpSpPr/>
          <p:nvPr/>
        </p:nvGrpSpPr>
        <p:grpSpPr>
          <a:xfrm>
            <a:off x="0" y="4058527"/>
            <a:ext cx="1433384" cy="646332"/>
            <a:chOff x="0" y="4058527"/>
            <a:chExt cx="1433384" cy="646332"/>
          </a:xfrm>
        </p:grpSpPr>
        <p:sp>
          <p:nvSpPr>
            <p:cNvPr id="33" name="矩形 32">
              <a:extLst>
                <a:ext uri="{FF2B5EF4-FFF2-40B4-BE49-F238E27FC236}">
                  <a16:creationId xmlns:a16="http://schemas.microsoft.com/office/drawing/2014/main" id="{41FD2226-0694-80D6-D4B8-C25FE16AE024}"/>
                </a:ext>
              </a:extLst>
            </p:cNvPr>
            <p:cNvSpPr/>
            <p:nvPr/>
          </p:nvSpPr>
          <p:spPr>
            <a:xfrm>
              <a:off x="0" y="40585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058FB597-11A9-3045-928B-AA01024D957B}"/>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规划模块技术路线演进脉络</a:t>
              </a:r>
              <a:endParaRPr lang="zh-CN" altLang="en-US" sz="1200" dirty="0"/>
            </a:p>
          </p:txBody>
        </p:sp>
      </p:grpSp>
      <p:sp>
        <p:nvSpPr>
          <p:cNvPr id="27" name="文本框 26">
            <a:extLst>
              <a:ext uri="{FF2B5EF4-FFF2-40B4-BE49-F238E27FC236}">
                <a16:creationId xmlns:a16="http://schemas.microsoft.com/office/drawing/2014/main" id="{B79D228F-AD81-D76B-2A22-FC3BBD3AF6C6}"/>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6B2D6AC5-7954-9D99-5321-3123E842F909}"/>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D478D8C9-C622-1CC3-6566-480C58A4A5CF}"/>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grpSp>
        <p:nvGrpSpPr>
          <p:cNvPr id="40" name="组合 39">
            <a:extLst>
              <a:ext uri="{FF2B5EF4-FFF2-40B4-BE49-F238E27FC236}">
                <a16:creationId xmlns:a16="http://schemas.microsoft.com/office/drawing/2014/main" id="{5D527164-CD66-C905-DF97-1749FD91822A}"/>
              </a:ext>
            </a:extLst>
          </p:cNvPr>
          <p:cNvGrpSpPr/>
          <p:nvPr/>
        </p:nvGrpSpPr>
        <p:grpSpPr>
          <a:xfrm>
            <a:off x="2854766" y="2385241"/>
            <a:ext cx="8264084" cy="3179215"/>
            <a:chOff x="2741079" y="2041398"/>
            <a:chExt cx="8185716" cy="2323895"/>
          </a:xfrm>
        </p:grpSpPr>
        <p:grpSp>
          <p:nvGrpSpPr>
            <p:cNvPr id="41" name="组合 40">
              <a:extLst>
                <a:ext uri="{FF2B5EF4-FFF2-40B4-BE49-F238E27FC236}">
                  <a16:creationId xmlns:a16="http://schemas.microsoft.com/office/drawing/2014/main" id="{635BC028-C097-2EA9-A556-3CDF49FBDE57}"/>
                </a:ext>
              </a:extLst>
            </p:cNvPr>
            <p:cNvGrpSpPr/>
            <p:nvPr/>
          </p:nvGrpSpPr>
          <p:grpSpPr>
            <a:xfrm>
              <a:off x="2741079" y="2041398"/>
              <a:ext cx="8185716" cy="2323895"/>
              <a:chOff x="2885275" y="2170479"/>
              <a:chExt cx="8185716" cy="1028320"/>
            </a:xfrm>
          </p:grpSpPr>
          <p:sp>
            <p:nvSpPr>
              <p:cNvPr id="43" name="圆角矩形 1">
                <a:extLst>
                  <a:ext uri="{FF2B5EF4-FFF2-40B4-BE49-F238E27FC236}">
                    <a16:creationId xmlns:a16="http://schemas.microsoft.com/office/drawing/2014/main" id="{11187EE6-1D36-7839-70FE-AD37D58B5F0D}"/>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dirty="0">
                  <a:solidFill>
                    <a:schemeClr val="tx1"/>
                  </a:solidFill>
                </a:endParaRPr>
              </a:p>
            </p:txBody>
          </p:sp>
          <p:sp>
            <p:nvSpPr>
              <p:cNvPr id="44" name="圆角矩形 77">
                <a:extLst>
                  <a:ext uri="{FF2B5EF4-FFF2-40B4-BE49-F238E27FC236}">
                    <a16:creationId xmlns:a16="http://schemas.microsoft.com/office/drawing/2014/main" id="{D6B84E0B-2DB1-68EA-A9CD-E6C506100245}"/>
                  </a:ext>
                </a:extLst>
              </p:cNvPr>
              <p:cNvSpPr/>
              <p:nvPr/>
            </p:nvSpPr>
            <p:spPr>
              <a:xfrm>
                <a:off x="4908879" y="2170479"/>
                <a:ext cx="3910370" cy="2202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t>自动驾驶场景下的全局路径规划</a:t>
                </a:r>
              </a:p>
            </p:txBody>
          </p:sp>
        </p:grpSp>
        <p:sp>
          <p:nvSpPr>
            <p:cNvPr id="42" name="文本框 41">
              <a:extLst>
                <a:ext uri="{FF2B5EF4-FFF2-40B4-BE49-F238E27FC236}">
                  <a16:creationId xmlns:a16="http://schemas.microsoft.com/office/drawing/2014/main" id="{42CABC67-CD2D-F45E-E70C-E560D2078DF7}"/>
                </a:ext>
              </a:extLst>
            </p:cNvPr>
            <p:cNvSpPr txBox="1"/>
            <p:nvPr/>
          </p:nvSpPr>
          <p:spPr>
            <a:xfrm>
              <a:off x="2902732" y="2695692"/>
              <a:ext cx="7912388" cy="1327346"/>
            </a:xfrm>
            <a:prstGeom prst="rect">
              <a:avLst/>
            </a:prstGeom>
            <a:noFill/>
          </p:spPr>
          <p:txBody>
            <a:bodyPr wrap="square" rtlCol="0">
              <a:spAutoFit/>
            </a:bodyPr>
            <a:lstStyle/>
            <a:p>
              <a:r>
                <a:rPr lang="zh-CN" altLang="en-US" sz="1600" dirty="0"/>
                <a:t>这一阶段的原理是“多算法组合 </a:t>
              </a:r>
              <a:r>
                <a:rPr lang="en-US" altLang="zh-CN" sz="1600" dirty="0"/>
                <a:t>+ </a:t>
              </a:r>
              <a:r>
                <a:rPr lang="zh-CN" altLang="en-US" sz="1600" dirty="0"/>
                <a:t>高精地图 </a:t>
              </a:r>
              <a:r>
                <a:rPr lang="en-US" altLang="zh-CN" sz="1600" dirty="0"/>
                <a:t>+ </a:t>
              </a:r>
              <a:r>
                <a:rPr lang="zh-CN" altLang="en-US" sz="1600" dirty="0"/>
                <a:t>与局部规划协同”。自动驾驶的全局路径规划不再只追求数学最短，还要考虑高精地图的车道级拓扑、交通规则、车辆动力学约束和实时交通信息。工程上通常组合使用 </a:t>
              </a:r>
              <a:r>
                <a:rPr lang="en-US" altLang="zh-CN" sz="1600" dirty="0"/>
                <a:t>A*</a:t>
              </a:r>
              <a:r>
                <a:rPr lang="zh-CN" altLang="en-US" sz="1600" dirty="0"/>
                <a:t>、分层搜索、</a:t>
              </a:r>
              <a:r>
                <a:rPr lang="en-US" altLang="zh-CN" sz="1600" dirty="0"/>
                <a:t>CH </a:t>
              </a:r>
              <a:r>
                <a:rPr lang="zh-CN" altLang="en-US" sz="1600" dirty="0"/>
                <a:t>或 </a:t>
              </a:r>
              <a:r>
                <a:rPr lang="en-US" altLang="zh-CN" sz="1600" dirty="0"/>
                <a:t>JPS </a:t>
              </a:r>
              <a:r>
                <a:rPr lang="zh-CN" altLang="en-US" sz="1600" dirty="0"/>
                <a:t>等算法，在高精地图上生成道路级路径，再交给局部轨迹规划器生成短期轨迹。</a:t>
              </a:r>
              <a:r>
                <a:rPr lang="en-US" altLang="zh-CN" sz="1600" dirty="0"/>
                <a:t>2005 </a:t>
              </a:r>
              <a:r>
                <a:rPr lang="zh-CN" altLang="en-US" sz="1600" dirty="0"/>
                <a:t>年 </a:t>
              </a:r>
              <a:r>
                <a:rPr lang="en-US" altLang="zh-CN" sz="1600" dirty="0"/>
                <a:t>DARPA Grand Challenge </a:t>
              </a:r>
              <a:r>
                <a:rPr lang="zh-CN" altLang="en-US" sz="1600" dirty="0"/>
                <a:t>的 </a:t>
              </a:r>
              <a:r>
                <a:rPr lang="en-US" altLang="zh-CN" sz="1600" dirty="0"/>
                <a:t>Stanley </a:t>
              </a:r>
              <a:r>
                <a:rPr lang="zh-CN" altLang="en-US" sz="1600" dirty="0"/>
                <a:t>和 </a:t>
              </a:r>
              <a:r>
                <a:rPr lang="en-US" altLang="zh-CN" sz="1600" dirty="0"/>
                <a:t>2007 </a:t>
              </a:r>
              <a:r>
                <a:rPr lang="zh-CN" altLang="en-US" sz="1600" dirty="0"/>
                <a:t>年 </a:t>
              </a:r>
              <a:r>
                <a:rPr lang="en-US" altLang="zh-CN" sz="1600" dirty="0"/>
                <a:t>Urban Challenge </a:t>
              </a:r>
              <a:r>
                <a:rPr lang="zh-CN" altLang="en-US" sz="1600" dirty="0"/>
                <a:t>验证了这些算法在真实环境中的可行性；百度 </a:t>
              </a:r>
              <a:r>
                <a:rPr lang="en-US" altLang="zh-CN" sz="1600" dirty="0"/>
                <a:t>Apollo </a:t>
              </a:r>
              <a:r>
                <a:rPr lang="zh-CN" altLang="en-US" sz="1600" dirty="0"/>
                <a:t>的 </a:t>
              </a:r>
              <a:r>
                <a:rPr lang="en-US" altLang="zh-CN" sz="1600" dirty="0"/>
                <a:t>Open Planner-Global </a:t>
              </a:r>
              <a:r>
                <a:rPr lang="zh-CN" altLang="en-US" sz="1600" dirty="0"/>
                <a:t>模块则把全局路径规划工程化，为 </a:t>
              </a:r>
              <a:r>
                <a:rPr lang="en-US" altLang="zh-CN" sz="1600" dirty="0"/>
                <a:t>L4 </a:t>
              </a:r>
              <a:r>
                <a:rPr lang="zh-CN" altLang="en-US" sz="1600" dirty="0"/>
                <a:t>级自动驾驶提供稳定参考。</a:t>
              </a:r>
              <a:endParaRPr lang="zh-CN" altLang="en-US" dirty="0"/>
            </a:p>
          </p:txBody>
        </p:sp>
      </p:grpSp>
    </p:spTree>
    <p:extLst>
      <p:ext uri="{BB962C8B-B14F-4D97-AF65-F5344CB8AC3E}">
        <p14:creationId xmlns:p14="http://schemas.microsoft.com/office/powerpoint/2010/main" val="647739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41284-B97D-7C57-ABA7-41B08A262238}"/>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CA04F790-4884-CC48-3CCA-BED0C98BC6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95E307AB-273F-E661-52E7-C154AF907258}"/>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F08D0631-CC28-86A6-F04B-2D99C77EB46B}"/>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13E57A15-472A-E38E-A98C-7B99EEA32951}"/>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5A63F49-5CC8-46C4-5E23-71F5E177280F}"/>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规划模块技术路线演进脉络</a:t>
            </a:r>
          </a:p>
        </p:txBody>
      </p:sp>
      <p:sp>
        <p:nvSpPr>
          <p:cNvPr id="8" name="文本框 7">
            <a:extLst>
              <a:ext uri="{FF2B5EF4-FFF2-40B4-BE49-F238E27FC236}">
                <a16:creationId xmlns:a16="http://schemas.microsoft.com/office/drawing/2014/main" id="{62EE108C-564D-FAF7-F7D2-8B9B9272586F}"/>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0127E78A-053B-6C7C-7397-59CF2E83D0E6}"/>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3784CE62-8165-0447-6464-38ADB7B31540}"/>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局部轨迹规划</a:t>
            </a:r>
          </a:p>
        </p:txBody>
      </p:sp>
      <p:sp>
        <p:nvSpPr>
          <p:cNvPr id="29" name="椭圆 28">
            <a:extLst>
              <a:ext uri="{FF2B5EF4-FFF2-40B4-BE49-F238E27FC236}">
                <a16:creationId xmlns:a16="http://schemas.microsoft.com/office/drawing/2014/main" id="{181AFE30-0C9B-8AEF-4234-678A1F17D946}"/>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1913D0A4-B78A-46DA-A543-ED0EE75C6F05}"/>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39</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EB4CCB64-0C42-948C-FDE8-7004E771DA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B22E407F-500B-87AA-6A3D-D1D642008BDC}"/>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E697EC96-0718-3496-17C6-B087C277D63B}"/>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0AE7B617-A9E5-0170-5C11-A020E4C39CD2}"/>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A01A8FE7-04F3-B354-76F5-2A3531AC9C4C}"/>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9B2D41B6-AF6C-73E5-FDC5-ED58165A9B4E}"/>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46E7761E-55CA-4615-8D4D-4ADB94ABD676}"/>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A48EC66C-8747-CFC8-3AE5-9B9FE2FCC25A}"/>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1275DC74-E989-F1C7-5F8F-8AAA09138FBC}"/>
              </a:ext>
            </a:extLst>
          </p:cNvPr>
          <p:cNvGrpSpPr/>
          <p:nvPr/>
        </p:nvGrpSpPr>
        <p:grpSpPr>
          <a:xfrm>
            <a:off x="0" y="4058527"/>
            <a:ext cx="1433384" cy="646332"/>
            <a:chOff x="0" y="4058527"/>
            <a:chExt cx="1433384" cy="646332"/>
          </a:xfrm>
        </p:grpSpPr>
        <p:sp>
          <p:nvSpPr>
            <p:cNvPr id="33" name="矩形 32">
              <a:extLst>
                <a:ext uri="{FF2B5EF4-FFF2-40B4-BE49-F238E27FC236}">
                  <a16:creationId xmlns:a16="http://schemas.microsoft.com/office/drawing/2014/main" id="{5DE49B13-513D-A602-419E-C98FF2B5509B}"/>
                </a:ext>
              </a:extLst>
            </p:cNvPr>
            <p:cNvSpPr/>
            <p:nvPr/>
          </p:nvSpPr>
          <p:spPr>
            <a:xfrm>
              <a:off x="0" y="40585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4C7049D9-B402-4B36-64F2-DB851234B3BC}"/>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规划模块技术路线演进脉络</a:t>
              </a:r>
              <a:endParaRPr lang="zh-CN" altLang="en-US" sz="1200" dirty="0"/>
            </a:p>
          </p:txBody>
        </p:sp>
      </p:grpSp>
      <p:sp>
        <p:nvSpPr>
          <p:cNvPr id="27" name="文本框 26">
            <a:extLst>
              <a:ext uri="{FF2B5EF4-FFF2-40B4-BE49-F238E27FC236}">
                <a16:creationId xmlns:a16="http://schemas.microsoft.com/office/drawing/2014/main" id="{499E871B-4582-D863-E16B-DAA7F345916B}"/>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08CBA843-26FF-B17B-A2C5-BB907867E461}"/>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CD6F533C-67C5-9E31-742D-69151ABE4E9F}"/>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4" name="文本框 3">
            <a:extLst>
              <a:ext uri="{FF2B5EF4-FFF2-40B4-BE49-F238E27FC236}">
                <a16:creationId xmlns:a16="http://schemas.microsoft.com/office/drawing/2014/main" id="{E09CDE8E-BE0D-3D05-B26C-5823D3DC7CE7}"/>
              </a:ext>
            </a:extLst>
          </p:cNvPr>
          <p:cNvSpPr txBox="1"/>
          <p:nvPr/>
        </p:nvSpPr>
        <p:spPr>
          <a:xfrm>
            <a:off x="2724150" y="2128971"/>
            <a:ext cx="7753350" cy="369332"/>
          </a:xfrm>
          <a:prstGeom prst="rect">
            <a:avLst/>
          </a:prstGeom>
          <a:noFill/>
        </p:spPr>
        <p:txBody>
          <a:bodyPr wrap="square">
            <a:spAutoFit/>
          </a:bodyPr>
          <a:lstStyle/>
          <a:p>
            <a:r>
              <a:rPr lang="zh-CN" altLang="zh-CN" sz="1800" b="0" i="0" dirty="0">
                <a:solidFill>
                  <a:schemeClr val="tx1"/>
                </a:solidFill>
                <a:effectLst/>
                <a:latin typeface="+mn-lt"/>
              </a:rPr>
              <a:t>在全局路径的基础上生成一条</a:t>
            </a:r>
            <a:r>
              <a:rPr lang="zh-CN" altLang="zh-CN" sz="1800" b="1" i="0" dirty="0">
                <a:solidFill>
                  <a:schemeClr val="tx1"/>
                </a:solidFill>
                <a:effectLst/>
                <a:latin typeface="+mn-lt"/>
              </a:rPr>
              <a:t>短期轨迹</a:t>
            </a:r>
            <a:r>
              <a:rPr lang="zh-CN" altLang="zh-CN" sz="1800" b="0" i="0" dirty="0">
                <a:solidFill>
                  <a:schemeClr val="tx1"/>
                </a:solidFill>
                <a:effectLst/>
                <a:latin typeface="+mn-lt"/>
              </a:rPr>
              <a:t>，直接交给底层控制器跟踪。</a:t>
            </a:r>
            <a:endParaRPr lang="zh-CN" altLang="en-US" dirty="0"/>
          </a:p>
        </p:txBody>
      </p:sp>
      <p:grpSp>
        <p:nvGrpSpPr>
          <p:cNvPr id="5" name="组合 4">
            <a:extLst>
              <a:ext uri="{FF2B5EF4-FFF2-40B4-BE49-F238E27FC236}">
                <a16:creationId xmlns:a16="http://schemas.microsoft.com/office/drawing/2014/main" id="{A07CA312-979A-26BF-872D-4D9291D91D1B}"/>
              </a:ext>
            </a:extLst>
          </p:cNvPr>
          <p:cNvGrpSpPr/>
          <p:nvPr/>
        </p:nvGrpSpPr>
        <p:grpSpPr>
          <a:xfrm>
            <a:off x="2741079" y="2835773"/>
            <a:ext cx="6993471" cy="1350562"/>
            <a:chOff x="2741079" y="2037410"/>
            <a:chExt cx="8185716" cy="2327884"/>
          </a:xfrm>
        </p:grpSpPr>
        <p:grpSp>
          <p:nvGrpSpPr>
            <p:cNvPr id="6" name="组合 5">
              <a:extLst>
                <a:ext uri="{FF2B5EF4-FFF2-40B4-BE49-F238E27FC236}">
                  <a16:creationId xmlns:a16="http://schemas.microsoft.com/office/drawing/2014/main" id="{550E2841-5775-C8BD-AB01-B6CF4B4B6511}"/>
                </a:ext>
              </a:extLst>
            </p:cNvPr>
            <p:cNvGrpSpPr/>
            <p:nvPr/>
          </p:nvGrpSpPr>
          <p:grpSpPr>
            <a:xfrm>
              <a:off x="2741079" y="2037410"/>
              <a:ext cx="8185716" cy="2327884"/>
              <a:chOff x="2885275" y="2168714"/>
              <a:chExt cx="8185716" cy="1030085"/>
            </a:xfrm>
          </p:grpSpPr>
          <p:sp>
            <p:nvSpPr>
              <p:cNvPr id="12" name="圆角矩形 1">
                <a:extLst>
                  <a:ext uri="{FF2B5EF4-FFF2-40B4-BE49-F238E27FC236}">
                    <a16:creationId xmlns:a16="http://schemas.microsoft.com/office/drawing/2014/main" id="{D4C02401-6668-C196-1059-62405771A67C}"/>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200" dirty="0">
                  <a:solidFill>
                    <a:schemeClr val="tx1"/>
                  </a:solidFill>
                </a:endParaRPr>
              </a:p>
            </p:txBody>
          </p:sp>
          <p:sp>
            <p:nvSpPr>
              <p:cNvPr id="13" name="圆角矩形 77">
                <a:extLst>
                  <a:ext uri="{FF2B5EF4-FFF2-40B4-BE49-F238E27FC236}">
                    <a16:creationId xmlns:a16="http://schemas.microsoft.com/office/drawing/2014/main" id="{E35993DC-2163-85CA-DCAD-6486ED974089}"/>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dirty="0"/>
                  <a:t>经典最优控制与状态网格</a:t>
                </a:r>
                <a:r>
                  <a:rPr lang="en-US" altLang="zh-CN" sz="1200" b="1" dirty="0"/>
                  <a:t>/</a:t>
                </a:r>
                <a:r>
                  <a:rPr lang="zh-CN" altLang="en-US" sz="1200" b="1" dirty="0"/>
                  <a:t>基元生成</a:t>
                </a:r>
              </a:p>
            </p:txBody>
          </p:sp>
        </p:grpSp>
        <p:sp>
          <p:nvSpPr>
            <p:cNvPr id="10" name="文本框 9">
              <a:extLst>
                <a:ext uri="{FF2B5EF4-FFF2-40B4-BE49-F238E27FC236}">
                  <a16:creationId xmlns:a16="http://schemas.microsoft.com/office/drawing/2014/main" id="{9C5B3D14-1C5D-1BC1-E7F5-F3F9383F4E43}"/>
                </a:ext>
              </a:extLst>
            </p:cNvPr>
            <p:cNvSpPr txBox="1"/>
            <p:nvPr/>
          </p:nvSpPr>
          <p:spPr>
            <a:xfrm>
              <a:off x="3068997" y="2721568"/>
              <a:ext cx="7529880" cy="1432340"/>
            </a:xfrm>
            <a:prstGeom prst="rect">
              <a:avLst/>
            </a:prstGeom>
            <a:noFill/>
          </p:spPr>
          <p:txBody>
            <a:bodyPr wrap="square" rtlCol="0">
              <a:spAutoFit/>
            </a:bodyPr>
            <a:lstStyle/>
            <a:p>
              <a:r>
                <a:rPr lang="zh-CN" altLang="en-US" sz="1200" dirty="0"/>
                <a:t>把局部轨迹规划建模为最优控制问题，在满足运动学、动力学和避障约束下最小化代价函数。由于没有解析解，工程上分两步：先做状态网格识别（搜索法、选择法、优化法、势场最小化），再做基元生成（闭式规则、仿真法、插值法、优化法）。代表是百度 </a:t>
              </a:r>
              <a:r>
                <a:rPr lang="en-US" altLang="zh-CN" sz="1200" dirty="0"/>
                <a:t>Apollo </a:t>
              </a:r>
              <a:r>
                <a:rPr lang="zh-CN" altLang="en-US" sz="1200" dirty="0"/>
                <a:t>的 </a:t>
              </a:r>
              <a:r>
                <a:rPr lang="en-US" altLang="zh-CN" sz="1200" dirty="0"/>
                <a:t>EM Motion Planner</a:t>
              </a:r>
              <a:r>
                <a:rPr lang="zh-CN" altLang="en-US" sz="1200" dirty="0"/>
                <a:t>。优点是每一步可追溯，缺点是手工设计代价函数，泛化差。</a:t>
              </a:r>
            </a:p>
          </p:txBody>
        </p:sp>
      </p:grpSp>
      <p:grpSp>
        <p:nvGrpSpPr>
          <p:cNvPr id="15" name="组合 14">
            <a:extLst>
              <a:ext uri="{FF2B5EF4-FFF2-40B4-BE49-F238E27FC236}">
                <a16:creationId xmlns:a16="http://schemas.microsoft.com/office/drawing/2014/main" id="{8ADDD05A-32CC-54D2-46D0-47D8461A58AE}"/>
              </a:ext>
            </a:extLst>
          </p:cNvPr>
          <p:cNvGrpSpPr/>
          <p:nvPr/>
        </p:nvGrpSpPr>
        <p:grpSpPr>
          <a:xfrm>
            <a:off x="2779590" y="4704858"/>
            <a:ext cx="6954960" cy="1368247"/>
            <a:chOff x="2741079" y="2037410"/>
            <a:chExt cx="8185716" cy="2327884"/>
          </a:xfrm>
        </p:grpSpPr>
        <p:grpSp>
          <p:nvGrpSpPr>
            <p:cNvPr id="17" name="组合 16">
              <a:extLst>
                <a:ext uri="{FF2B5EF4-FFF2-40B4-BE49-F238E27FC236}">
                  <a16:creationId xmlns:a16="http://schemas.microsoft.com/office/drawing/2014/main" id="{1196CF26-F6CA-36BE-F723-9E14CAE4A687}"/>
                </a:ext>
              </a:extLst>
            </p:cNvPr>
            <p:cNvGrpSpPr/>
            <p:nvPr/>
          </p:nvGrpSpPr>
          <p:grpSpPr>
            <a:xfrm>
              <a:off x="2741079" y="2037410"/>
              <a:ext cx="8185716" cy="2327884"/>
              <a:chOff x="2885275" y="2168714"/>
              <a:chExt cx="8185716" cy="1030085"/>
            </a:xfrm>
          </p:grpSpPr>
          <p:sp>
            <p:nvSpPr>
              <p:cNvPr id="34" name="圆角矩形 1">
                <a:extLst>
                  <a:ext uri="{FF2B5EF4-FFF2-40B4-BE49-F238E27FC236}">
                    <a16:creationId xmlns:a16="http://schemas.microsoft.com/office/drawing/2014/main" id="{62AF54C0-93CE-2645-62D0-113AB2132873}"/>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200" dirty="0">
                  <a:solidFill>
                    <a:schemeClr val="tx1"/>
                  </a:solidFill>
                </a:endParaRPr>
              </a:p>
            </p:txBody>
          </p:sp>
          <p:sp>
            <p:nvSpPr>
              <p:cNvPr id="35" name="圆角矩形 77">
                <a:extLst>
                  <a:ext uri="{FF2B5EF4-FFF2-40B4-BE49-F238E27FC236}">
                    <a16:creationId xmlns:a16="http://schemas.microsoft.com/office/drawing/2014/main" id="{443A8C0C-2E54-D0FE-FFAB-F66ABFF98676}"/>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dirty="0"/>
                  <a:t>学习驱动的模块化规划</a:t>
                </a:r>
              </a:p>
            </p:txBody>
          </p:sp>
        </p:grpSp>
        <p:sp>
          <p:nvSpPr>
            <p:cNvPr id="24" name="文本框 23">
              <a:extLst>
                <a:ext uri="{FF2B5EF4-FFF2-40B4-BE49-F238E27FC236}">
                  <a16:creationId xmlns:a16="http://schemas.microsoft.com/office/drawing/2014/main" id="{A8487BE9-3E91-005D-8617-98DB0854F521}"/>
                </a:ext>
              </a:extLst>
            </p:cNvPr>
            <p:cNvSpPr txBox="1"/>
            <p:nvPr/>
          </p:nvSpPr>
          <p:spPr>
            <a:xfrm>
              <a:off x="3068997" y="2721567"/>
              <a:ext cx="7529880" cy="1413827"/>
            </a:xfrm>
            <a:prstGeom prst="rect">
              <a:avLst/>
            </a:prstGeom>
            <a:noFill/>
          </p:spPr>
          <p:txBody>
            <a:bodyPr wrap="square" rtlCol="0">
              <a:spAutoFit/>
            </a:bodyPr>
            <a:lstStyle/>
            <a:p>
              <a:r>
                <a:rPr lang="zh-CN" altLang="en-US" sz="1200" dirty="0"/>
                <a:t>用神经网络替代或增强部分功能。轨迹预测从卡尔曼滤波升级为 </a:t>
              </a:r>
              <a:r>
                <a:rPr lang="en-US" altLang="zh-CN" sz="1200" dirty="0"/>
                <a:t>CNN/RNN</a:t>
              </a:r>
              <a:r>
                <a:rPr lang="zh-CN" altLang="en-US" sz="1200" dirty="0"/>
                <a:t>，决策从有限状态机转向策略网络。模仿学习从人类驾驶数据学行为先验，强化学习通过试错优化长期回报。端到端方法尝试从传感器原始数据直接输出轨迹，但多数仍在仿真中训练。核心瓶颈是预测和规划仍解耦，无法建模交互场景中的双向耦合。</a:t>
              </a:r>
            </a:p>
          </p:txBody>
        </p:sp>
      </p:grpSp>
    </p:spTree>
    <p:extLst>
      <p:ext uri="{BB962C8B-B14F-4D97-AF65-F5344CB8AC3E}">
        <p14:creationId xmlns:p14="http://schemas.microsoft.com/office/powerpoint/2010/main" val="560061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5A25D-1CC8-2834-C0BD-0A153FBF48EC}"/>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ACEEA357-60FB-1596-0E96-1DFC44BF82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23D0557D-292D-8470-8660-ABEA86708206}"/>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B9A2A809-F319-FC41-9C75-555AFE6E233A}"/>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5392B37B-4CCA-2B0E-468D-520BE57BA91B}"/>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E12118E-F345-63CD-2B6F-9DA891262F97}"/>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规划模块技术路线演进脉络</a:t>
            </a:r>
          </a:p>
        </p:txBody>
      </p:sp>
      <p:sp>
        <p:nvSpPr>
          <p:cNvPr id="8" name="文本框 7">
            <a:extLst>
              <a:ext uri="{FF2B5EF4-FFF2-40B4-BE49-F238E27FC236}">
                <a16:creationId xmlns:a16="http://schemas.microsoft.com/office/drawing/2014/main" id="{9C8485B4-6526-BB94-F44B-8B470BFFEF48}"/>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A371BBAF-7281-B120-4BFE-1CF577302644}"/>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3" name="文本框 2">
            <a:extLst>
              <a:ext uri="{FF2B5EF4-FFF2-40B4-BE49-F238E27FC236}">
                <a16:creationId xmlns:a16="http://schemas.microsoft.com/office/drawing/2014/main" id="{BF96E2CF-1899-7B2B-0F87-BF79B9429CD1}"/>
              </a:ext>
            </a:extLst>
          </p:cNvPr>
          <p:cNvSpPr txBox="1"/>
          <p:nvPr/>
        </p:nvSpPr>
        <p:spPr>
          <a:xfrm>
            <a:off x="2311088" y="1293543"/>
            <a:ext cx="9134818" cy="497957"/>
          </a:xfrm>
          <a:prstGeom prst="rect">
            <a:avLst/>
          </a:prstGeom>
          <a:noFill/>
        </p:spPr>
        <p:txBody>
          <a:bodyPr wrap="square">
            <a:spAutoFit/>
          </a:bodyPr>
          <a:lstStyle/>
          <a:p>
            <a:pPr>
              <a:lnSpc>
                <a:spcPct val="120000"/>
              </a:lnSpc>
            </a:pPr>
            <a:r>
              <a:rPr kumimoji="1" lang="en-GB" altLang="zh-CN"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(2)</a:t>
            </a:r>
            <a:r>
              <a:rPr kumimoji="1" lang="zh-CN" altLang="en-US" sz="2400" b="1" spc="120"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局部轨迹规划</a:t>
            </a:r>
          </a:p>
        </p:txBody>
      </p:sp>
      <p:sp>
        <p:nvSpPr>
          <p:cNvPr id="29" name="椭圆 28">
            <a:extLst>
              <a:ext uri="{FF2B5EF4-FFF2-40B4-BE49-F238E27FC236}">
                <a16:creationId xmlns:a16="http://schemas.microsoft.com/office/drawing/2014/main" id="{5C431144-9333-4D2A-625E-CED3A16ED646}"/>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2620F64E-2AC7-5134-7E0E-724699C19764}"/>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40</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E325CF5C-3B0E-1E17-A5AB-B5C1C676D5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64AE3923-F4BB-A1D1-D417-FC91999C4931}"/>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FE5B6CB8-11B9-A8D9-28F8-A19D0288DCEB}"/>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DD816C9B-D747-D8CF-DF28-13F4B437D7D5}"/>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6A13F788-F91C-3187-1768-F8852A10353D}"/>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13D181A9-CD19-5645-3D9D-2B272B9959C6}"/>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FB17838F-CBF1-1856-0C88-0D958032DA58}"/>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C90C2028-54AE-4728-368A-1224CCBC49B8}"/>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9ABE58D1-FFE5-C7A2-7C77-6BB3964019D9}"/>
              </a:ext>
            </a:extLst>
          </p:cNvPr>
          <p:cNvGrpSpPr/>
          <p:nvPr/>
        </p:nvGrpSpPr>
        <p:grpSpPr>
          <a:xfrm>
            <a:off x="0" y="4058527"/>
            <a:ext cx="1433384" cy="646332"/>
            <a:chOff x="0" y="4058527"/>
            <a:chExt cx="1433384" cy="646332"/>
          </a:xfrm>
        </p:grpSpPr>
        <p:sp>
          <p:nvSpPr>
            <p:cNvPr id="33" name="矩形 32">
              <a:extLst>
                <a:ext uri="{FF2B5EF4-FFF2-40B4-BE49-F238E27FC236}">
                  <a16:creationId xmlns:a16="http://schemas.microsoft.com/office/drawing/2014/main" id="{B8CE8B29-90F6-DE77-282D-7962B842E303}"/>
                </a:ext>
              </a:extLst>
            </p:cNvPr>
            <p:cNvSpPr/>
            <p:nvPr/>
          </p:nvSpPr>
          <p:spPr>
            <a:xfrm>
              <a:off x="0" y="4058527"/>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2D5FE6CE-839B-E7D1-55C5-3F81DD8113D8}"/>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规划模块技术路线演进脉络</a:t>
              </a:r>
              <a:endParaRPr lang="zh-CN" altLang="en-US" sz="1200" dirty="0"/>
            </a:p>
          </p:txBody>
        </p:sp>
      </p:grpSp>
      <p:sp>
        <p:nvSpPr>
          <p:cNvPr id="27" name="文本框 26">
            <a:extLst>
              <a:ext uri="{FF2B5EF4-FFF2-40B4-BE49-F238E27FC236}">
                <a16:creationId xmlns:a16="http://schemas.microsoft.com/office/drawing/2014/main" id="{4203C025-54CF-2B3A-00CB-531C209618A5}"/>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CF942C56-EBD3-DBAC-1F45-28F0FE3A6F24}"/>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182C25D7-B163-9516-5F65-0F63DFED18FE}"/>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4" name="文本框 3">
            <a:extLst>
              <a:ext uri="{FF2B5EF4-FFF2-40B4-BE49-F238E27FC236}">
                <a16:creationId xmlns:a16="http://schemas.microsoft.com/office/drawing/2014/main" id="{F26E5AF8-4B40-D863-27A4-08C80A796949}"/>
              </a:ext>
            </a:extLst>
          </p:cNvPr>
          <p:cNvSpPr txBox="1"/>
          <p:nvPr/>
        </p:nvSpPr>
        <p:spPr>
          <a:xfrm>
            <a:off x="2724150" y="2128971"/>
            <a:ext cx="7753350" cy="369332"/>
          </a:xfrm>
          <a:prstGeom prst="rect">
            <a:avLst/>
          </a:prstGeom>
          <a:noFill/>
        </p:spPr>
        <p:txBody>
          <a:bodyPr wrap="square">
            <a:spAutoFit/>
          </a:bodyPr>
          <a:lstStyle/>
          <a:p>
            <a:r>
              <a:rPr lang="zh-CN" altLang="zh-CN" sz="1800" b="0" i="0" dirty="0">
                <a:solidFill>
                  <a:schemeClr val="tx1"/>
                </a:solidFill>
                <a:effectLst/>
                <a:latin typeface="+mn-lt"/>
              </a:rPr>
              <a:t>在全局路径的基础上生成一条</a:t>
            </a:r>
            <a:r>
              <a:rPr lang="zh-CN" altLang="zh-CN" sz="1800" b="1" i="0" dirty="0">
                <a:solidFill>
                  <a:schemeClr val="tx1"/>
                </a:solidFill>
                <a:effectLst/>
                <a:latin typeface="+mn-lt"/>
              </a:rPr>
              <a:t>短期轨迹</a:t>
            </a:r>
            <a:r>
              <a:rPr lang="zh-CN" altLang="zh-CN" sz="1800" b="0" i="0" dirty="0">
                <a:solidFill>
                  <a:schemeClr val="tx1"/>
                </a:solidFill>
                <a:effectLst/>
                <a:latin typeface="+mn-lt"/>
              </a:rPr>
              <a:t>，直接交给底层控制器跟踪。</a:t>
            </a:r>
            <a:endParaRPr lang="zh-CN" altLang="en-US" dirty="0"/>
          </a:p>
        </p:txBody>
      </p:sp>
      <p:grpSp>
        <p:nvGrpSpPr>
          <p:cNvPr id="5" name="组合 4">
            <a:extLst>
              <a:ext uri="{FF2B5EF4-FFF2-40B4-BE49-F238E27FC236}">
                <a16:creationId xmlns:a16="http://schemas.microsoft.com/office/drawing/2014/main" id="{8F719030-E9B6-90A0-6393-2582E719E9C3}"/>
              </a:ext>
            </a:extLst>
          </p:cNvPr>
          <p:cNvGrpSpPr/>
          <p:nvPr/>
        </p:nvGrpSpPr>
        <p:grpSpPr>
          <a:xfrm>
            <a:off x="2741079" y="2835773"/>
            <a:ext cx="6993471" cy="1350562"/>
            <a:chOff x="2741079" y="2037410"/>
            <a:chExt cx="8185716" cy="2327884"/>
          </a:xfrm>
        </p:grpSpPr>
        <p:grpSp>
          <p:nvGrpSpPr>
            <p:cNvPr id="6" name="组合 5">
              <a:extLst>
                <a:ext uri="{FF2B5EF4-FFF2-40B4-BE49-F238E27FC236}">
                  <a16:creationId xmlns:a16="http://schemas.microsoft.com/office/drawing/2014/main" id="{C2B2623B-B5A7-837B-0322-D14996C2E111}"/>
                </a:ext>
              </a:extLst>
            </p:cNvPr>
            <p:cNvGrpSpPr/>
            <p:nvPr/>
          </p:nvGrpSpPr>
          <p:grpSpPr>
            <a:xfrm>
              <a:off x="2741079" y="2037410"/>
              <a:ext cx="8185716" cy="2327884"/>
              <a:chOff x="2885275" y="2168714"/>
              <a:chExt cx="8185716" cy="1030085"/>
            </a:xfrm>
          </p:grpSpPr>
          <p:sp>
            <p:nvSpPr>
              <p:cNvPr id="12" name="圆角矩形 1">
                <a:extLst>
                  <a:ext uri="{FF2B5EF4-FFF2-40B4-BE49-F238E27FC236}">
                    <a16:creationId xmlns:a16="http://schemas.microsoft.com/office/drawing/2014/main" id="{6C5DAA4D-F0E2-0AFD-9476-D55E69075751}"/>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200" dirty="0">
                  <a:solidFill>
                    <a:schemeClr val="tx1"/>
                  </a:solidFill>
                </a:endParaRPr>
              </a:p>
            </p:txBody>
          </p:sp>
          <p:sp>
            <p:nvSpPr>
              <p:cNvPr id="13" name="圆角矩形 77">
                <a:extLst>
                  <a:ext uri="{FF2B5EF4-FFF2-40B4-BE49-F238E27FC236}">
                    <a16:creationId xmlns:a16="http://schemas.microsoft.com/office/drawing/2014/main" id="{8142371B-3F13-2C0C-56C2-9B4E0811CFFC}"/>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dirty="0"/>
                  <a:t>联合预测与规划</a:t>
                </a:r>
              </a:p>
            </p:txBody>
          </p:sp>
        </p:grpSp>
        <p:sp>
          <p:nvSpPr>
            <p:cNvPr id="10" name="文本框 9">
              <a:extLst>
                <a:ext uri="{FF2B5EF4-FFF2-40B4-BE49-F238E27FC236}">
                  <a16:creationId xmlns:a16="http://schemas.microsoft.com/office/drawing/2014/main" id="{FB8280C6-D7A3-D689-85BF-E0D24E3E6F67}"/>
                </a:ext>
              </a:extLst>
            </p:cNvPr>
            <p:cNvSpPr txBox="1"/>
            <p:nvPr/>
          </p:nvSpPr>
          <p:spPr>
            <a:xfrm>
              <a:off x="3068997" y="2721568"/>
              <a:ext cx="7529880" cy="1432340"/>
            </a:xfrm>
            <a:prstGeom prst="rect">
              <a:avLst/>
            </a:prstGeom>
            <a:noFill/>
          </p:spPr>
          <p:txBody>
            <a:bodyPr wrap="square" rtlCol="0">
              <a:spAutoFit/>
            </a:bodyPr>
            <a:lstStyle/>
            <a:p>
              <a:r>
                <a:rPr lang="zh-CN" altLang="en-US" sz="1200" dirty="0"/>
                <a:t>让预测和规划共享场景编码器和注意力机制，在同一个网络中协同优化。代表是 </a:t>
              </a:r>
              <a:r>
                <a:rPr lang="en-US" altLang="zh-CN" sz="1200" dirty="0"/>
                <a:t>DTPP </a:t>
              </a:r>
              <a:r>
                <a:rPr lang="zh-CN" altLang="en-US" sz="1200" dirty="0"/>
                <a:t>和 </a:t>
              </a:r>
              <a:r>
                <a:rPr lang="en-US" altLang="zh-CN" sz="1200" dirty="0" err="1"/>
                <a:t>GameFormer</a:t>
              </a:r>
              <a:r>
                <a:rPr lang="zh-CN" altLang="en-US" sz="1200" dirty="0"/>
                <a:t>，用博弈论建模自车与他车交互。关键是规划损失反向传播到预测模块，促使预测学习“对规划有用的特征”。标志性事件是 </a:t>
              </a:r>
              <a:r>
                <a:rPr lang="en-US" altLang="zh-CN" sz="1200" dirty="0" err="1"/>
                <a:t>UniAD</a:t>
              </a:r>
              <a:r>
                <a:rPr lang="zh-CN" altLang="en-US" sz="1200" dirty="0"/>
                <a:t>（</a:t>
              </a:r>
              <a:r>
                <a:rPr lang="en-US" altLang="zh-CN" sz="1200" dirty="0"/>
                <a:t>2023</a:t>
              </a:r>
              <a:r>
                <a:rPr lang="zh-CN" altLang="en-US" sz="1200" dirty="0"/>
                <a:t>），把检测、跟踪、建图、预测、占据预测和规划整合到一个 </a:t>
              </a:r>
              <a:r>
                <a:rPr lang="en-US" altLang="zh-CN" sz="1200" dirty="0"/>
                <a:t>Transformer </a:t>
              </a:r>
              <a:r>
                <a:rPr lang="zh-CN" altLang="en-US" sz="1200" dirty="0"/>
                <a:t>网络中。瓶颈是训练不稳定，安全验证难。</a:t>
              </a:r>
            </a:p>
          </p:txBody>
        </p:sp>
      </p:grpSp>
      <p:grpSp>
        <p:nvGrpSpPr>
          <p:cNvPr id="15" name="组合 14">
            <a:extLst>
              <a:ext uri="{FF2B5EF4-FFF2-40B4-BE49-F238E27FC236}">
                <a16:creationId xmlns:a16="http://schemas.microsoft.com/office/drawing/2014/main" id="{74806656-E8C1-3CA5-DFFF-9CC095ACE9B3}"/>
              </a:ext>
            </a:extLst>
          </p:cNvPr>
          <p:cNvGrpSpPr/>
          <p:nvPr/>
        </p:nvGrpSpPr>
        <p:grpSpPr>
          <a:xfrm>
            <a:off x="2779590" y="4704858"/>
            <a:ext cx="6954960" cy="1417786"/>
            <a:chOff x="2741079" y="2037410"/>
            <a:chExt cx="8185716" cy="2412168"/>
          </a:xfrm>
        </p:grpSpPr>
        <p:grpSp>
          <p:nvGrpSpPr>
            <p:cNvPr id="17" name="组合 16">
              <a:extLst>
                <a:ext uri="{FF2B5EF4-FFF2-40B4-BE49-F238E27FC236}">
                  <a16:creationId xmlns:a16="http://schemas.microsoft.com/office/drawing/2014/main" id="{B04868B6-BD6F-76EC-BAB2-A471F907AF7C}"/>
                </a:ext>
              </a:extLst>
            </p:cNvPr>
            <p:cNvGrpSpPr/>
            <p:nvPr/>
          </p:nvGrpSpPr>
          <p:grpSpPr>
            <a:xfrm>
              <a:off x="2741079" y="2037410"/>
              <a:ext cx="8185716" cy="2327884"/>
              <a:chOff x="2885275" y="2168714"/>
              <a:chExt cx="8185716" cy="1030085"/>
            </a:xfrm>
          </p:grpSpPr>
          <p:sp>
            <p:nvSpPr>
              <p:cNvPr id="34" name="圆角矩形 1">
                <a:extLst>
                  <a:ext uri="{FF2B5EF4-FFF2-40B4-BE49-F238E27FC236}">
                    <a16:creationId xmlns:a16="http://schemas.microsoft.com/office/drawing/2014/main" id="{A495FB90-FBA2-4443-5DFB-D3696EB8CF3F}"/>
                  </a:ext>
                </a:extLst>
              </p:cNvPr>
              <p:cNvSpPr/>
              <p:nvPr/>
            </p:nvSpPr>
            <p:spPr>
              <a:xfrm>
                <a:off x="2885275" y="2280601"/>
                <a:ext cx="8185716" cy="918198"/>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200" dirty="0">
                  <a:solidFill>
                    <a:schemeClr val="tx1"/>
                  </a:solidFill>
                </a:endParaRPr>
              </a:p>
            </p:txBody>
          </p:sp>
          <p:sp>
            <p:nvSpPr>
              <p:cNvPr id="35" name="圆角矩形 77">
                <a:extLst>
                  <a:ext uri="{FF2B5EF4-FFF2-40B4-BE49-F238E27FC236}">
                    <a16:creationId xmlns:a16="http://schemas.microsoft.com/office/drawing/2014/main" id="{F622CF41-E9FB-A826-7EB7-7CBFB4DB2AFF}"/>
                  </a:ext>
                </a:extLst>
              </p:cNvPr>
              <p:cNvSpPr/>
              <p:nvPr/>
            </p:nvSpPr>
            <p:spPr>
              <a:xfrm>
                <a:off x="4657287" y="2168714"/>
                <a:ext cx="4423125" cy="26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dirty="0"/>
                  <a:t>端到端与大模型驱动</a:t>
                </a:r>
              </a:p>
            </p:txBody>
          </p:sp>
        </p:grpSp>
        <p:sp>
          <p:nvSpPr>
            <p:cNvPr id="24" name="文本框 23">
              <a:extLst>
                <a:ext uri="{FF2B5EF4-FFF2-40B4-BE49-F238E27FC236}">
                  <a16:creationId xmlns:a16="http://schemas.microsoft.com/office/drawing/2014/main" id="{686D27ED-E8C1-DDA4-B962-33F42981ACE3}"/>
                </a:ext>
              </a:extLst>
            </p:cNvPr>
            <p:cNvSpPr txBox="1"/>
            <p:nvPr/>
          </p:nvSpPr>
          <p:spPr>
            <a:xfrm>
              <a:off x="3068997" y="2721567"/>
              <a:ext cx="7529880" cy="1728011"/>
            </a:xfrm>
            <a:prstGeom prst="rect">
              <a:avLst/>
            </a:prstGeom>
            <a:noFill/>
          </p:spPr>
          <p:txBody>
            <a:bodyPr wrap="square" rtlCol="0">
              <a:spAutoFit/>
            </a:bodyPr>
            <a:lstStyle/>
            <a:p>
              <a:r>
                <a:rPr lang="zh-CN" altLang="en-US" sz="1200" dirty="0"/>
                <a:t>从模块化走向端到端，从规则驱动走向数据驱动加知识驱动。代表有 </a:t>
              </a:r>
              <a:r>
                <a:rPr lang="en-US" altLang="zh-CN" sz="1200" dirty="0" err="1"/>
                <a:t>UniAD</a:t>
              </a:r>
              <a:r>
                <a:rPr lang="zh-CN" altLang="en-US" sz="1200" dirty="0"/>
                <a:t>、</a:t>
              </a:r>
              <a:r>
                <a:rPr lang="en-US" altLang="zh-CN" sz="1200" dirty="0"/>
                <a:t>EMMA</a:t>
              </a:r>
              <a:r>
                <a:rPr lang="zh-CN" altLang="en-US" sz="1200" dirty="0"/>
                <a:t>、</a:t>
              </a:r>
              <a:r>
                <a:rPr lang="en-US" altLang="zh-CN" sz="1200" dirty="0" err="1"/>
                <a:t>DriveVLM</a:t>
              </a:r>
              <a:r>
                <a:rPr lang="zh-CN" altLang="en-US" sz="1200" dirty="0"/>
                <a:t>、</a:t>
              </a:r>
              <a:r>
                <a:rPr lang="en-US" altLang="zh-CN" sz="1200" dirty="0"/>
                <a:t>TOKEN</a:t>
              </a:r>
              <a:r>
                <a:rPr lang="zh-CN" altLang="en-US" sz="1200" dirty="0"/>
                <a:t>、</a:t>
              </a:r>
              <a:r>
                <a:rPr lang="en-US" altLang="zh-CN" sz="1200" dirty="0" err="1"/>
                <a:t>OmniDrive</a:t>
              </a:r>
              <a:r>
                <a:rPr lang="zh-CN" altLang="en-US" sz="1200" dirty="0"/>
                <a:t>。</a:t>
              </a:r>
              <a:r>
                <a:rPr lang="en-US" altLang="zh-CN" sz="1200" dirty="0"/>
                <a:t>EMMA </a:t>
              </a:r>
              <a:r>
                <a:rPr lang="zh-CN" altLang="en-US" sz="1200" dirty="0"/>
                <a:t>把相机、</a:t>
              </a:r>
              <a:r>
                <a:rPr lang="en-US" altLang="zh-CN" sz="1200" dirty="0"/>
                <a:t>LiDAR</a:t>
              </a:r>
              <a:r>
                <a:rPr lang="zh-CN" altLang="en-US" sz="1200" dirty="0"/>
                <a:t>、文本统一成 </a:t>
              </a:r>
              <a:r>
                <a:rPr lang="en-US" altLang="zh-CN" sz="1200" dirty="0"/>
                <a:t>token </a:t>
              </a:r>
              <a:r>
                <a:rPr lang="zh-CN" altLang="en-US" sz="1200" dirty="0"/>
                <a:t>直接输出轨迹；</a:t>
              </a:r>
              <a:r>
                <a:rPr lang="en-US" altLang="zh-CN" sz="1200" dirty="0" err="1"/>
                <a:t>DriveVLM</a:t>
              </a:r>
              <a:r>
                <a:rPr lang="en-US" altLang="zh-CN" sz="1200" dirty="0"/>
                <a:t> </a:t>
              </a:r>
              <a:r>
                <a:rPr lang="zh-CN" altLang="en-US" sz="1200" dirty="0"/>
                <a:t>用视觉语言模型输出场景描述和规划建议。量产方面特斯拉 </a:t>
              </a:r>
              <a:r>
                <a:rPr lang="en-US" altLang="zh-CN" sz="1200" dirty="0"/>
                <a:t>FSD V12 </a:t>
              </a:r>
              <a:r>
                <a:rPr lang="zh-CN" altLang="en-US" sz="1200" dirty="0"/>
                <a:t>和文远知行 </a:t>
              </a:r>
              <a:r>
                <a:rPr lang="en-US" altLang="zh-CN" sz="1200" dirty="0"/>
                <a:t>WRD 3.0 </a:t>
              </a:r>
              <a:r>
                <a:rPr lang="zh-CN" altLang="en-US" sz="1200" dirty="0"/>
                <a:t>采用端到端架构。优点是泛化强、语义推理强；瓶颈是算力约束、安全认证和可解释性。</a:t>
              </a:r>
            </a:p>
          </p:txBody>
        </p:sp>
      </p:grpSp>
    </p:spTree>
    <p:extLst>
      <p:ext uri="{BB962C8B-B14F-4D97-AF65-F5344CB8AC3E}">
        <p14:creationId xmlns:p14="http://schemas.microsoft.com/office/powerpoint/2010/main" val="2265968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V="1">
            <a:off x="2043767" y="4422098"/>
            <a:ext cx="8104466" cy="45719"/>
          </a:xfrm>
          <a:prstGeom prst="rect">
            <a:avLst/>
          </a:prstGeom>
          <a:solidFill>
            <a:schemeClr val="accent1">
              <a:alpha val="39918"/>
            </a:schemeClr>
          </a:solidFill>
          <a:ln>
            <a:noFill/>
          </a:ln>
          <a:effectLst>
            <a:outerShdw blurRad="387740" dist="38100" algn="l" rotWithShape="0">
              <a:schemeClr val="accent1">
                <a:lumMod val="75000"/>
                <a:alpha val="14476"/>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nvSpPr>
        <p:spPr>
          <a:xfrm>
            <a:off x="2176267" y="3149211"/>
            <a:ext cx="7839467" cy="769441"/>
          </a:xfrm>
          <a:prstGeom prst="rect">
            <a:avLst/>
          </a:prstGeom>
          <a:noFill/>
        </p:spPr>
        <p:txBody>
          <a:bodyPr wrap="square" rtlCol="0">
            <a:spAutoFit/>
          </a:bodyPr>
          <a:lstStyle/>
          <a:p>
            <a:pPr algn="ctr"/>
            <a:r>
              <a:rPr kumimoji="1" lang="zh-CN" altLang="en-US" sz="4400" b="1" dirty="0">
                <a:solidFill>
                  <a:schemeClr val="accent5">
                    <a:lumMod val="50000"/>
                  </a:schemeClr>
                </a:solidFill>
                <a:latin typeface="方正小标宋简体" panose="02010601030101010101" pitchFamily="2" charset="-122"/>
                <a:ea typeface="方正小标宋简体" panose="02010601030101010101" pitchFamily="2" charset="-122"/>
                <a:cs typeface="Arial" panose="020B0604020202020204" pitchFamily="34" charset="0"/>
              </a:rPr>
              <a:t>当前挑战</a:t>
            </a:r>
          </a:p>
        </p:txBody>
      </p:sp>
      <p:sp>
        <p:nvSpPr>
          <p:cNvPr id="10" name="文本框 9"/>
          <p:cNvSpPr txBox="1"/>
          <p:nvPr/>
        </p:nvSpPr>
        <p:spPr>
          <a:xfrm>
            <a:off x="5033045" y="2128047"/>
            <a:ext cx="2125909" cy="769441"/>
          </a:xfrm>
          <a:prstGeom prst="rect">
            <a:avLst/>
          </a:prstGeom>
          <a:noFill/>
        </p:spPr>
        <p:txBody>
          <a:bodyPr wrap="square" rtlCol="0">
            <a:spAutoFit/>
          </a:bodyPr>
          <a:lstStyle/>
          <a:p>
            <a:pPr algn="ctr"/>
            <a:r>
              <a:rPr kumimoji="1" lang="en-US" altLang="zh-CN" sz="4400" b="1" dirty="0">
                <a:solidFill>
                  <a:schemeClr val="accent5">
                    <a:lumMod val="50000"/>
                  </a:schemeClr>
                </a:solidFill>
                <a:latin typeface="Arial" panose="020B0604020202020204" pitchFamily="34" charset="0"/>
                <a:cs typeface="Arial" panose="020B0604020202020204" pitchFamily="34" charset="0"/>
              </a:rPr>
              <a:t>04</a:t>
            </a:r>
            <a:endParaRPr kumimoji="1" lang="zh-CN" altLang="en-US" sz="4400" b="1" dirty="0">
              <a:solidFill>
                <a:schemeClr val="accent5">
                  <a:lumMod val="50000"/>
                </a:schemeClr>
              </a:solidFill>
              <a:latin typeface="Arial" panose="020B0604020202020204" pitchFamily="34" charset="0"/>
              <a:cs typeface="Arial" panose="020B0604020202020204" pitchFamily="34" charset="0"/>
            </a:endParaRPr>
          </a:p>
        </p:txBody>
      </p:sp>
      <p:sp>
        <p:nvSpPr>
          <p:cNvPr id="2" name="椭圆 1"/>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灯片编号占位符 18"/>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41</a:t>
            </a:fld>
            <a:endParaRPr kumimoji="1" lang="zh-CN" altLang="en-US" dirty="0">
              <a:solidFill>
                <a:schemeClr val="bg1"/>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C06CE-307F-E90A-A803-3DD477488E49}"/>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B31E4DDA-6E87-0A0D-2C25-2ACB9A5FEC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60E92823-0BD6-5020-DA5D-CB87B8E9E057}"/>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973D9210-3D9C-9FAD-4CEA-3F3F912FC711}"/>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F8C82921-E6B4-AB11-4861-B0A959207A85}"/>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F8A7B6D-A5C1-67F1-39D0-197DA20CAE89}"/>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当前挑战</a:t>
            </a:r>
          </a:p>
        </p:txBody>
      </p:sp>
      <p:sp>
        <p:nvSpPr>
          <p:cNvPr id="8" name="文本框 7">
            <a:extLst>
              <a:ext uri="{FF2B5EF4-FFF2-40B4-BE49-F238E27FC236}">
                <a16:creationId xmlns:a16="http://schemas.microsoft.com/office/drawing/2014/main" id="{4E4E510D-E5C6-C418-8B55-B8C48978DE18}"/>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7EEB40FF-B9E2-9E66-7320-A71B46A9EF9B}"/>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9" name="椭圆 28">
            <a:extLst>
              <a:ext uri="{FF2B5EF4-FFF2-40B4-BE49-F238E27FC236}">
                <a16:creationId xmlns:a16="http://schemas.microsoft.com/office/drawing/2014/main" id="{DEAC7BF6-4E4E-5D3D-5A32-AACADE6C3591}"/>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D6736166-B8A5-A884-A778-27C8D4DC17DE}"/>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42</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A8C4CBE4-E680-8E27-AE14-CCE45734B1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C860A432-84BB-B7AA-2C2E-B2DCFA8753E2}"/>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D93D42B6-6BD3-393F-7B2C-02350452EE41}"/>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AF111004-9CF6-2347-4D3C-2E030C76C18C}"/>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935B88F1-A223-CE5A-F019-A97A6C6C27FD}"/>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A9BADB58-3AE7-9EDF-5501-9A18BFCA326B}"/>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DF676C82-D352-F5D4-CCC1-5EBC8FD43F07}"/>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27713305-E324-74E5-0F49-D714F123A379}"/>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486622E0-EE93-C58E-6E06-D487C95F53C5}"/>
              </a:ext>
            </a:extLst>
          </p:cNvPr>
          <p:cNvGrpSpPr/>
          <p:nvPr/>
        </p:nvGrpSpPr>
        <p:grpSpPr>
          <a:xfrm>
            <a:off x="0" y="4058528"/>
            <a:ext cx="1433384" cy="1612384"/>
            <a:chOff x="0" y="4058528"/>
            <a:chExt cx="1433384" cy="1612384"/>
          </a:xfrm>
        </p:grpSpPr>
        <p:sp>
          <p:nvSpPr>
            <p:cNvPr id="33" name="矩形 32">
              <a:extLst>
                <a:ext uri="{FF2B5EF4-FFF2-40B4-BE49-F238E27FC236}">
                  <a16:creationId xmlns:a16="http://schemas.microsoft.com/office/drawing/2014/main" id="{AE0236A9-4877-E3EA-3F75-3953C7B6F9EF}"/>
                </a:ext>
              </a:extLst>
            </p:cNvPr>
            <p:cNvSpPr/>
            <p:nvPr/>
          </p:nvSpPr>
          <p:spPr>
            <a:xfrm>
              <a:off x="0" y="5024581"/>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F6A698AA-DDF9-7616-0215-82C5ADC48D12}"/>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grpSp>
      <p:sp>
        <p:nvSpPr>
          <p:cNvPr id="27" name="文本框 26">
            <a:extLst>
              <a:ext uri="{FF2B5EF4-FFF2-40B4-BE49-F238E27FC236}">
                <a16:creationId xmlns:a16="http://schemas.microsoft.com/office/drawing/2014/main" id="{275D213F-8315-3C3F-61C6-15168D791C2E}"/>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当前挑战</a:t>
            </a:r>
            <a:endParaRPr lang="zh-CN" altLang="en-US" sz="1200" dirty="0"/>
          </a:p>
        </p:txBody>
      </p:sp>
      <p:pic>
        <p:nvPicPr>
          <p:cNvPr id="31" name="图片 30">
            <a:extLst>
              <a:ext uri="{FF2B5EF4-FFF2-40B4-BE49-F238E27FC236}">
                <a16:creationId xmlns:a16="http://schemas.microsoft.com/office/drawing/2014/main" id="{C311781C-6010-1851-06A4-8FD634EA44F3}"/>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073A02B4-4EEF-7D78-2F1F-FAE78D6638BB}"/>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37" name="文本框 36">
            <a:extLst>
              <a:ext uri="{FF2B5EF4-FFF2-40B4-BE49-F238E27FC236}">
                <a16:creationId xmlns:a16="http://schemas.microsoft.com/office/drawing/2014/main" id="{A78E555B-70AC-6F1D-2326-F111D20A77B0}"/>
              </a:ext>
            </a:extLst>
          </p:cNvPr>
          <p:cNvSpPr txBox="1"/>
          <p:nvPr/>
        </p:nvSpPr>
        <p:spPr>
          <a:xfrm>
            <a:off x="2222500" y="1153925"/>
            <a:ext cx="6096000" cy="400110"/>
          </a:xfrm>
          <a:prstGeom prst="rect">
            <a:avLst/>
          </a:prstGeom>
          <a:noFill/>
        </p:spPr>
        <p:txBody>
          <a:bodyPr wrap="square">
            <a:spAutoFit/>
          </a:bodyPr>
          <a:lstStyle/>
          <a:p>
            <a:r>
              <a:rPr lang="zh-CN" altLang="en-US" sz="2000" b="1" dirty="0">
                <a:latin typeface="宋体" panose="02010600030101010101" pitchFamily="2" charset="-122"/>
                <a:ea typeface="宋体" panose="02010600030101010101" pitchFamily="2" charset="-122"/>
              </a:rPr>
              <a:t>定位与建图</a:t>
            </a:r>
          </a:p>
        </p:txBody>
      </p:sp>
      <p:sp>
        <p:nvSpPr>
          <p:cNvPr id="39" name="文本框 38">
            <a:extLst>
              <a:ext uri="{FF2B5EF4-FFF2-40B4-BE49-F238E27FC236}">
                <a16:creationId xmlns:a16="http://schemas.microsoft.com/office/drawing/2014/main" id="{4ECEAD6D-9799-6498-C8BF-7C08F8121F4F}"/>
              </a:ext>
            </a:extLst>
          </p:cNvPr>
          <p:cNvSpPr txBox="1"/>
          <p:nvPr/>
        </p:nvSpPr>
        <p:spPr>
          <a:xfrm>
            <a:off x="2222500" y="1743190"/>
            <a:ext cx="8629650" cy="3693319"/>
          </a:xfrm>
          <a:prstGeom prst="rect">
            <a:avLst/>
          </a:prstGeom>
          <a:noFill/>
        </p:spPr>
        <p:txBody>
          <a:bodyPr wrap="square">
            <a:spAutoFit/>
          </a:bodyPr>
          <a:lstStyle/>
          <a:p>
            <a:r>
              <a:rPr lang="en-US" altLang="zh-CN" dirty="0"/>
              <a:t>1. </a:t>
            </a:r>
            <a:r>
              <a:rPr lang="zh-CN" altLang="en-US" dirty="0"/>
              <a:t>传感器标定与时间同步的漂移</a:t>
            </a:r>
          </a:p>
          <a:p>
            <a:r>
              <a:rPr lang="zh-CN" altLang="en-US" dirty="0"/>
              <a:t>多传感器融合</a:t>
            </a:r>
            <a:r>
              <a:rPr lang="en-US" altLang="zh-CN" dirty="0"/>
              <a:t>SLAM</a:t>
            </a:r>
            <a:r>
              <a:rPr lang="zh-CN" altLang="en-US" dirty="0"/>
              <a:t>高度依赖精确的外参标定和时间同步，但车辆在长期运行中，机械振动、热胀冷缩、安装偏差和意外冲击会导致标定参数持续漂移。综述已指出融合方法的劣势包括“复杂度、标定、同步”。最新研究进一步表明，即使厘米级的平移偏移或毫秒级的时间同步误差，也可能在融合算法中触发对齐失效，进而导致关键决策错误。在线标定面临严格的实时性和资源约束，现有方法难以满足。</a:t>
            </a:r>
          </a:p>
          <a:p>
            <a:endParaRPr lang="zh-CN" altLang="en-US" dirty="0"/>
          </a:p>
          <a:p>
            <a:r>
              <a:rPr lang="en-US" altLang="zh-CN" dirty="0"/>
              <a:t>2. GNSS</a:t>
            </a:r>
            <a:r>
              <a:rPr lang="zh-CN" altLang="en-US" dirty="0"/>
              <a:t>退化场景</a:t>
            </a:r>
          </a:p>
          <a:p>
            <a:r>
              <a:rPr lang="zh-CN" altLang="en-US" dirty="0"/>
              <a:t>城市峡谷、隧道、地下车库中</a:t>
            </a:r>
            <a:r>
              <a:rPr lang="en-US" altLang="zh-CN" dirty="0"/>
              <a:t>GNSS</a:t>
            </a:r>
            <a:r>
              <a:rPr lang="zh-CN" altLang="en-US" dirty="0"/>
              <a:t>信号被遮挡，定位精度急剧下降。综述指出</a:t>
            </a:r>
            <a:r>
              <a:rPr lang="en-US" altLang="zh-CN" dirty="0"/>
              <a:t>GNSS</a:t>
            </a:r>
            <a:r>
              <a:rPr lang="zh-CN" altLang="en-US" dirty="0"/>
              <a:t>的劣势包括“场地要求、更新频率低、高精度成本高”。多传感器融合虽能缓解，但标定与同步复杂度随之增加。在山区城市中，</a:t>
            </a:r>
            <a:r>
              <a:rPr lang="en-US" altLang="zh-CN" dirty="0"/>
              <a:t>GNSS</a:t>
            </a:r>
            <a:r>
              <a:rPr lang="zh-CN" altLang="en-US" dirty="0"/>
              <a:t>信号遮挡导致的定位退化是自动驾驶落地的关键障碍之一。</a:t>
            </a:r>
          </a:p>
          <a:p>
            <a:endParaRPr lang="zh-CN" altLang="en-US" dirty="0"/>
          </a:p>
        </p:txBody>
      </p:sp>
    </p:spTree>
    <p:extLst>
      <p:ext uri="{BB962C8B-B14F-4D97-AF65-F5344CB8AC3E}">
        <p14:creationId xmlns:p14="http://schemas.microsoft.com/office/powerpoint/2010/main" val="487980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11630-D7BA-5597-F7A1-CC385EC881A2}"/>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62B0F437-3362-6573-2493-09721AB8C4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4DBDD12A-0A13-DDDF-343A-F63487DA2FE3}"/>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27A88EF7-C74C-44DB-2C1A-4A77AC9B504D}"/>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AE5D225F-9A66-428C-02FD-7FB530437AB1}"/>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EDE0D80-1689-1358-3B39-8A3DC66AB5D6}"/>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当前挑战</a:t>
            </a:r>
          </a:p>
        </p:txBody>
      </p:sp>
      <p:sp>
        <p:nvSpPr>
          <p:cNvPr id="8" name="文本框 7">
            <a:extLst>
              <a:ext uri="{FF2B5EF4-FFF2-40B4-BE49-F238E27FC236}">
                <a16:creationId xmlns:a16="http://schemas.microsoft.com/office/drawing/2014/main" id="{407AFB31-04C6-3D9C-03CE-8081B9A4076C}"/>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3ACB6828-A45E-4ED6-74FA-582D165640F9}"/>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9" name="椭圆 28">
            <a:extLst>
              <a:ext uri="{FF2B5EF4-FFF2-40B4-BE49-F238E27FC236}">
                <a16:creationId xmlns:a16="http://schemas.microsoft.com/office/drawing/2014/main" id="{DA6A3049-52C2-9375-AEFB-31642C865842}"/>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AAC70AB5-8590-A3F4-17F9-8A448AE4FD57}"/>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43</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8A162EB0-A8B8-1F3C-9ED0-C1BC7E11AF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88CA66A7-29C6-59B8-53EC-2DD30D24A280}"/>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4E304402-127A-D82F-65F7-AB221276E8E6}"/>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47E65DCD-01D4-4129-5848-9913F8D6049F}"/>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06A33BF8-FFE9-F523-B2E0-6CD69E3DE895}"/>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73AC6E84-9FE4-CAD8-62DE-8957DA42ECB1}"/>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353175F3-4B0C-4409-4D6C-370094FC4E71}"/>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C8D419F2-1497-A90A-40D7-205FFF41147B}"/>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D6E603CF-E86E-7287-3EBD-8205E07A1133}"/>
              </a:ext>
            </a:extLst>
          </p:cNvPr>
          <p:cNvGrpSpPr/>
          <p:nvPr/>
        </p:nvGrpSpPr>
        <p:grpSpPr>
          <a:xfrm>
            <a:off x="0" y="4058528"/>
            <a:ext cx="1433384" cy="1612384"/>
            <a:chOff x="0" y="4058528"/>
            <a:chExt cx="1433384" cy="1612384"/>
          </a:xfrm>
        </p:grpSpPr>
        <p:sp>
          <p:nvSpPr>
            <p:cNvPr id="33" name="矩形 32">
              <a:extLst>
                <a:ext uri="{FF2B5EF4-FFF2-40B4-BE49-F238E27FC236}">
                  <a16:creationId xmlns:a16="http://schemas.microsoft.com/office/drawing/2014/main" id="{0CDB3322-76B7-893E-5B8B-5E386C26FC5F}"/>
                </a:ext>
              </a:extLst>
            </p:cNvPr>
            <p:cNvSpPr/>
            <p:nvPr/>
          </p:nvSpPr>
          <p:spPr>
            <a:xfrm>
              <a:off x="0" y="5024581"/>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95EAFDFA-4C1A-4610-9067-C29461C573C3}"/>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grpSp>
      <p:sp>
        <p:nvSpPr>
          <p:cNvPr id="27" name="文本框 26">
            <a:extLst>
              <a:ext uri="{FF2B5EF4-FFF2-40B4-BE49-F238E27FC236}">
                <a16:creationId xmlns:a16="http://schemas.microsoft.com/office/drawing/2014/main" id="{4CE617F4-CE9E-48DF-16C1-3B8E7A3609B2}"/>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当前挑战</a:t>
            </a:r>
            <a:endParaRPr lang="zh-CN" altLang="en-US" sz="1200" dirty="0"/>
          </a:p>
        </p:txBody>
      </p:sp>
      <p:pic>
        <p:nvPicPr>
          <p:cNvPr id="31" name="图片 30">
            <a:extLst>
              <a:ext uri="{FF2B5EF4-FFF2-40B4-BE49-F238E27FC236}">
                <a16:creationId xmlns:a16="http://schemas.microsoft.com/office/drawing/2014/main" id="{313E3809-428F-06B2-2718-BB345E05EEE7}"/>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DAE16BC4-B2D4-E955-A2D1-7FCD12BF7099}"/>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37" name="文本框 36">
            <a:extLst>
              <a:ext uri="{FF2B5EF4-FFF2-40B4-BE49-F238E27FC236}">
                <a16:creationId xmlns:a16="http://schemas.microsoft.com/office/drawing/2014/main" id="{255B8627-0FA4-0CE9-5051-15449A7FD572}"/>
              </a:ext>
            </a:extLst>
          </p:cNvPr>
          <p:cNvSpPr txBox="1"/>
          <p:nvPr/>
        </p:nvSpPr>
        <p:spPr>
          <a:xfrm>
            <a:off x="2222500" y="1153925"/>
            <a:ext cx="6096000" cy="400110"/>
          </a:xfrm>
          <a:prstGeom prst="rect">
            <a:avLst/>
          </a:prstGeom>
          <a:noFill/>
        </p:spPr>
        <p:txBody>
          <a:bodyPr wrap="square">
            <a:spAutoFit/>
          </a:bodyPr>
          <a:lstStyle/>
          <a:p>
            <a:r>
              <a:rPr lang="zh-CN" altLang="zh-CN" sz="2000" b="1" dirty="0">
                <a:latin typeface="宋体" panose="02010600030101010101" pitchFamily="2" charset="-122"/>
                <a:ea typeface="宋体" panose="02010600030101010101" pitchFamily="2" charset="-122"/>
              </a:rPr>
              <a:t>目标检测</a:t>
            </a:r>
          </a:p>
        </p:txBody>
      </p:sp>
      <p:sp>
        <p:nvSpPr>
          <p:cNvPr id="39" name="文本框 38">
            <a:extLst>
              <a:ext uri="{FF2B5EF4-FFF2-40B4-BE49-F238E27FC236}">
                <a16:creationId xmlns:a16="http://schemas.microsoft.com/office/drawing/2014/main" id="{B865B8E3-EB6E-6DA6-DF0D-C844DB438739}"/>
              </a:ext>
            </a:extLst>
          </p:cNvPr>
          <p:cNvSpPr txBox="1"/>
          <p:nvPr/>
        </p:nvSpPr>
        <p:spPr>
          <a:xfrm>
            <a:off x="2222500" y="1554035"/>
            <a:ext cx="9737063" cy="4524315"/>
          </a:xfrm>
          <a:prstGeom prst="rect">
            <a:avLst/>
          </a:prstGeom>
          <a:noFill/>
        </p:spPr>
        <p:txBody>
          <a:bodyPr wrap="square">
            <a:spAutoFit/>
          </a:bodyPr>
          <a:lstStyle/>
          <a:p>
            <a:r>
              <a:rPr lang="en-US" altLang="zh-CN" dirty="0"/>
              <a:t>1. </a:t>
            </a:r>
            <a:r>
              <a:rPr lang="zh-CN" altLang="en-US" dirty="0"/>
              <a:t>多模态融合的模态差距</a:t>
            </a:r>
          </a:p>
          <a:p>
            <a:r>
              <a:rPr lang="zh-CN" altLang="en-US" dirty="0"/>
              <a:t>综述总结：融合策略能提升精度，但需“消除模态差异”。相机、</a:t>
            </a:r>
            <a:r>
              <a:rPr lang="en-US" altLang="zh-CN" dirty="0"/>
              <a:t>LiDAR</a:t>
            </a:r>
            <a:r>
              <a:rPr lang="zh-CN" altLang="en-US" dirty="0"/>
              <a:t>、雷达的数据分布差异大，网络难以填充。综述还指出，标定和同步的系统误差与测量误差会在网络中传播放大。</a:t>
            </a:r>
            <a:endParaRPr lang="en-US" altLang="zh-CN" dirty="0"/>
          </a:p>
          <a:p>
            <a:endParaRPr lang="zh-CN" altLang="en-US" dirty="0"/>
          </a:p>
          <a:p>
            <a:r>
              <a:rPr lang="en-US" altLang="zh-CN" dirty="0"/>
              <a:t>2. </a:t>
            </a:r>
            <a:r>
              <a:rPr lang="zh-CN" altLang="en-US" dirty="0"/>
              <a:t>恶劣天气与光照条件</a:t>
            </a:r>
          </a:p>
          <a:p>
            <a:r>
              <a:rPr lang="zh-CN" altLang="en-US" dirty="0"/>
              <a:t>综述明确指出视觉方法“受光照影响、相似特征失效”，</a:t>
            </a:r>
            <a:r>
              <a:rPr lang="en-US" altLang="zh-CN" dirty="0"/>
              <a:t>LiDAR“</a:t>
            </a:r>
            <a:r>
              <a:rPr lang="zh-CN" altLang="en-US" dirty="0"/>
              <a:t>受环境干扰” ，雨雪雾天气下，视觉和</a:t>
            </a:r>
            <a:r>
              <a:rPr lang="en-US" altLang="zh-CN" dirty="0"/>
              <a:t>LiDAR</a:t>
            </a:r>
            <a:r>
              <a:rPr lang="zh-CN" altLang="en-US" dirty="0"/>
              <a:t>的误判率显著增高。</a:t>
            </a:r>
            <a:endParaRPr lang="en-US" altLang="zh-CN" dirty="0"/>
          </a:p>
          <a:p>
            <a:endParaRPr lang="zh-CN" altLang="en-US" dirty="0"/>
          </a:p>
          <a:p>
            <a:r>
              <a:rPr lang="en-US" altLang="zh-CN" dirty="0"/>
              <a:t>3. </a:t>
            </a:r>
            <a:r>
              <a:rPr lang="zh-CN" altLang="en-US" dirty="0"/>
              <a:t>远距离与小目标检测</a:t>
            </a:r>
          </a:p>
          <a:p>
            <a:r>
              <a:rPr lang="zh-CN" altLang="en-US" dirty="0"/>
              <a:t>综述指出</a:t>
            </a:r>
            <a:r>
              <a:rPr lang="en-US" altLang="zh-CN" dirty="0"/>
              <a:t>LiDAR“</a:t>
            </a:r>
            <a:r>
              <a:rPr lang="zh-CN" altLang="en-US" dirty="0"/>
              <a:t>远距离点稀疏”是核心问题。相机分辨率有限，远距离小目标检测困难。点云在远处稀疏、图像分辨率有限，导致远距离</a:t>
            </a:r>
            <a:r>
              <a:rPr lang="en-US" altLang="zh-CN" dirty="0"/>
              <a:t>3D</a:t>
            </a:r>
            <a:r>
              <a:rPr lang="zh-CN" altLang="en-US" dirty="0"/>
              <a:t>检测精度明显下降。</a:t>
            </a:r>
            <a:endParaRPr lang="en-US" altLang="zh-CN" dirty="0"/>
          </a:p>
          <a:p>
            <a:endParaRPr lang="zh-CN" altLang="en-US" dirty="0"/>
          </a:p>
          <a:p>
            <a:r>
              <a:rPr lang="en-US" altLang="zh-CN" dirty="0"/>
              <a:t>4. </a:t>
            </a:r>
            <a:r>
              <a:rPr lang="zh-CN" altLang="en-US" dirty="0"/>
              <a:t>对抗攻击的脆弱性</a:t>
            </a:r>
          </a:p>
          <a:p>
            <a:r>
              <a:rPr lang="zh-CN" altLang="en-US" dirty="0"/>
              <a:t>深度学习感知模型对精心设计的对抗噪声高度敏感。物理对抗攻击如路面标线操纵和物体混合扰动，对单目深度估计等感知模块构成严重安全威胁。从单一传感器到多传感器融合，对抗攻击面正在不断扩大。</a:t>
            </a:r>
          </a:p>
        </p:txBody>
      </p:sp>
    </p:spTree>
    <p:extLst>
      <p:ext uri="{BB962C8B-B14F-4D97-AF65-F5344CB8AC3E}">
        <p14:creationId xmlns:p14="http://schemas.microsoft.com/office/powerpoint/2010/main" val="22769033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79568-6390-9BCF-137B-651F1F9956AB}"/>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0A81C4F8-1510-59EC-3C9D-D0CC11FD8B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DE76948E-16B1-42ED-1715-35747829065D}"/>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879656A7-B562-B1FD-BDA8-FCB6C9DFA756}"/>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30D83C5E-4314-EE13-36A5-14C08EC24502}"/>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AB5626D-2965-F19B-4893-4C741A04A8D5}"/>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当前挑战</a:t>
            </a:r>
          </a:p>
        </p:txBody>
      </p:sp>
      <p:sp>
        <p:nvSpPr>
          <p:cNvPr id="8" name="文本框 7">
            <a:extLst>
              <a:ext uri="{FF2B5EF4-FFF2-40B4-BE49-F238E27FC236}">
                <a16:creationId xmlns:a16="http://schemas.microsoft.com/office/drawing/2014/main" id="{9993716B-7565-705C-19D2-025619587AB2}"/>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50A62822-2D77-E780-C209-059AA4F2800A}"/>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9" name="椭圆 28">
            <a:extLst>
              <a:ext uri="{FF2B5EF4-FFF2-40B4-BE49-F238E27FC236}">
                <a16:creationId xmlns:a16="http://schemas.microsoft.com/office/drawing/2014/main" id="{CF121B58-C524-B609-CE0E-5D873C3F0E11}"/>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5BE1E39F-6669-2EAB-9C4C-FB0D82D0EF6E}"/>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44</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C42DE221-2C44-21D3-4AD0-35F96B0A60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6BD708EA-DF55-4A2B-D924-3357C8410E80}"/>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F90A1538-AF5E-DE9D-F6C6-7F5679225344}"/>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B858246B-9EE4-42C7-0D40-D230B1F4CB8A}"/>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88AD2D0E-165A-9E52-128D-6E44266B11E2}"/>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D12B7408-DFB0-F857-35D8-69912541133C}"/>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2D94DA82-D119-6AC1-BC42-18A5A4B44FFD}"/>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993AE2C0-46EA-C98C-1C33-FE9AF6BA5F15}"/>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9860DE41-D660-4BD5-9787-64DE7EA6CB65}"/>
              </a:ext>
            </a:extLst>
          </p:cNvPr>
          <p:cNvGrpSpPr/>
          <p:nvPr/>
        </p:nvGrpSpPr>
        <p:grpSpPr>
          <a:xfrm>
            <a:off x="0" y="4058528"/>
            <a:ext cx="1433384" cy="1612384"/>
            <a:chOff x="0" y="4058528"/>
            <a:chExt cx="1433384" cy="1612384"/>
          </a:xfrm>
        </p:grpSpPr>
        <p:sp>
          <p:nvSpPr>
            <p:cNvPr id="33" name="矩形 32">
              <a:extLst>
                <a:ext uri="{FF2B5EF4-FFF2-40B4-BE49-F238E27FC236}">
                  <a16:creationId xmlns:a16="http://schemas.microsoft.com/office/drawing/2014/main" id="{7D61F7EF-D967-8A64-CA57-30F53BA62349}"/>
                </a:ext>
              </a:extLst>
            </p:cNvPr>
            <p:cNvSpPr/>
            <p:nvPr/>
          </p:nvSpPr>
          <p:spPr>
            <a:xfrm>
              <a:off x="0" y="5024581"/>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5EC6A6AE-625D-82D0-7966-75069A1E0BED}"/>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grpSp>
      <p:sp>
        <p:nvSpPr>
          <p:cNvPr id="27" name="文本框 26">
            <a:extLst>
              <a:ext uri="{FF2B5EF4-FFF2-40B4-BE49-F238E27FC236}">
                <a16:creationId xmlns:a16="http://schemas.microsoft.com/office/drawing/2014/main" id="{2131C5C9-38B8-1F8E-A627-CD6CDDA87B51}"/>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当前挑战</a:t>
            </a:r>
            <a:endParaRPr lang="zh-CN" altLang="en-US" sz="1200" dirty="0"/>
          </a:p>
        </p:txBody>
      </p:sp>
      <p:pic>
        <p:nvPicPr>
          <p:cNvPr id="31" name="图片 30">
            <a:extLst>
              <a:ext uri="{FF2B5EF4-FFF2-40B4-BE49-F238E27FC236}">
                <a16:creationId xmlns:a16="http://schemas.microsoft.com/office/drawing/2014/main" id="{29D639C3-C13E-7A5C-0EEA-A63A844044A0}"/>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1F06E4A6-09BB-2D74-9167-87D15034FA0D}"/>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37" name="文本框 36">
            <a:extLst>
              <a:ext uri="{FF2B5EF4-FFF2-40B4-BE49-F238E27FC236}">
                <a16:creationId xmlns:a16="http://schemas.microsoft.com/office/drawing/2014/main" id="{D014A82A-ADF1-8F34-44B4-6A7F013C5253}"/>
              </a:ext>
            </a:extLst>
          </p:cNvPr>
          <p:cNvSpPr txBox="1"/>
          <p:nvPr/>
        </p:nvSpPr>
        <p:spPr>
          <a:xfrm>
            <a:off x="2222500" y="1153925"/>
            <a:ext cx="6096000" cy="400110"/>
          </a:xfrm>
          <a:prstGeom prst="rect">
            <a:avLst/>
          </a:prstGeom>
          <a:noFill/>
        </p:spPr>
        <p:txBody>
          <a:bodyPr wrap="square">
            <a:spAutoFit/>
          </a:bodyPr>
          <a:lstStyle/>
          <a:p>
            <a:r>
              <a:rPr lang="zh-CN" altLang="en-US" sz="2000" b="1" dirty="0">
                <a:latin typeface="宋体" panose="02010600030101010101" pitchFamily="2" charset="-122"/>
                <a:ea typeface="宋体" panose="02010600030101010101" pitchFamily="2" charset="-122"/>
              </a:rPr>
              <a:t>场景理解</a:t>
            </a:r>
            <a:endParaRPr lang="zh-CN" altLang="zh-CN" sz="2000" b="1" dirty="0">
              <a:latin typeface="宋体" panose="02010600030101010101" pitchFamily="2" charset="-122"/>
              <a:ea typeface="宋体" panose="02010600030101010101" pitchFamily="2" charset="-122"/>
            </a:endParaRPr>
          </a:p>
        </p:txBody>
      </p:sp>
      <p:sp>
        <p:nvSpPr>
          <p:cNvPr id="39" name="文本框 38">
            <a:extLst>
              <a:ext uri="{FF2B5EF4-FFF2-40B4-BE49-F238E27FC236}">
                <a16:creationId xmlns:a16="http://schemas.microsoft.com/office/drawing/2014/main" id="{78B17172-7596-14B5-C81C-E47F4C9EF161}"/>
              </a:ext>
            </a:extLst>
          </p:cNvPr>
          <p:cNvSpPr txBox="1"/>
          <p:nvPr/>
        </p:nvSpPr>
        <p:spPr>
          <a:xfrm>
            <a:off x="2222500" y="1743190"/>
            <a:ext cx="9737063" cy="3139321"/>
          </a:xfrm>
          <a:prstGeom prst="rect">
            <a:avLst/>
          </a:prstGeom>
          <a:noFill/>
        </p:spPr>
        <p:txBody>
          <a:bodyPr wrap="square">
            <a:spAutoFit/>
          </a:bodyPr>
          <a:lstStyle/>
          <a:p>
            <a:r>
              <a:rPr lang="en-US" altLang="zh-CN" dirty="0"/>
              <a:t>1. </a:t>
            </a:r>
            <a:r>
              <a:rPr lang="zh-CN" altLang="en-US" dirty="0"/>
              <a:t>像素级标注成本</a:t>
            </a:r>
          </a:p>
          <a:p>
            <a:r>
              <a:rPr lang="zh-CN" altLang="en-US" dirty="0"/>
              <a:t>综述指出场景理解任务不直接服务规划，但为检测和跟踪提供中间表征。分割、深度、光流的像素级标注成本极高，长尾场景覆盖难。</a:t>
            </a:r>
          </a:p>
          <a:p>
            <a:endParaRPr lang="zh-CN" altLang="en-US" dirty="0"/>
          </a:p>
          <a:p>
            <a:r>
              <a:rPr lang="en-US" altLang="zh-CN" dirty="0"/>
              <a:t>2. </a:t>
            </a:r>
            <a:r>
              <a:rPr lang="zh-CN" altLang="en-US" dirty="0"/>
              <a:t>多任务负迁移</a:t>
            </a:r>
          </a:p>
          <a:p>
            <a:r>
              <a:rPr lang="zh-CN" altLang="en-US" dirty="0"/>
              <a:t>综述提到语义分割、深度估计和光流估计在实际任务中会相互结合。但多任务联合训练存在负迁移问题，各任务梯度尺度差异大，可能互相干扰。</a:t>
            </a:r>
          </a:p>
          <a:p>
            <a:endParaRPr lang="zh-CN" altLang="en-US" dirty="0"/>
          </a:p>
          <a:p>
            <a:r>
              <a:rPr lang="en-US" altLang="zh-CN" dirty="0"/>
              <a:t>3. 2D-3D</a:t>
            </a:r>
            <a:r>
              <a:rPr lang="zh-CN" altLang="en-US" dirty="0"/>
              <a:t>转换</a:t>
            </a:r>
          </a:p>
          <a:p>
            <a:r>
              <a:rPr lang="zh-CN" altLang="en-US" dirty="0"/>
              <a:t>综述明确指出可行驶区域检测的挑战包括“</a:t>
            </a:r>
            <a:r>
              <a:rPr lang="en-US" altLang="zh-CN" dirty="0"/>
              <a:t>2D-3D</a:t>
            </a:r>
            <a:r>
              <a:rPr lang="zh-CN" altLang="en-US" dirty="0"/>
              <a:t>转换”。图像平面的分割结果需要转换到</a:t>
            </a:r>
            <a:r>
              <a:rPr lang="en-US" altLang="zh-CN" dirty="0"/>
              <a:t>3D</a:t>
            </a:r>
            <a:r>
              <a:rPr lang="zh-CN" altLang="en-US" dirty="0"/>
              <a:t>空间才能服务规划，转换过程中的误差会累积。</a:t>
            </a:r>
          </a:p>
        </p:txBody>
      </p:sp>
    </p:spTree>
    <p:extLst>
      <p:ext uri="{BB962C8B-B14F-4D97-AF65-F5344CB8AC3E}">
        <p14:creationId xmlns:p14="http://schemas.microsoft.com/office/powerpoint/2010/main" val="636928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8310C-2F23-A306-850D-03B7A3896FDF}"/>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0A49A4BB-5F4D-2D8F-BEC7-E2C875FC7F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8AFC190A-A5D7-A020-5179-E95DE08CBF4B}"/>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8062C6FB-436C-EA5F-00FB-B15DAE84C934}"/>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12B0F53B-2F78-7978-3560-4F61FC2E4F71}"/>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B6049CA-F984-80BB-E835-96995727ADA0}"/>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当前挑战</a:t>
            </a:r>
          </a:p>
        </p:txBody>
      </p:sp>
      <p:sp>
        <p:nvSpPr>
          <p:cNvPr id="8" name="文本框 7">
            <a:extLst>
              <a:ext uri="{FF2B5EF4-FFF2-40B4-BE49-F238E27FC236}">
                <a16:creationId xmlns:a16="http://schemas.microsoft.com/office/drawing/2014/main" id="{9978B20C-D8AE-1EF3-A811-C6009EDC3A56}"/>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08E3E812-453D-577E-14D0-AF69954DFF11}"/>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9" name="椭圆 28">
            <a:extLst>
              <a:ext uri="{FF2B5EF4-FFF2-40B4-BE49-F238E27FC236}">
                <a16:creationId xmlns:a16="http://schemas.microsoft.com/office/drawing/2014/main" id="{4DBFC49C-5207-4DFC-34CB-601340A9647B}"/>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1AE62C7D-3929-D6B7-8379-06E609837F64}"/>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45</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1A426576-3F2B-6E23-FA3F-86AC88D054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F8363C13-3D78-407D-B8FE-D548EA3DD107}"/>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1D706293-54AC-35B3-6D32-FBAE070F77C2}"/>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A0512C77-FDE2-69AF-68B4-7E7C346DBDA5}"/>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522B43B0-9D19-059A-BDAE-B2C04375F1F5}"/>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9F30823A-6384-B810-8935-3A1EDF3F13D0}"/>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08B301A1-4981-5FE7-FDC1-2C71BB273A47}"/>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539DA0E2-D7D6-2A97-F7FB-735173D12D70}"/>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C58C1469-DA58-39C6-F6DC-F6571BFFB22D}"/>
              </a:ext>
            </a:extLst>
          </p:cNvPr>
          <p:cNvGrpSpPr/>
          <p:nvPr/>
        </p:nvGrpSpPr>
        <p:grpSpPr>
          <a:xfrm>
            <a:off x="0" y="4058528"/>
            <a:ext cx="1433384" cy="1612384"/>
            <a:chOff x="0" y="4058528"/>
            <a:chExt cx="1433384" cy="1612384"/>
          </a:xfrm>
        </p:grpSpPr>
        <p:sp>
          <p:nvSpPr>
            <p:cNvPr id="33" name="矩形 32">
              <a:extLst>
                <a:ext uri="{FF2B5EF4-FFF2-40B4-BE49-F238E27FC236}">
                  <a16:creationId xmlns:a16="http://schemas.microsoft.com/office/drawing/2014/main" id="{700BE8E9-8836-167B-65B0-0836405C851B}"/>
                </a:ext>
              </a:extLst>
            </p:cNvPr>
            <p:cNvSpPr/>
            <p:nvPr/>
          </p:nvSpPr>
          <p:spPr>
            <a:xfrm>
              <a:off x="0" y="5024581"/>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8351A580-93E1-33BF-1FBD-5AADDDA196DC}"/>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grpSp>
      <p:sp>
        <p:nvSpPr>
          <p:cNvPr id="27" name="文本框 26">
            <a:extLst>
              <a:ext uri="{FF2B5EF4-FFF2-40B4-BE49-F238E27FC236}">
                <a16:creationId xmlns:a16="http://schemas.microsoft.com/office/drawing/2014/main" id="{C25DDCC2-4776-84CA-811F-008365198E48}"/>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当前挑战</a:t>
            </a:r>
            <a:endParaRPr lang="zh-CN" altLang="en-US" sz="1200" dirty="0"/>
          </a:p>
        </p:txBody>
      </p:sp>
      <p:pic>
        <p:nvPicPr>
          <p:cNvPr id="31" name="图片 30">
            <a:extLst>
              <a:ext uri="{FF2B5EF4-FFF2-40B4-BE49-F238E27FC236}">
                <a16:creationId xmlns:a16="http://schemas.microsoft.com/office/drawing/2014/main" id="{B8FD1F98-87BE-76F1-AF5D-58501A8DE0C2}"/>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EE2E1702-823B-0BBE-AEF4-5833A30CC7A7}"/>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37" name="文本框 36">
            <a:extLst>
              <a:ext uri="{FF2B5EF4-FFF2-40B4-BE49-F238E27FC236}">
                <a16:creationId xmlns:a16="http://schemas.microsoft.com/office/drawing/2014/main" id="{6D682448-93FB-C125-307B-1F0E253886C3}"/>
              </a:ext>
            </a:extLst>
          </p:cNvPr>
          <p:cNvSpPr txBox="1"/>
          <p:nvPr/>
        </p:nvSpPr>
        <p:spPr>
          <a:xfrm>
            <a:off x="2222500" y="1153925"/>
            <a:ext cx="6096000" cy="400110"/>
          </a:xfrm>
          <a:prstGeom prst="rect">
            <a:avLst/>
          </a:prstGeom>
          <a:noFill/>
        </p:spPr>
        <p:txBody>
          <a:bodyPr wrap="square">
            <a:spAutoFit/>
          </a:bodyPr>
          <a:lstStyle/>
          <a:p>
            <a:r>
              <a:rPr lang="zh-CN" altLang="en-US" sz="2000" b="1" dirty="0">
                <a:latin typeface="宋体" panose="02010600030101010101" pitchFamily="2" charset="-122"/>
                <a:ea typeface="宋体" panose="02010600030101010101" pitchFamily="2" charset="-122"/>
              </a:rPr>
              <a:t>预测与跟踪</a:t>
            </a:r>
            <a:endParaRPr lang="zh-CN" altLang="zh-CN" sz="2000" b="1" dirty="0">
              <a:latin typeface="宋体" panose="02010600030101010101" pitchFamily="2" charset="-122"/>
              <a:ea typeface="宋体" panose="02010600030101010101" pitchFamily="2" charset="-122"/>
            </a:endParaRPr>
          </a:p>
        </p:txBody>
      </p:sp>
      <p:sp>
        <p:nvSpPr>
          <p:cNvPr id="39" name="文本框 38">
            <a:extLst>
              <a:ext uri="{FF2B5EF4-FFF2-40B4-BE49-F238E27FC236}">
                <a16:creationId xmlns:a16="http://schemas.microsoft.com/office/drawing/2014/main" id="{37F640FC-69B5-B1E4-1BCA-2AD1A5E6AAAF}"/>
              </a:ext>
            </a:extLst>
          </p:cNvPr>
          <p:cNvSpPr txBox="1"/>
          <p:nvPr/>
        </p:nvSpPr>
        <p:spPr>
          <a:xfrm>
            <a:off x="2222500" y="1743190"/>
            <a:ext cx="9737063" cy="2031325"/>
          </a:xfrm>
          <a:prstGeom prst="rect">
            <a:avLst/>
          </a:prstGeom>
          <a:noFill/>
        </p:spPr>
        <p:txBody>
          <a:bodyPr wrap="square">
            <a:spAutoFit/>
          </a:bodyPr>
          <a:lstStyle/>
          <a:p>
            <a:r>
              <a:rPr lang="en-US" altLang="zh-CN" dirty="0"/>
              <a:t>1. </a:t>
            </a:r>
            <a:r>
              <a:rPr lang="zh-CN" altLang="en-US" dirty="0"/>
              <a:t>长时预测误差累积与交互建模</a:t>
            </a:r>
          </a:p>
          <a:p>
            <a:r>
              <a:rPr lang="zh-CN" altLang="en-US" dirty="0"/>
              <a:t>综述指出预测的未来研究方向是“通用规则制定、场景普适性、模块简单性”。长时预测中不确定性随时间累积；交互场景中自车与他车行为相互影响，解耦架构无法建模双向耦合。</a:t>
            </a:r>
          </a:p>
          <a:p>
            <a:endParaRPr lang="zh-CN" altLang="en-US" dirty="0"/>
          </a:p>
          <a:p>
            <a:r>
              <a:rPr lang="en-US" altLang="zh-CN" dirty="0"/>
              <a:t>2. </a:t>
            </a:r>
            <a:r>
              <a:rPr lang="zh-CN" altLang="en-US" dirty="0"/>
              <a:t>多目标跟踪的遮挡与重入</a:t>
            </a:r>
          </a:p>
          <a:p>
            <a:r>
              <a:rPr lang="zh-CN" altLang="en-US" dirty="0"/>
              <a:t>综述指出</a:t>
            </a:r>
            <a:r>
              <a:rPr lang="en-US" altLang="zh-CN" dirty="0"/>
              <a:t>RNN/LSTM</a:t>
            </a:r>
            <a:r>
              <a:rPr lang="zh-CN" altLang="en-US" dirty="0"/>
              <a:t>方法“更适合处理目标离开或重新进入可见区域”，暗示传统方法在遮挡和重入场景下表现不佳。高密度交通场景中目标</a:t>
            </a:r>
            <a:r>
              <a:rPr lang="en-US" altLang="zh-CN" dirty="0"/>
              <a:t>ID</a:t>
            </a:r>
            <a:r>
              <a:rPr lang="zh-CN" altLang="en-US" dirty="0"/>
              <a:t>频繁切换仍是突出问题。</a:t>
            </a:r>
          </a:p>
        </p:txBody>
      </p:sp>
    </p:spTree>
    <p:extLst>
      <p:ext uri="{BB962C8B-B14F-4D97-AF65-F5344CB8AC3E}">
        <p14:creationId xmlns:p14="http://schemas.microsoft.com/office/powerpoint/2010/main" val="2450070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FE397-9D2B-5125-48EB-52C537657549}"/>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78E17E2E-3640-0361-5334-D2D2E398A9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C8BB3CEE-81AB-C542-09F9-7EEABBE07D50}"/>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9AC4DD36-D07B-084D-17C2-D0C5D966F715}"/>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D5019C77-A78F-A774-5FA3-233D0284F1EA}"/>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713F17E-63BF-23A0-B13D-6EB39885A0F6}"/>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当前挑战</a:t>
            </a:r>
          </a:p>
        </p:txBody>
      </p:sp>
      <p:sp>
        <p:nvSpPr>
          <p:cNvPr id="8" name="文本框 7">
            <a:extLst>
              <a:ext uri="{FF2B5EF4-FFF2-40B4-BE49-F238E27FC236}">
                <a16:creationId xmlns:a16="http://schemas.microsoft.com/office/drawing/2014/main" id="{39EA7908-C6BE-E6D3-D524-F2D5FF409992}"/>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10769CB0-6550-9DA0-55C5-C0E8BE1A6381}"/>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9" name="椭圆 28">
            <a:extLst>
              <a:ext uri="{FF2B5EF4-FFF2-40B4-BE49-F238E27FC236}">
                <a16:creationId xmlns:a16="http://schemas.microsoft.com/office/drawing/2014/main" id="{2391033B-2DA9-0384-8457-B70A5EB74AE4}"/>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D87F9416-6425-249A-739D-EB367F2301A6}"/>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46</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55A89B91-9444-83B3-75E9-8A0772007C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951E9777-30B1-FD5B-5B3A-777CC8F87E4B}"/>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16E719C9-50BA-707F-16DD-E4A4A878D21B}"/>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14F6FF7C-D524-28B8-24A0-4F39EEEB92D6}"/>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213A406F-4D69-E875-B3FC-A53C3CE106C4}"/>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94A63830-7BF4-3D54-6B14-F72AB4374D6B}"/>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256BC803-F735-C558-3FBE-76A42D1BF7CB}"/>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293E5964-A559-F58D-B6C2-740478CCF167}"/>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A9DA244D-942D-063C-2F0D-6B2A79365629}"/>
              </a:ext>
            </a:extLst>
          </p:cNvPr>
          <p:cNvGrpSpPr/>
          <p:nvPr/>
        </p:nvGrpSpPr>
        <p:grpSpPr>
          <a:xfrm>
            <a:off x="0" y="4058528"/>
            <a:ext cx="1433384" cy="1612384"/>
            <a:chOff x="0" y="4058528"/>
            <a:chExt cx="1433384" cy="1612384"/>
          </a:xfrm>
        </p:grpSpPr>
        <p:sp>
          <p:nvSpPr>
            <p:cNvPr id="33" name="矩形 32">
              <a:extLst>
                <a:ext uri="{FF2B5EF4-FFF2-40B4-BE49-F238E27FC236}">
                  <a16:creationId xmlns:a16="http://schemas.microsoft.com/office/drawing/2014/main" id="{0C1DB85D-C5C0-60E2-370D-486801F06B8C}"/>
                </a:ext>
              </a:extLst>
            </p:cNvPr>
            <p:cNvSpPr/>
            <p:nvPr/>
          </p:nvSpPr>
          <p:spPr>
            <a:xfrm>
              <a:off x="0" y="5024581"/>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CCE14DAD-4AA8-0B02-2653-FA3D2929171B}"/>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grpSp>
      <p:sp>
        <p:nvSpPr>
          <p:cNvPr id="27" name="文本框 26">
            <a:extLst>
              <a:ext uri="{FF2B5EF4-FFF2-40B4-BE49-F238E27FC236}">
                <a16:creationId xmlns:a16="http://schemas.microsoft.com/office/drawing/2014/main" id="{39C87089-D3B4-73BF-8185-8C7F4B249654}"/>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当前挑战</a:t>
            </a:r>
            <a:endParaRPr lang="zh-CN" altLang="en-US" sz="1200" dirty="0"/>
          </a:p>
        </p:txBody>
      </p:sp>
      <p:pic>
        <p:nvPicPr>
          <p:cNvPr id="31" name="图片 30">
            <a:extLst>
              <a:ext uri="{FF2B5EF4-FFF2-40B4-BE49-F238E27FC236}">
                <a16:creationId xmlns:a16="http://schemas.microsoft.com/office/drawing/2014/main" id="{0A8A279C-2EFF-DD71-C93C-1771151BDF69}"/>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F4987245-6935-05C4-AF00-B0E2DB70E99F}"/>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未来展望</a:t>
            </a:r>
            <a:endParaRPr lang="zh-CN" altLang="en-US" sz="1200" dirty="0">
              <a:solidFill>
                <a:schemeClr val="bg1"/>
              </a:solidFill>
            </a:endParaRPr>
          </a:p>
        </p:txBody>
      </p:sp>
      <p:sp>
        <p:nvSpPr>
          <p:cNvPr id="37" name="文本框 36">
            <a:extLst>
              <a:ext uri="{FF2B5EF4-FFF2-40B4-BE49-F238E27FC236}">
                <a16:creationId xmlns:a16="http://schemas.microsoft.com/office/drawing/2014/main" id="{EFF360B1-F42B-7518-A1BC-EAD28512D226}"/>
              </a:ext>
            </a:extLst>
          </p:cNvPr>
          <p:cNvSpPr txBox="1"/>
          <p:nvPr/>
        </p:nvSpPr>
        <p:spPr>
          <a:xfrm>
            <a:off x="2222500" y="1153925"/>
            <a:ext cx="6096000" cy="400110"/>
          </a:xfrm>
          <a:prstGeom prst="rect">
            <a:avLst/>
          </a:prstGeom>
          <a:noFill/>
        </p:spPr>
        <p:txBody>
          <a:bodyPr wrap="square">
            <a:spAutoFit/>
          </a:bodyPr>
          <a:lstStyle/>
          <a:p>
            <a:r>
              <a:rPr lang="zh-CN" altLang="en-US" sz="2000" b="1" dirty="0">
                <a:latin typeface="宋体" panose="02010600030101010101" pitchFamily="2" charset="-122"/>
                <a:ea typeface="宋体" panose="02010600030101010101" pitchFamily="2" charset="-122"/>
              </a:rPr>
              <a:t>全局路径规划</a:t>
            </a:r>
            <a:endParaRPr lang="zh-CN" altLang="zh-CN" sz="2000" b="1" dirty="0">
              <a:latin typeface="宋体" panose="02010600030101010101" pitchFamily="2" charset="-122"/>
              <a:ea typeface="宋体" panose="02010600030101010101" pitchFamily="2" charset="-122"/>
            </a:endParaRPr>
          </a:p>
        </p:txBody>
      </p:sp>
      <p:sp>
        <p:nvSpPr>
          <p:cNvPr id="39" name="文本框 38">
            <a:extLst>
              <a:ext uri="{FF2B5EF4-FFF2-40B4-BE49-F238E27FC236}">
                <a16:creationId xmlns:a16="http://schemas.microsoft.com/office/drawing/2014/main" id="{A2A53520-C747-19C7-9F56-9300C4E8E258}"/>
              </a:ext>
            </a:extLst>
          </p:cNvPr>
          <p:cNvSpPr txBox="1"/>
          <p:nvPr/>
        </p:nvSpPr>
        <p:spPr>
          <a:xfrm>
            <a:off x="2222500" y="1743190"/>
            <a:ext cx="9737063" cy="2031325"/>
          </a:xfrm>
          <a:prstGeom prst="rect">
            <a:avLst/>
          </a:prstGeom>
          <a:noFill/>
        </p:spPr>
        <p:txBody>
          <a:bodyPr wrap="square">
            <a:spAutoFit/>
          </a:bodyPr>
          <a:lstStyle/>
          <a:p>
            <a:r>
              <a:rPr lang="en-US" altLang="zh-CN" dirty="0"/>
              <a:t>1. </a:t>
            </a:r>
            <a:r>
              <a:rPr lang="zh-CN" altLang="en-US" dirty="0"/>
              <a:t>大规模路网的实时搜索</a:t>
            </a:r>
          </a:p>
          <a:p>
            <a:r>
              <a:rPr lang="zh-CN" altLang="en-US" dirty="0"/>
              <a:t>综述将全局路径规划方法分为目标导向、基于分隔符、分层、有界跳数等类型，核心挑战是在路径质量与查询效率之间取得平衡。城市级路网包含百万级节点和边，实时搜索面临效率瓶颈。</a:t>
            </a:r>
          </a:p>
          <a:p>
            <a:endParaRPr lang="zh-CN" altLang="en-US" dirty="0"/>
          </a:p>
          <a:p>
            <a:r>
              <a:rPr lang="en-US" altLang="zh-CN" dirty="0"/>
              <a:t>2. </a:t>
            </a:r>
            <a:r>
              <a:rPr lang="zh-CN" altLang="en-US" dirty="0"/>
              <a:t>动态交通信息融合</a:t>
            </a:r>
          </a:p>
          <a:p>
            <a:r>
              <a:rPr lang="zh-CN" altLang="en-US" dirty="0"/>
              <a:t>综述指出全局路径规划“不考虑动态障碍物”。将实时交通流、临时管制、事故信息融入全局路径规划，需要动态图更新和在线重规划能力。</a:t>
            </a:r>
          </a:p>
        </p:txBody>
      </p:sp>
      <p:sp>
        <p:nvSpPr>
          <p:cNvPr id="3" name="文本框 2">
            <a:extLst>
              <a:ext uri="{FF2B5EF4-FFF2-40B4-BE49-F238E27FC236}">
                <a16:creationId xmlns:a16="http://schemas.microsoft.com/office/drawing/2014/main" id="{0110611F-C419-1843-E951-F75F55A02E42}"/>
              </a:ext>
            </a:extLst>
          </p:cNvPr>
          <p:cNvSpPr txBox="1"/>
          <p:nvPr/>
        </p:nvSpPr>
        <p:spPr>
          <a:xfrm>
            <a:off x="2159000" y="3947240"/>
            <a:ext cx="6096000" cy="400110"/>
          </a:xfrm>
          <a:prstGeom prst="rect">
            <a:avLst/>
          </a:prstGeom>
          <a:noFill/>
        </p:spPr>
        <p:txBody>
          <a:bodyPr wrap="square">
            <a:spAutoFit/>
          </a:bodyPr>
          <a:lstStyle/>
          <a:p>
            <a:r>
              <a:rPr lang="zh-CN" altLang="en-US" sz="2000" b="1" dirty="0">
                <a:latin typeface="宋体" panose="02010600030101010101" pitchFamily="2" charset="-122"/>
                <a:ea typeface="宋体" panose="02010600030101010101" pitchFamily="2" charset="-122"/>
              </a:rPr>
              <a:t>局部路径规划</a:t>
            </a:r>
            <a:endParaRPr lang="zh-CN" altLang="zh-CN" sz="2000" b="1" dirty="0">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0E96FA58-BF1C-E44C-3EE5-6C79139DD068}"/>
              </a:ext>
            </a:extLst>
          </p:cNvPr>
          <p:cNvSpPr txBox="1"/>
          <p:nvPr/>
        </p:nvSpPr>
        <p:spPr>
          <a:xfrm>
            <a:off x="2222500" y="4436176"/>
            <a:ext cx="9737063" cy="1477328"/>
          </a:xfrm>
          <a:prstGeom prst="rect">
            <a:avLst/>
          </a:prstGeom>
          <a:noFill/>
        </p:spPr>
        <p:txBody>
          <a:bodyPr wrap="square">
            <a:spAutoFit/>
          </a:bodyPr>
          <a:lstStyle/>
          <a:p>
            <a:r>
              <a:rPr lang="zh-CN" altLang="en-US" dirty="0"/>
              <a:t>一方面，交互场景的鲁棒性不足，规划器主要针对自然驾驶数据分布优化，在面对激进切入、协同阻挡等罕见但安全关键的交互场景时表现脆弱，而这类场景在真实数据中严重稀缺，导致模型难以泛化；另一方面，端到端大模型虽能提升泛化与语义推理能力，却带来严苛的车端算力约束，车端芯片在功耗、散热和成本限制下难以支撑多个大网络并行实时推理，算力不足直接制约了长尾场景下大模型规划的响应能力与安全冗余。</a:t>
            </a:r>
          </a:p>
        </p:txBody>
      </p:sp>
    </p:spTree>
    <p:extLst>
      <p:ext uri="{BB962C8B-B14F-4D97-AF65-F5344CB8AC3E}">
        <p14:creationId xmlns:p14="http://schemas.microsoft.com/office/powerpoint/2010/main" val="2598025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FAF3F-9A42-38F8-D2C9-77BC22F3A55C}"/>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97E6B50D-EF18-F4AD-2D37-0630878D4001}"/>
              </a:ext>
            </a:extLst>
          </p:cNvPr>
          <p:cNvSpPr/>
          <p:nvPr/>
        </p:nvSpPr>
        <p:spPr>
          <a:xfrm flipV="1">
            <a:off x="2043767" y="4422098"/>
            <a:ext cx="8104466" cy="45719"/>
          </a:xfrm>
          <a:prstGeom prst="rect">
            <a:avLst/>
          </a:prstGeom>
          <a:solidFill>
            <a:schemeClr val="accent1">
              <a:alpha val="39918"/>
            </a:schemeClr>
          </a:solidFill>
          <a:ln>
            <a:noFill/>
          </a:ln>
          <a:effectLst>
            <a:outerShdw blurRad="387740" dist="38100" algn="l" rotWithShape="0">
              <a:schemeClr val="accent1">
                <a:lumMod val="75000"/>
                <a:alpha val="14476"/>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70ADB1AB-EA59-7A86-3ED6-66A305BE8C7E}"/>
              </a:ext>
            </a:extLst>
          </p:cNvPr>
          <p:cNvSpPr txBox="1"/>
          <p:nvPr/>
        </p:nvSpPr>
        <p:spPr>
          <a:xfrm>
            <a:off x="2176267" y="3149211"/>
            <a:ext cx="7839467" cy="769441"/>
          </a:xfrm>
          <a:prstGeom prst="rect">
            <a:avLst/>
          </a:prstGeom>
          <a:noFill/>
        </p:spPr>
        <p:txBody>
          <a:bodyPr wrap="square" rtlCol="0">
            <a:spAutoFit/>
          </a:bodyPr>
          <a:lstStyle/>
          <a:p>
            <a:pPr algn="ctr"/>
            <a:r>
              <a:rPr kumimoji="1" lang="zh-CN" altLang="en-US" sz="4400" b="1" dirty="0">
                <a:solidFill>
                  <a:schemeClr val="accent5">
                    <a:lumMod val="50000"/>
                  </a:schemeClr>
                </a:solidFill>
                <a:latin typeface="方正小标宋简体" panose="02010601030101010101" pitchFamily="2" charset="-122"/>
                <a:ea typeface="方正小标宋简体" panose="02010601030101010101" pitchFamily="2" charset="-122"/>
                <a:cs typeface="Arial" panose="020B0604020202020204" pitchFamily="34" charset="0"/>
              </a:rPr>
              <a:t>未来展望</a:t>
            </a:r>
          </a:p>
        </p:txBody>
      </p:sp>
      <p:sp>
        <p:nvSpPr>
          <p:cNvPr id="10" name="文本框 9">
            <a:extLst>
              <a:ext uri="{FF2B5EF4-FFF2-40B4-BE49-F238E27FC236}">
                <a16:creationId xmlns:a16="http://schemas.microsoft.com/office/drawing/2014/main" id="{ACEAD0C0-4E3A-AB87-3098-B896B6209F03}"/>
              </a:ext>
            </a:extLst>
          </p:cNvPr>
          <p:cNvSpPr txBox="1"/>
          <p:nvPr/>
        </p:nvSpPr>
        <p:spPr>
          <a:xfrm>
            <a:off x="5033045" y="2128047"/>
            <a:ext cx="2125909" cy="769441"/>
          </a:xfrm>
          <a:prstGeom prst="rect">
            <a:avLst/>
          </a:prstGeom>
          <a:noFill/>
        </p:spPr>
        <p:txBody>
          <a:bodyPr wrap="square" rtlCol="0">
            <a:spAutoFit/>
          </a:bodyPr>
          <a:lstStyle/>
          <a:p>
            <a:pPr algn="ctr"/>
            <a:r>
              <a:rPr kumimoji="1" lang="en-US" altLang="zh-CN" sz="4400" b="1" dirty="0">
                <a:solidFill>
                  <a:schemeClr val="accent5">
                    <a:lumMod val="50000"/>
                  </a:schemeClr>
                </a:solidFill>
                <a:latin typeface="Arial" panose="020B0604020202020204" pitchFamily="34" charset="0"/>
                <a:cs typeface="Arial" panose="020B0604020202020204" pitchFamily="34" charset="0"/>
              </a:rPr>
              <a:t>05</a:t>
            </a:r>
            <a:endParaRPr kumimoji="1" lang="zh-CN" altLang="en-US" sz="4400" b="1" dirty="0">
              <a:solidFill>
                <a:schemeClr val="accent5">
                  <a:lumMod val="50000"/>
                </a:schemeClr>
              </a:solidFill>
              <a:latin typeface="Arial" panose="020B0604020202020204" pitchFamily="34" charset="0"/>
              <a:cs typeface="Arial" panose="020B0604020202020204" pitchFamily="34" charset="0"/>
            </a:endParaRPr>
          </a:p>
        </p:txBody>
      </p:sp>
      <p:sp>
        <p:nvSpPr>
          <p:cNvPr id="2" name="椭圆 1">
            <a:extLst>
              <a:ext uri="{FF2B5EF4-FFF2-40B4-BE49-F238E27FC236}">
                <a16:creationId xmlns:a16="http://schemas.microsoft.com/office/drawing/2014/main" id="{39557C5C-24CC-16F5-CF4B-24826B85808C}"/>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灯片编号占位符 18">
            <a:extLst>
              <a:ext uri="{FF2B5EF4-FFF2-40B4-BE49-F238E27FC236}">
                <a16:creationId xmlns:a16="http://schemas.microsoft.com/office/drawing/2014/main" id="{AC8E6308-21BF-9D9F-0FA3-D64E4A44B789}"/>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47</a:t>
            </a:fld>
            <a:endParaRPr kumimoji="1" lang="zh-CN" alt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2825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E3BC9-DC33-107D-9C1E-0FD1D7FB151D}"/>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C3453C76-C1DF-559E-D69F-1E3092D37A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E2FE2741-990C-D229-7FD1-D00D67C96A16}"/>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284B79A0-8F39-3CD6-2EDD-45DDFD580104}"/>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30AE06A9-668C-B0E7-84C4-BB14B7E32369}"/>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FA911C09-F665-1F99-E067-1B626A4D4DF6}"/>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未来展望</a:t>
            </a:r>
          </a:p>
        </p:txBody>
      </p:sp>
      <p:sp>
        <p:nvSpPr>
          <p:cNvPr id="8" name="文本框 7">
            <a:extLst>
              <a:ext uri="{FF2B5EF4-FFF2-40B4-BE49-F238E27FC236}">
                <a16:creationId xmlns:a16="http://schemas.microsoft.com/office/drawing/2014/main" id="{D533CAA1-EE85-49BE-0EF7-2CAA07C258D1}"/>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E8EBC15C-6960-2F72-F8AD-99643113BA3A}"/>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9" name="椭圆 28">
            <a:extLst>
              <a:ext uri="{FF2B5EF4-FFF2-40B4-BE49-F238E27FC236}">
                <a16:creationId xmlns:a16="http://schemas.microsoft.com/office/drawing/2014/main" id="{9C78FC60-FB30-35B3-D518-9DA41DA0A715}"/>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8BD6E4A5-90CE-8BEB-017D-8DBAE8D9B631}"/>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48</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91C59B09-77EA-14D5-A2A4-8809E7CE2A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DE0574EC-A4D0-D9CB-6109-41243AF153E8}"/>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A1215B08-C3F4-C5B3-2E99-A884EB296EDF}"/>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B7449D5F-8D35-612D-6F5B-AC92E530F69B}"/>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B6F25D46-6CBB-9CA8-B018-9CE905C280D0}"/>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556E2756-49B2-903B-B612-B7DB85A3359B}"/>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CC846D8C-FAFD-1A68-171B-9B5FCF082FA5}"/>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2A5ED233-77BE-46F4-FCCC-8191ACE448BF}"/>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D93A507A-C543-F9A8-BC24-005D4F79DF5C}"/>
              </a:ext>
            </a:extLst>
          </p:cNvPr>
          <p:cNvGrpSpPr/>
          <p:nvPr/>
        </p:nvGrpSpPr>
        <p:grpSpPr>
          <a:xfrm>
            <a:off x="0" y="4058528"/>
            <a:ext cx="1433384" cy="2411906"/>
            <a:chOff x="0" y="4058528"/>
            <a:chExt cx="1433384" cy="2411906"/>
          </a:xfrm>
        </p:grpSpPr>
        <p:sp>
          <p:nvSpPr>
            <p:cNvPr id="33" name="矩形 32">
              <a:extLst>
                <a:ext uri="{FF2B5EF4-FFF2-40B4-BE49-F238E27FC236}">
                  <a16:creationId xmlns:a16="http://schemas.microsoft.com/office/drawing/2014/main" id="{0C6C644B-1257-2AE1-79F0-4A07DBF6A1AC}"/>
                </a:ext>
              </a:extLst>
            </p:cNvPr>
            <p:cNvSpPr/>
            <p:nvPr/>
          </p:nvSpPr>
          <p:spPr>
            <a:xfrm>
              <a:off x="0" y="5824103"/>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B2E0EA22-F696-5B5D-0669-AB12F16DC41C}"/>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grpSp>
      <p:sp>
        <p:nvSpPr>
          <p:cNvPr id="27" name="文本框 26">
            <a:extLst>
              <a:ext uri="{FF2B5EF4-FFF2-40B4-BE49-F238E27FC236}">
                <a16:creationId xmlns:a16="http://schemas.microsoft.com/office/drawing/2014/main" id="{700B1F74-B9D9-6385-7F90-A0B5FFC3DB71}"/>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70CA39D8-85AA-F547-9402-1E251DC27734}"/>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D78774EB-2DC9-9BC6-96E7-74A1873DA8C9}"/>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未来展望</a:t>
            </a:r>
            <a:endParaRPr lang="zh-CN" altLang="en-US" sz="1200" dirty="0"/>
          </a:p>
        </p:txBody>
      </p:sp>
      <p:grpSp>
        <p:nvGrpSpPr>
          <p:cNvPr id="2" name="组合 1">
            <a:extLst>
              <a:ext uri="{FF2B5EF4-FFF2-40B4-BE49-F238E27FC236}">
                <a16:creationId xmlns:a16="http://schemas.microsoft.com/office/drawing/2014/main" id="{97EE7742-6445-A23D-E092-FD3F660B42B2}"/>
              </a:ext>
            </a:extLst>
          </p:cNvPr>
          <p:cNvGrpSpPr/>
          <p:nvPr/>
        </p:nvGrpSpPr>
        <p:grpSpPr>
          <a:xfrm>
            <a:off x="2441537" y="1757902"/>
            <a:ext cx="4970749" cy="2169717"/>
            <a:chOff x="2885274" y="2419090"/>
            <a:chExt cx="3332932" cy="2054717"/>
          </a:xfrm>
        </p:grpSpPr>
        <p:sp>
          <p:nvSpPr>
            <p:cNvPr id="4" name="圆角矩形 1">
              <a:extLst>
                <a:ext uri="{FF2B5EF4-FFF2-40B4-BE49-F238E27FC236}">
                  <a16:creationId xmlns:a16="http://schemas.microsoft.com/office/drawing/2014/main" id="{CAD4D6ED-52D5-6A5C-4A30-561B04735DEF}"/>
                </a:ext>
              </a:extLst>
            </p:cNvPr>
            <p:cNvSpPr/>
            <p:nvPr/>
          </p:nvSpPr>
          <p:spPr>
            <a:xfrm>
              <a:off x="2885274" y="2419090"/>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A72AB026-DE66-ED38-5455-A38D8A63EE89}"/>
                </a:ext>
              </a:extLst>
            </p:cNvPr>
            <p:cNvSpPr txBox="1"/>
            <p:nvPr/>
          </p:nvSpPr>
          <p:spPr>
            <a:xfrm>
              <a:off x="3809564" y="2506672"/>
              <a:ext cx="2408642" cy="262317"/>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 定位与建图</a:t>
              </a:r>
              <a:endParaRPr lang="zh-CN" altLang="en-US" dirty="0"/>
            </a:p>
          </p:txBody>
        </p:sp>
      </p:grpSp>
      <p:grpSp>
        <p:nvGrpSpPr>
          <p:cNvPr id="12" name="组合 11">
            <a:extLst>
              <a:ext uri="{FF2B5EF4-FFF2-40B4-BE49-F238E27FC236}">
                <a16:creationId xmlns:a16="http://schemas.microsoft.com/office/drawing/2014/main" id="{4B669489-9658-1F0F-2C15-11B6CBD39CFB}"/>
              </a:ext>
            </a:extLst>
          </p:cNvPr>
          <p:cNvGrpSpPr/>
          <p:nvPr/>
        </p:nvGrpSpPr>
        <p:grpSpPr>
          <a:xfrm>
            <a:off x="6785767" y="1760865"/>
            <a:ext cx="5741765" cy="2169717"/>
            <a:chOff x="2885274" y="2419091"/>
            <a:chExt cx="3531215" cy="2054717"/>
          </a:xfrm>
        </p:grpSpPr>
        <p:sp>
          <p:nvSpPr>
            <p:cNvPr id="13" name="圆角矩形 1">
              <a:extLst>
                <a:ext uri="{FF2B5EF4-FFF2-40B4-BE49-F238E27FC236}">
                  <a16:creationId xmlns:a16="http://schemas.microsoft.com/office/drawing/2014/main" id="{D2322B20-955C-B21D-E25A-1388670DFCE6}"/>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080006D3-49E9-EB85-FDE5-4DE16CE8C0B9}"/>
                </a:ext>
              </a:extLst>
            </p:cNvPr>
            <p:cNvSpPr txBox="1"/>
            <p:nvPr/>
          </p:nvSpPr>
          <p:spPr>
            <a:xfrm>
              <a:off x="4007847" y="2503867"/>
              <a:ext cx="2408642" cy="262317"/>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目标检测</a:t>
              </a:r>
              <a:endParaRPr lang="zh-CN" altLang="en-US" dirty="0"/>
            </a:p>
          </p:txBody>
        </p:sp>
      </p:grpSp>
      <p:grpSp>
        <p:nvGrpSpPr>
          <p:cNvPr id="24" name="组合 23">
            <a:extLst>
              <a:ext uri="{FF2B5EF4-FFF2-40B4-BE49-F238E27FC236}">
                <a16:creationId xmlns:a16="http://schemas.microsoft.com/office/drawing/2014/main" id="{1B14D7B4-734D-31AF-824A-118192EF9B8F}"/>
              </a:ext>
            </a:extLst>
          </p:cNvPr>
          <p:cNvGrpSpPr/>
          <p:nvPr/>
        </p:nvGrpSpPr>
        <p:grpSpPr>
          <a:xfrm>
            <a:off x="6840003" y="4153217"/>
            <a:ext cx="5500316" cy="2169717"/>
            <a:chOff x="2885274" y="2419091"/>
            <a:chExt cx="3433781" cy="2054717"/>
          </a:xfrm>
        </p:grpSpPr>
        <p:sp>
          <p:nvSpPr>
            <p:cNvPr id="34" name="圆角矩形 1">
              <a:extLst>
                <a:ext uri="{FF2B5EF4-FFF2-40B4-BE49-F238E27FC236}">
                  <a16:creationId xmlns:a16="http://schemas.microsoft.com/office/drawing/2014/main" id="{18786B14-0E09-60EC-F8AA-0355BA643E1E}"/>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EA22E7B1-EE72-5FCF-2230-6CF6481FFEFC}"/>
                </a:ext>
              </a:extLst>
            </p:cNvPr>
            <p:cNvSpPr txBox="1"/>
            <p:nvPr/>
          </p:nvSpPr>
          <p:spPr>
            <a:xfrm>
              <a:off x="3910413" y="2501129"/>
              <a:ext cx="2408642" cy="262317"/>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预测与跟踪</a:t>
              </a:r>
              <a:endParaRPr lang="zh-CN" altLang="en-US" dirty="0"/>
            </a:p>
          </p:txBody>
        </p:sp>
        <p:sp>
          <p:nvSpPr>
            <p:cNvPr id="38" name="文本框 37">
              <a:extLst>
                <a:ext uri="{FF2B5EF4-FFF2-40B4-BE49-F238E27FC236}">
                  <a16:creationId xmlns:a16="http://schemas.microsoft.com/office/drawing/2014/main" id="{E7A89702-F973-4814-375D-180FA7D97545}"/>
                </a:ext>
              </a:extLst>
            </p:cNvPr>
            <p:cNvSpPr txBox="1"/>
            <p:nvPr/>
          </p:nvSpPr>
          <p:spPr>
            <a:xfrm>
              <a:off x="2955549" y="2970393"/>
              <a:ext cx="2711589" cy="1289727"/>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zh-CN" sz="1000" b="0" i="0" dirty="0">
                  <a:solidFill>
                    <a:srgbClr val="0F1115"/>
                  </a:solidFill>
                  <a:effectLst/>
                  <a:latin typeface="quote-cjk-patch"/>
                </a:rPr>
                <a:t>联合感知与跟踪：端到端优化，稳定跟踪修正检测。</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交互感知预测：Transformer/图神经网络建模长时依赖与博弈交互。</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端到端预测规划：预测与规划共享编码器，协同优化。</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不确定性建模：概率预测与安全验证结合。</a:t>
              </a:r>
            </a:p>
          </p:txBody>
        </p:sp>
      </p:grpSp>
      <p:grpSp>
        <p:nvGrpSpPr>
          <p:cNvPr id="40" name="组合 39">
            <a:extLst>
              <a:ext uri="{FF2B5EF4-FFF2-40B4-BE49-F238E27FC236}">
                <a16:creationId xmlns:a16="http://schemas.microsoft.com/office/drawing/2014/main" id="{E09D59D6-59B8-8EAD-A0D1-17A7E7D60C9D}"/>
              </a:ext>
            </a:extLst>
          </p:cNvPr>
          <p:cNvGrpSpPr/>
          <p:nvPr/>
        </p:nvGrpSpPr>
        <p:grpSpPr>
          <a:xfrm>
            <a:off x="2441537" y="4168658"/>
            <a:ext cx="5567905" cy="2230478"/>
            <a:chOff x="2885274" y="2419091"/>
            <a:chExt cx="3673772" cy="2112258"/>
          </a:xfrm>
        </p:grpSpPr>
        <p:sp>
          <p:nvSpPr>
            <p:cNvPr id="41" name="圆角矩形 1">
              <a:extLst>
                <a:ext uri="{FF2B5EF4-FFF2-40B4-BE49-F238E27FC236}">
                  <a16:creationId xmlns:a16="http://schemas.microsoft.com/office/drawing/2014/main" id="{A0A84425-2758-35AE-82D3-0D5FB0597773}"/>
                </a:ext>
              </a:extLst>
            </p:cNvPr>
            <p:cNvSpPr/>
            <p:nvPr/>
          </p:nvSpPr>
          <p:spPr>
            <a:xfrm>
              <a:off x="2885274" y="2419091"/>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296EDBE4-A702-304F-F503-300691730DD7}"/>
                </a:ext>
              </a:extLst>
            </p:cNvPr>
            <p:cNvSpPr txBox="1"/>
            <p:nvPr/>
          </p:nvSpPr>
          <p:spPr>
            <a:xfrm>
              <a:off x="3901691" y="2466964"/>
              <a:ext cx="2657355" cy="262317"/>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场景理解</a:t>
              </a:r>
              <a:endParaRPr lang="zh-CN" altLang="en-US" dirty="0"/>
            </a:p>
          </p:txBody>
        </p:sp>
        <p:sp>
          <p:nvSpPr>
            <p:cNvPr id="43" name="文本框 42">
              <a:extLst>
                <a:ext uri="{FF2B5EF4-FFF2-40B4-BE49-F238E27FC236}">
                  <a16:creationId xmlns:a16="http://schemas.microsoft.com/office/drawing/2014/main" id="{ACEB643C-9074-15D1-6702-7168C804648A}"/>
                </a:ext>
              </a:extLst>
            </p:cNvPr>
            <p:cNvSpPr txBox="1"/>
            <p:nvPr/>
          </p:nvSpPr>
          <p:spPr>
            <a:xfrm>
              <a:off x="2913934" y="2950158"/>
              <a:ext cx="2711589" cy="1581191"/>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zh-CN" sz="1000" b="0" i="0" dirty="0">
                  <a:solidFill>
                    <a:srgbClr val="0F1115"/>
                  </a:solidFill>
                  <a:effectLst/>
                  <a:latin typeface="quote-cjk-patch"/>
                </a:rPr>
                <a:t>多任务联合学习：分割+深度+光流联合训练，减少负迁移。</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自监督/半监督：降低像素级标注成本，提升泛化能力。</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Transformer深度估计：提升长程关联与局部信息融合。</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与检测、跟踪深度融合：场景理解作为中间层增强下游任务。</a:t>
              </a:r>
            </a:p>
            <a:p>
              <a:endParaRPr lang="zh-CN" altLang="en-US" sz="1000" b="0" i="0" dirty="0">
                <a:solidFill>
                  <a:schemeClr val="tx1"/>
                </a:solidFill>
                <a:effectLst/>
                <a:latin typeface="+mn-lt"/>
              </a:endParaRPr>
            </a:p>
          </p:txBody>
        </p:sp>
      </p:grpSp>
      <p:sp>
        <p:nvSpPr>
          <p:cNvPr id="45" name="文本框 44">
            <a:extLst>
              <a:ext uri="{FF2B5EF4-FFF2-40B4-BE49-F238E27FC236}">
                <a16:creationId xmlns:a16="http://schemas.microsoft.com/office/drawing/2014/main" id="{2EF51453-93B5-F8F1-8A2A-1E7DC71F7A54}"/>
              </a:ext>
            </a:extLst>
          </p:cNvPr>
          <p:cNvSpPr txBox="1"/>
          <p:nvPr/>
        </p:nvSpPr>
        <p:spPr>
          <a:xfrm>
            <a:off x="2672323" y="2331967"/>
            <a:ext cx="3582502" cy="1451679"/>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zh-CN" sz="1000" b="0" i="0" dirty="0">
                <a:solidFill>
                  <a:srgbClr val="0F1115"/>
                </a:solidFill>
                <a:effectLst/>
                <a:latin typeface="quote-cjk-patch"/>
              </a:rPr>
              <a:t>多传感器紧耦合与在线标定：解决长期运行中标定漂移问题，提升融合鲁棒性。</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车路协同定位：V2V/V2I融合多源信息，突破GNSS退化场景。</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语义SLAM与学习增强：在定位建图同时赋予环境语义，直接服务下游规划。</a:t>
            </a:r>
          </a:p>
        </p:txBody>
      </p:sp>
      <p:sp>
        <p:nvSpPr>
          <p:cNvPr id="47" name="文本框 46">
            <a:extLst>
              <a:ext uri="{FF2B5EF4-FFF2-40B4-BE49-F238E27FC236}">
                <a16:creationId xmlns:a16="http://schemas.microsoft.com/office/drawing/2014/main" id="{9FF05E17-078E-E58F-9CB7-1B6A44B5D713}"/>
              </a:ext>
            </a:extLst>
          </p:cNvPr>
          <p:cNvSpPr txBox="1"/>
          <p:nvPr/>
        </p:nvSpPr>
        <p:spPr>
          <a:xfrm>
            <a:off x="6844230" y="2127385"/>
            <a:ext cx="4984540" cy="1772280"/>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zh-CN" sz="1050" b="0" i="0" dirty="0">
                <a:solidFill>
                  <a:srgbClr val="0F1115"/>
                </a:solidFill>
                <a:effectLst/>
                <a:latin typeface="quote-cjk-patch"/>
              </a:rPr>
              <a:t>BEV + Transformer统一表征：从各自坐标系检测走向统一空间检测。</a:t>
            </a:r>
          </a:p>
          <a:p>
            <a:pPr marL="0" marR="0" lvl="0" indent="-342900" algn="l">
              <a:spcBef>
                <a:spcPts val="450"/>
              </a:spcBef>
              <a:spcAft>
                <a:spcPts val="1200"/>
              </a:spcAft>
              <a:buFont typeface="Arial" panose="020B0604020202020204" pitchFamily="34" charset="0"/>
              <a:buChar char="•"/>
            </a:pPr>
            <a:r>
              <a:rPr lang="zh-CN" altLang="zh-CN" sz="1050" b="0" i="0" dirty="0">
                <a:solidFill>
                  <a:srgbClr val="0F1115"/>
                </a:solidFill>
                <a:effectLst/>
                <a:latin typeface="quote-cjk-patch"/>
              </a:rPr>
              <a:t>Occupancy 3D体素：突破类别封闭性，预测每个体素占据状态。</a:t>
            </a:r>
          </a:p>
          <a:p>
            <a:pPr marL="0" marR="0" lvl="0" indent="-342900" algn="l">
              <a:spcBef>
                <a:spcPts val="450"/>
              </a:spcBef>
              <a:spcAft>
                <a:spcPts val="1200"/>
              </a:spcAft>
              <a:buFont typeface="Arial" panose="020B0604020202020204" pitchFamily="34" charset="0"/>
              <a:buChar char="•"/>
            </a:pPr>
            <a:r>
              <a:rPr lang="zh-CN" altLang="zh-CN" sz="1050" b="0" i="0" dirty="0">
                <a:solidFill>
                  <a:srgbClr val="0F1115"/>
                </a:solidFill>
                <a:effectLst/>
                <a:latin typeface="quote-cjk-patch"/>
              </a:rPr>
              <a:t>多模态融合：相机+LiDAR+雷达+事件相机，提升全天候鲁棒性。</a:t>
            </a:r>
          </a:p>
          <a:p>
            <a:pPr marL="0" marR="0" lvl="0" indent="-342900" algn="l">
              <a:spcBef>
                <a:spcPts val="450"/>
              </a:spcBef>
              <a:spcAft>
                <a:spcPts val="1200"/>
              </a:spcAft>
              <a:buFont typeface="Arial" panose="020B0604020202020204" pitchFamily="34" charset="0"/>
              <a:buChar char="•"/>
            </a:pPr>
            <a:r>
              <a:rPr lang="zh-CN" altLang="zh-CN" sz="1050" b="0" i="0" dirty="0">
                <a:solidFill>
                  <a:srgbClr val="0F1115"/>
                </a:solidFill>
                <a:effectLst/>
                <a:latin typeface="quote-cjk-patch"/>
              </a:rPr>
              <a:t>开放词汇检测：利用VLM实现零样本、长尾目标检测。</a:t>
            </a:r>
          </a:p>
          <a:p>
            <a:pPr marL="0" marR="0" lvl="0" indent="-342900" algn="l">
              <a:spcBef>
                <a:spcPts val="450"/>
              </a:spcBef>
              <a:spcAft>
                <a:spcPts val="1200"/>
              </a:spcAft>
              <a:buFont typeface="Arial" panose="020B0604020202020204" pitchFamily="34" charset="0"/>
              <a:buChar char="•"/>
            </a:pPr>
            <a:r>
              <a:rPr lang="zh-CN" altLang="zh-CN" sz="1050" b="0" i="0" dirty="0">
                <a:solidFill>
                  <a:srgbClr val="0F1115"/>
                </a:solidFill>
                <a:effectLst/>
                <a:latin typeface="quote-cjk-patch"/>
              </a:rPr>
              <a:t>对抗鲁棒性：提升对物理对抗攻击的防御能力。</a:t>
            </a:r>
          </a:p>
        </p:txBody>
      </p:sp>
      <p:sp>
        <p:nvSpPr>
          <p:cNvPr id="49" name="文本框 48">
            <a:extLst>
              <a:ext uri="{FF2B5EF4-FFF2-40B4-BE49-F238E27FC236}">
                <a16:creationId xmlns:a16="http://schemas.microsoft.com/office/drawing/2014/main" id="{4A1B60C5-AE71-47A6-3241-5B035EC5EF00}"/>
              </a:ext>
            </a:extLst>
          </p:cNvPr>
          <p:cNvSpPr txBox="1"/>
          <p:nvPr/>
        </p:nvSpPr>
        <p:spPr>
          <a:xfrm>
            <a:off x="2484974" y="1178780"/>
            <a:ext cx="6262718" cy="430887"/>
          </a:xfrm>
          <a:prstGeom prst="rect">
            <a:avLst/>
          </a:prstGeom>
          <a:noFill/>
        </p:spPr>
        <p:txBody>
          <a:bodyPr wrap="square">
            <a:spAutoFit/>
          </a:bodyPr>
          <a:lstStyle/>
          <a:p>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感知模块</a:t>
            </a:r>
            <a:endParaRPr lang="zh-CN" altLang="en-US" dirty="0"/>
          </a:p>
        </p:txBody>
      </p:sp>
    </p:spTree>
    <p:extLst>
      <p:ext uri="{BB962C8B-B14F-4D97-AF65-F5344CB8AC3E}">
        <p14:creationId xmlns:p14="http://schemas.microsoft.com/office/powerpoint/2010/main" val="2895573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6D498-7F89-2BB6-54F9-D43223732372}"/>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D3F26331-7459-A9E8-D172-E7076F3FC7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50166"/>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8F66BAE7-DB08-BD39-CC42-55BD563DB853}"/>
              </a:ext>
            </a:extLst>
          </p:cNvPr>
          <p:cNvSpPr txBox="1"/>
          <p:nvPr/>
        </p:nvSpPr>
        <p:spPr>
          <a:xfrm>
            <a:off x="198050" y="5160579"/>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7" name="文本框 6">
            <a:extLst>
              <a:ext uri="{FF2B5EF4-FFF2-40B4-BE49-F238E27FC236}">
                <a16:creationId xmlns:a16="http://schemas.microsoft.com/office/drawing/2014/main" id="{A7EA7BD5-E7B8-95EC-86AF-9C09411153D3}"/>
              </a:ext>
            </a:extLst>
          </p:cNvPr>
          <p:cNvSpPr txBox="1"/>
          <p:nvPr/>
        </p:nvSpPr>
        <p:spPr>
          <a:xfrm>
            <a:off x="198050" y="1725997"/>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cxnSp>
        <p:nvCxnSpPr>
          <p:cNvPr id="14" name="直线连接符 13">
            <a:extLst>
              <a:ext uri="{FF2B5EF4-FFF2-40B4-BE49-F238E27FC236}">
                <a16:creationId xmlns:a16="http://schemas.microsoft.com/office/drawing/2014/main" id="{69054D81-2386-6DDB-0ACB-0207C20257BE}"/>
              </a:ext>
            </a:extLst>
          </p:cNvPr>
          <p:cNvCxnSpPr/>
          <p:nvPr/>
        </p:nvCxnSpPr>
        <p:spPr>
          <a:xfrm>
            <a:off x="2101516" y="956071"/>
            <a:ext cx="94648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A1EC128D-1A2E-1B3B-60DB-28A5CA3F933A}"/>
              </a:ext>
            </a:extLst>
          </p:cNvPr>
          <p:cNvSpPr txBox="1"/>
          <p:nvPr/>
        </p:nvSpPr>
        <p:spPr>
          <a:xfrm>
            <a:off x="2101517" y="427184"/>
            <a:ext cx="9464842" cy="430887"/>
          </a:xfrm>
          <a:prstGeom prst="rect">
            <a:avLst/>
          </a:prstGeom>
          <a:noFill/>
        </p:spPr>
        <p:txBody>
          <a:bodyPr wrap="square" rtlCol="0">
            <a:spAutoFit/>
          </a:bodyPr>
          <a:lstStyle/>
          <a:p>
            <a:pPr marL="342900" indent="-342900">
              <a:buSzPct val="85000"/>
              <a:buFont typeface="Wingdings" panose="05000000000000000000" pitchFamily="2" charset="2"/>
              <a:buChar char="n"/>
            </a:pPr>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未来展望</a:t>
            </a:r>
          </a:p>
        </p:txBody>
      </p:sp>
      <p:sp>
        <p:nvSpPr>
          <p:cNvPr id="8" name="文本框 7">
            <a:extLst>
              <a:ext uri="{FF2B5EF4-FFF2-40B4-BE49-F238E27FC236}">
                <a16:creationId xmlns:a16="http://schemas.microsoft.com/office/drawing/2014/main" id="{7CE64C74-2168-37BF-D726-8270182A7F3D}"/>
              </a:ext>
            </a:extLst>
          </p:cNvPr>
          <p:cNvSpPr txBox="1"/>
          <p:nvPr/>
        </p:nvSpPr>
        <p:spPr>
          <a:xfrm>
            <a:off x="198050" y="2538476"/>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Education Experience</a:t>
            </a:r>
            <a:endParaRPr lang="zh-CN" altLang="en-US" sz="1200" dirty="0">
              <a:solidFill>
                <a:schemeClr val="bg1"/>
              </a:solidFill>
            </a:endParaRPr>
          </a:p>
        </p:txBody>
      </p:sp>
      <p:sp>
        <p:nvSpPr>
          <p:cNvPr id="9" name="文本框 8">
            <a:extLst>
              <a:ext uri="{FF2B5EF4-FFF2-40B4-BE49-F238E27FC236}">
                <a16:creationId xmlns:a16="http://schemas.microsoft.com/office/drawing/2014/main" id="{6C069926-7F72-492B-63E2-49DD0F25C46C}"/>
              </a:ext>
            </a:extLst>
          </p:cNvPr>
          <p:cNvSpPr txBox="1"/>
          <p:nvPr/>
        </p:nvSpPr>
        <p:spPr>
          <a:xfrm>
            <a:off x="198050" y="3350955"/>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9" name="椭圆 28">
            <a:extLst>
              <a:ext uri="{FF2B5EF4-FFF2-40B4-BE49-F238E27FC236}">
                <a16:creationId xmlns:a16="http://schemas.microsoft.com/office/drawing/2014/main" id="{3AB751F4-513C-DB42-D236-2E2F4BCBBE60}"/>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灯片编号占位符 18">
            <a:extLst>
              <a:ext uri="{FF2B5EF4-FFF2-40B4-BE49-F238E27FC236}">
                <a16:creationId xmlns:a16="http://schemas.microsoft.com/office/drawing/2014/main" id="{5444F24F-E787-D068-AD07-21EE8CF00E2E}"/>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49</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18" name="Picture 2">
            <a:extLst>
              <a:ext uri="{FF2B5EF4-FFF2-40B4-BE49-F238E27FC236}">
                <a16:creationId xmlns:a16="http://schemas.microsoft.com/office/drawing/2014/main" id="{618BCAB8-C173-E6F6-29A7-2F1AC322CF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100"/>
          <a:stretch>
            <a:fillRect/>
          </a:stretch>
        </p:blipFill>
        <p:spPr bwMode="auto">
          <a:xfrm>
            <a:off x="307452" y="467359"/>
            <a:ext cx="862204" cy="87123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52029565-8ECE-2C89-B1E6-B79463C18C69}"/>
              </a:ext>
            </a:extLst>
          </p:cNvPr>
          <p:cNvSpPr txBox="1"/>
          <p:nvPr/>
        </p:nvSpPr>
        <p:spPr>
          <a:xfrm>
            <a:off x="198050" y="3552814"/>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Work Experience</a:t>
            </a:r>
            <a:endParaRPr lang="zh-CN" altLang="en-US" sz="1200" dirty="0">
              <a:solidFill>
                <a:schemeClr val="bg1"/>
              </a:solidFill>
            </a:endParaRPr>
          </a:p>
        </p:txBody>
      </p:sp>
      <p:sp>
        <p:nvSpPr>
          <p:cNvPr id="20" name="文本框 19">
            <a:extLst>
              <a:ext uri="{FF2B5EF4-FFF2-40B4-BE49-F238E27FC236}">
                <a16:creationId xmlns:a16="http://schemas.microsoft.com/office/drawing/2014/main" id="{712E28F2-DB78-6FE8-957E-B5B8FA4F027D}"/>
              </a:ext>
            </a:extLst>
          </p:cNvPr>
          <p:cNvSpPr txBox="1"/>
          <p:nvPr/>
        </p:nvSpPr>
        <p:spPr>
          <a:xfrm>
            <a:off x="198050" y="4365293"/>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Master Research</a:t>
            </a:r>
            <a:endParaRPr lang="zh-CN" altLang="en-US" sz="1200" dirty="0">
              <a:solidFill>
                <a:schemeClr val="bg1"/>
              </a:solidFill>
            </a:endParaRPr>
          </a:p>
        </p:txBody>
      </p:sp>
      <p:sp>
        <p:nvSpPr>
          <p:cNvPr id="21" name="文本框 20">
            <a:extLst>
              <a:ext uri="{FF2B5EF4-FFF2-40B4-BE49-F238E27FC236}">
                <a16:creationId xmlns:a16="http://schemas.microsoft.com/office/drawing/2014/main" id="{F58AC022-7726-CCC4-D2BB-E98FF917557C}"/>
              </a:ext>
            </a:extLst>
          </p:cNvPr>
          <p:cNvSpPr txBox="1"/>
          <p:nvPr/>
        </p:nvSpPr>
        <p:spPr>
          <a:xfrm>
            <a:off x="198050" y="5177772"/>
            <a:ext cx="1076770" cy="646331"/>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Doctoral Research Plan</a:t>
            </a:r>
            <a:endParaRPr lang="zh-CN" altLang="en-US" sz="1200" dirty="0">
              <a:solidFill>
                <a:schemeClr val="bg1"/>
              </a:solidFill>
            </a:endParaRPr>
          </a:p>
        </p:txBody>
      </p:sp>
      <p:sp>
        <p:nvSpPr>
          <p:cNvPr id="22" name="文本框 21">
            <a:extLst>
              <a:ext uri="{FF2B5EF4-FFF2-40B4-BE49-F238E27FC236}">
                <a16:creationId xmlns:a16="http://schemas.microsoft.com/office/drawing/2014/main" id="{C35739BE-FAE5-03FF-A638-0EC9559D3647}"/>
              </a:ext>
            </a:extLst>
          </p:cNvPr>
          <p:cNvSpPr txBox="1"/>
          <p:nvPr/>
        </p:nvSpPr>
        <p:spPr>
          <a:xfrm>
            <a:off x="198050" y="1743190"/>
            <a:ext cx="1076770" cy="461665"/>
          </a:xfrm>
          <a:prstGeom prst="rect">
            <a:avLst/>
          </a:prstGeom>
          <a:noFill/>
        </p:spPr>
        <p:txBody>
          <a:bodyPr wrap="square">
            <a:spAutoFit/>
          </a:bodyPr>
          <a:lstStyle/>
          <a:p>
            <a:r>
              <a:rPr kumimoji="1" lang="en-GB" altLang="zh-CN" sz="1200" b="1" dirty="0">
                <a:solidFill>
                  <a:schemeClr val="bg1"/>
                </a:solidFill>
                <a:latin typeface="Arial" panose="020B0604020202020204" pitchFamily="34" charset="0"/>
                <a:cs typeface="Arial" panose="020B0604020202020204" pitchFamily="34" charset="0"/>
              </a:rPr>
              <a:t>Personal Introduction</a:t>
            </a:r>
            <a:endParaRPr lang="zh-CN" altLang="en-US" sz="1200" dirty="0">
              <a:solidFill>
                <a:schemeClr val="bg1"/>
              </a:solidFill>
            </a:endParaRPr>
          </a:p>
        </p:txBody>
      </p:sp>
      <p:sp>
        <p:nvSpPr>
          <p:cNvPr id="23" name="矩形 22">
            <a:extLst>
              <a:ext uri="{FF2B5EF4-FFF2-40B4-BE49-F238E27FC236}">
                <a16:creationId xmlns:a16="http://schemas.microsoft.com/office/drawing/2014/main" id="{DFFC3653-E6C8-AF03-46C3-2FDF6D6F7F90}"/>
              </a:ext>
            </a:extLst>
          </p:cNvPr>
          <p:cNvSpPr/>
          <p:nvPr/>
        </p:nvSpPr>
        <p:spPr>
          <a:xfrm>
            <a:off x="0" y="17193"/>
            <a:ext cx="1433384"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C196F123-FD7A-FFFE-EE75-AC36A8CFA8AF}"/>
              </a:ext>
            </a:extLst>
          </p:cNvPr>
          <p:cNvSpPr txBox="1"/>
          <p:nvPr/>
        </p:nvSpPr>
        <p:spPr>
          <a:xfrm>
            <a:off x="198050" y="1835522"/>
            <a:ext cx="1076770" cy="461665"/>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研究背景与文献概述</a:t>
            </a:r>
          </a:p>
        </p:txBody>
      </p:sp>
      <p:sp>
        <p:nvSpPr>
          <p:cNvPr id="25" name="文本框 24">
            <a:extLst>
              <a:ext uri="{FF2B5EF4-FFF2-40B4-BE49-F238E27FC236}">
                <a16:creationId xmlns:a16="http://schemas.microsoft.com/office/drawing/2014/main" id="{721E106E-89E5-36E5-0DFE-65223E03AD87}"/>
              </a:ext>
            </a:extLst>
          </p:cNvPr>
          <p:cNvSpPr txBox="1"/>
          <p:nvPr/>
        </p:nvSpPr>
        <p:spPr>
          <a:xfrm>
            <a:off x="178307" y="2900859"/>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感知模块技术路线演进脉络</a:t>
            </a:r>
            <a:endParaRPr lang="zh-CN" altLang="en-US" sz="1200" dirty="0">
              <a:solidFill>
                <a:schemeClr val="bg1"/>
              </a:solidFill>
            </a:endParaRPr>
          </a:p>
        </p:txBody>
      </p:sp>
      <p:grpSp>
        <p:nvGrpSpPr>
          <p:cNvPr id="28" name="组合 27">
            <a:extLst>
              <a:ext uri="{FF2B5EF4-FFF2-40B4-BE49-F238E27FC236}">
                <a16:creationId xmlns:a16="http://schemas.microsoft.com/office/drawing/2014/main" id="{D4D54CF0-26CC-ADFD-7AD1-6B6C6253145B}"/>
              </a:ext>
            </a:extLst>
          </p:cNvPr>
          <p:cNvGrpSpPr/>
          <p:nvPr/>
        </p:nvGrpSpPr>
        <p:grpSpPr>
          <a:xfrm>
            <a:off x="0" y="4058528"/>
            <a:ext cx="1433384" cy="2411906"/>
            <a:chOff x="0" y="4058528"/>
            <a:chExt cx="1433384" cy="2411906"/>
          </a:xfrm>
        </p:grpSpPr>
        <p:sp>
          <p:nvSpPr>
            <p:cNvPr id="33" name="矩形 32">
              <a:extLst>
                <a:ext uri="{FF2B5EF4-FFF2-40B4-BE49-F238E27FC236}">
                  <a16:creationId xmlns:a16="http://schemas.microsoft.com/office/drawing/2014/main" id="{408401B5-D9EE-4954-4580-437B1C8023CF}"/>
                </a:ext>
              </a:extLst>
            </p:cNvPr>
            <p:cNvSpPr/>
            <p:nvPr/>
          </p:nvSpPr>
          <p:spPr>
            <a:xfrm>
              <a:off x="0" y="5824103"/>
              <a:ext cx="1433384" cy="646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BC2EDFD4-4BAD-3483-E603-25B75AE9597A}"/>
                </a:ext>
              </a:extLst>
            </p:cNvPr>
            <p:cNvSpPr txBox="1"/>
            <p:nvPr/>
          </p:nvSpPr>
          <p:spPr>
            <a:xfrm>
              <a:off x="178307" y="4058528"/>
              <a:ext cx="1076770" cy="646331"/>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规划模块技术路线演进脉络</a:t>
              </a:r>
              <a:endParaRPr lang="zh-CN" altLang="en-US" sz="1200" dirty="0">
                <a:solidFill>
                  <a:schemeClr val="bg1"/>
                </a:solidFill>
              </a:endParaRPr>
            </a:p>
          </p:txBody>
        </p:sp>
      </p:grpSp>
      <p:sp>
        <p:nvSpPr>
          <p:cNvPr id="27" name="文本框 26">
            <a:extLst>
              <a:ext uri="{FF2B5EF4-FFF2-40B4-BE49-F238E27FC236}">
                <a16:creationId xmlns:a16="http://schemas.microsoft.com/office/drawing/2014/main" id="{8D5CA236-2B5D-EF99-D2A9-1F7B3233F09B}"/>
              </a:ext>
            </a:extLst>
          </p:cNvPr>
          <p:cNvSpPr txBox="1"/>
          <p:nvPr/>
        </p:nvSpPr>
        <p:spPr>
          <a:xfrm>
            <a:off x="178307" y="5216197"/>
            <a:ext cx="1076770" cy="276999"/>
          </a:xfrm>
          <a:prstGeom prst="rect">
            <a:avLst/>
          </a:prstGeom>
          <a:noFill/>
        </p:spPr>
        <p:txBody>
          <a:bodyPr wrap="square">
            <a:spAutoFit/>
          </a:bodyPr>
          <a:lstStyle/>
          <a:p>
            <a:r>
              <a:rPr kumimoji="1" lang="zh-CN" altLang="en-US" sz="1200" b="1" dirty="0">
                <a:solidFill>
                  <a:schemeClr val="bg1"/>
                </a:solidFill>
                <a:latin typeface="Arial" panose="020B0604020202020204" pitchFamily="34" charset="0"/>
                <a:cs typeface="Arial" panose="020B0604020202020204" pitchFamily="34" charset="0"/>
              </a:rPr>
              <a:t>当前挑战</a:t>
            </a:r>
            <a:endParaRPr lang="zh-CN" altLang="en-US" sz="1200" dirty="0">
              <a:solidFill>
                <a:schemeClr val="bg1"/>
              </a:solidFill>
            </a:endParaRPr>
          </a:p>
        </p:txBody>
      </p:sp>
      <p:pic>
        <p:nvPicPr>
          <p:cNvPr id="31" name="图片 30">
            <a:extLst>
              <a:ext uri="{FF2B5EF4-FFF2-40B4-BE49-F238E27FC236}">
                <a16:creationId xmlns:a16="http://schemas.microsoft.com/office/drawing/2014/main" id="{435CC9CA-DB3C-0373-0D4B-F6D67C7CC106}"/>
              </a:ext>
            </a:extLst>
          </p:cNvPr>
          <p:cNvPicPr>
            <a:picLocks noChangeAspect="1"/>
          </p:cNvPicPr>
          <p:nvPr/>
        </p:nvPicPr>
        <p:blipFill>
          <a:blip r:embed="rId3"/>
          <a:stretch>
            <a:fillRect/>
          </a:stretch>
        </p:blipFill>
        <p:spPr>
          <a:xfrm>
            <a:off x="50800" y="214667"/>
            <a:ext cx="1331784" cy="954865"/>
          </a:xfrm>
          <a:prstGeom prst="rect">
            <a:avLst/>
          </a:prstGeom>
        </p:spPr>
      </p:pic>
      <p:sp>
        <p:nvSpPr>
          <p:cNvPr id="32" name="文本框 31">
            <a:extLst>
              <a:ext uri="{FF2B5EF4-FFF2-40B4-BE49-F238E27FC236}">
                <a16:creationId xmlns:a16="http://schemas.microsoft.com/office/drawing/2014/main" id="{2BC28381-D871-A284-B38A-E294AABB6997}"/>
              </a:ext>
            </a:extLst>
          </p:cNvPr>
          <p:cNvSpPr txBox="1"/>
          <p:nvPr/>
        </p:nvSpPr>
        <p:spPr>
          <a:xfrm>
            <a:off x="178307" y="6004533"/>
            <a:ext cx="1076770" cy="276999"/>
          </a:xfrm>
          <a:prstGeom prst="rect">
            <a:avLst/>
          </a:prstGeom>
          <a:noFill/>
        </p:spPr>
        <p:txBody>
          <a:bodyPr wrap="square">
            <a:spAutoFit/>
          </a:bodyPr>
          <a:lstStyle/>
          <a:p>
            <a:r>
              <a:rPr kumimoji="1" lang="zh-CN" altLang="en-US" sz="1200" b="1" dirty="0">
                <a:latin typeface="Arial" panose="020B0604020202020204" pitchFamily="34" charset="0"/>
                <a:cs typeface="Arial" panose="020B0604020202020204" pitchFamily="34" charset="0"/>
              </a:rPr>
              <a:t>未来展望</a:t>
            </a:r>
            <a:endParaRPr lang="zh-CN" altLang="en-US" sz="1200" dirty="0"/>
          </a:p>
        </p:txBody>
      </p:sp>
      <p:grpSp>
        <p:nvGrpSpPr>
          <p:cNvPr id="2" name="组合 1">
            <a:extLst>
              <a:ext uri="{FF2B5EF4-FFF2-40B4-BE49-F238E27FC236}">
                <a16:creationId xmlns:a16="http://schemas.microsoft.com/office/drawing/2014/main" id="{14993D83-C725-4CB1-2E7C-1B2629B7012F}"/>
              </a:ext>
            </a:extLst>
          </p:cNvPr>
          <p:cNvGrpSpPr/>
          <p:nvPr/>
        </p:nvGrpSpPr>
        <p:grpSpPr>
          <a:xfrm>
            <a:off x="1931619" y="2344141"/>
            <a:ext cx="5168789" cy="3080887"/>
            <a:chOff x="2885274" y="2419090"/>
            <a:chExt cx="3332932" cy="2054717"/>
          </a:xfrm>
        </p:grpSpPr>
        <p:sp>
          <p:nvSpPr>
            <p:cNvPr id="4" name="圆角矩形 1">
              <a:extLst>
                <a:ext uri="{FF2B5EF4-FFF2-40B4-BE49-F238E27FC236}">
                  <a16:creationId xmlns:a16="http://schemas.microsoft.com/office/drawing/2014/main" id="{00F5BA15-A1CD-05F8-B3B9-5D36924FA5AD}"/>
                </a:ext>
              </a:extLst>
            </p:cNvPr>
            <p:cNvSpPr/>
            <p:nvPr/>
          </p:nvSpPr>
          <p:spPr>
            <a:xfrm>
              <a:off x="2885274" y="2419090"/>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A9456EA5-315C-9E38-FB4F-1D914145E22E}"/>
                </a:ext>
              </a:extLst>
            </p:cNvPr>
            <p:cNvSpPr txBox="1"/>
            <p:nvPr/>
          </p:nvSpPr>
          <p:spPr>
            <a:xfrm>
              <a:off x="3809564" y="2506672"/>
              <a:ext cx="2408642" cy="492633"/>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全局路径规划</a:t>
              </a:r>
            </a:p>
            <a:p>
              <a:endParaRPr lang="zh-CN" altLang="en-US" sz="1200" b="1" dirty="0">
                <a:latin typeface="宋体" panose="02010600030101010101" pitchFamily="2" charset="-122"/>
                <a:ea typeface="宋体" panose="02010600030101010101" pitchFamily="2" charset="-122"/>
              </a:endParaRPr>
            </a:p>
            <a:p>
              <a:endParaRPr lang="zh-CN" altLang="en-US" dirty="0"/>
            </a:p>
          </p:txBody>
        </p:sp>
      </p:grpSp>
      <p:sp>
        <p:nvSpPr>
          <p:cNvPr id="49" name="文本框 48">
            <a:extLst>
              <a:ext uri="{FF2B5EF4-FFF2-40B4-BE49-F238E27FC236}">
                <a16:creationId xmlns:a16="http://schemas.microsoft.com/office/drawing/2014/main" id="{3A7813AF-5161-9355-4726-5DEA77FFCEAE}"/>
              </a:ext>
            </a:extLst>
          </p:cNvPr>
          <p:cNvSpPr txBox="1"/>
          <p:nvPr/>
        </p:nvSpPr>
        <p:spPr>
          <a:xfrm>
            <a:off x="2484974" y="1178780"/>
            <a:ext cx="6262718" cy="430887"/>
          </a:xfrm>
          <a:prstGeom prst="rect">
            <a:avLst/>
          </a:prstGeom>
          <a:noFill/>
        </p:spPr>
        <p:txBody>
          <a:bodyPr wrap="square">
            <a:spAutoFit/>
          </a:bodyPr>
          <a:lstStyle/>
          <a:p>
            <a:r>
              <a:rPr kumimoji="1" lang="zh-CN" altLang="en-US" sz="2200" b="1" dirty="0">
                <a:solidFill>
                  <a:schemeClr val="accent5">
                    <a:lumMod val="50000"/>
                  </a:schemeClr>
                </a:solidFill>
                <a:latin typeface="Arial" panose="020B0604020202020204" pitchFamily="34" charset="0"/>
                <a:ea typeface="微软雅黑" panose="020B0503020204020204" pitchFamily="34" charset="-122"/>
                <a:cs typeface="Arial" panose="020B0604020202020204" pitchFamily="34" charset="0"/>
              </a:rPr>
              <a:t>规划模块</a:t>
            </a:r>
            <a:endParaRPr lang="zh-CN" altLang="en-US" dirty="0"/>
          </a:p>
        </p:txBody>
      </p:sp>
      <p:grpSp>
        <p:nvGrpSpPr>
          <p:cNvPr id="3" name="组合 2">
            <a:extLst>
              <a:ext uri="{FF2B5EF4-FFF2-40B4-BE49-F238E27FC236}">
                <a16:creationId xmlns:a16="http://schemas.microsoft.com/office/drawing/2014/main" id="{E3924625-7A09-2C15-1C92-B6C981E430EC}"/>
              </a:ext>
            </a:extLst>
          </p:cNvPr>
          <p:cNvGrpSpPr/>
          <p:nvPr/>
        </p:nvGrpSpPr>
        <p:grpSpPr>
          <a:xfrm>
            <a:off x="6659981" y="2344140"/>
            <a:ext cx="5168789" cy="3080887"/>
            <a:chOff x="2885274" y="2419090"/>
            <a:chExt cx="3332932" cy="2054717"/>
          </a:xfrm>
        </p:grpSpPr>
        <p:sp>
          <p:nvSpPr>
            <p:cNvPr id="5" name="圆角矩形 1">
              <a:extLst>
                <a:ext uri="{FF2B5EF4-FFF2-40B4-BE49-F238E27FC236}">
                  <a16:creationId xmlns:a16="http://schemas.microsoft.com/office/drawing/2014/main" id="{ED1667BD-4FA9-26B0-0213-0B77C69D0274}"/>
                </a:ext>
              </a:extLst>
            </p:cNvPr>
            <p:cNvSpPr/>
            <p:nvPr/>
          </p:nvSpPr>
          <p:spPr>
            <a:xfrm>
              <a:off x="2885274" y="2419090"/>
              <a:ext cx="2711589" cy="2054717"/>
            </a:xfrm>
            <a:prstGeom prst="round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sz="1350" dirty="0">
                <a:solidFill>
                  <a:schemeClr val="tx1"/>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93775BE7-C84E-97B8-3CBC-F81A11D9C93E}"/>
                </a:ext>
              </a:extLst>
            </p:cNvPr>
            <p:cNvSpPr txBox="1"/>
            <p:nvPr/>
          </p:nvSpPr>
          <p:spPr>
            <a:xfrm>
              <a:off x="3809564" y="2506672"/>
              <a:ext cx="2408642" cy="262317"/>
            </a:xfrm>
            <a:prstGeom prst="rect">
              <a:avLst/>
            </a:prstGeom>
            <a:noFill/>
          </p:spPr>
          <p:txBody>
            <a:bodyPr wrap="square" rtlCol="0">
              <a:spAutoFit/>
            </a:bodyPr>
            <a:lstStyle/>
            <a:p>
              <a:r>
                <a:rPr lang="zh-CN" altLang="en-US" sz="1200" b="1" dirty="0">
                  <a:latin typeface="宋体" panose="02010600030101010101" pitchFamily="2" charset="-122"/>
                  <a:ea typeface="宋体" panose="02010600030101010101" pitchFamily="2" charset="-122"/>
                </a:rPr>
                <a:t> 定位与建图</a:t>
              </a:r>
              <a:endParaRPr lang="zh-CN" altLang="en-US" dirty="0"/>
            </a:p>
          </p:txBody>
        </p:sp>
      </p:grpSp>
      <p:sp>
        <p:nvSpPr>
          <p:cNvPr id="37" name="文本框 36">
            <a:extLst>
              <a:ext uri="{FF2B5EF4-FFF2-40B4-BE49-F238E27FC236}">
                <a16:creationId xmlns:a16="http://schemas.microsoft.com/office/drawing/2014/main" id="{6F84BF77-3350-E309-CE05-F7A8FFD4DDE2}"/>
              </a:ext>
            </a:extLst>
          </p:cNvPr>
          <p:cNvSpPr txBox="1"/>
          <p:nvPr/>
        </p:nvSpPr>
        <p:spPr>
          <a:xfrm>
            <a:off x="2210802" y="3190613"/>
            <a:ext cx="3829966" cy="1636345"/>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zh-CN" sz="1200" b="0" i="0" dirty="0">
                <a:solidFill>
                  <a:srgbClr val="0F1115"/>
                </a:solidFill>
                <a:effectLst/>
                <a:latin typeface="quote-cjk-patch"/>
              </a:rPr>
              <a:t>动态交通信息融合：实时交通流、临时管制、事故信息融入全局路径规划。</a:t>
            </a:r>
          </a:p>
          <a:p>
            <a:pPr marL="0" marR="0" lvl="0" indent="-342900" algn="l">
              <a:spcBef>
                <a:spcPts val="450"/>
              </a:spcBef>
              <a:spcAft>
                <a:spcPts val="1200"/>
              </a:spcAft>
              <a:buFont typeface="Arial" panose="020B0604020202020204" pitchFamily="34" charset="0"/>
              <a:buChar char="•"/>
            </a:pPr>
            <a:r>
              <a:rPr lang="zh-CN" altLang="zh-CN" sz="1200" b="0" i="0" dirty="0">
                <a:solidFill>
                  <a:srgbClr val="0F1115"/>
                </a:solidFill>
                <a:effectLst/>
                <a:latin typeface="quote-cjk-patch"/>
              </a:rPr>
              <a:t>分层与有界跳数工程化：组合A*、CH、JPS等算法，平衡路径质量与实时性。</a:t>
            </a:r>
          </a:p>
          <a:p>
            <a:pPr marL="0" marR="0" lvl="0" indent="-342900" algn="l">
              <a:spcBef>
                <a:spcPts val="450"/>
              </a:spcBef>
              <a:spcAft>
                <a:spcPts val="1200"/>
              </a:spcAft>
              <a:buFont typeface="Arial" panose="020B0604020202020204" pitchFamily="34" charset="0"/>
              <a:buChar char="•"/>
            </a:pPr>
            <a:r>
              <a:rPr lang="zh-CN" altLang="zh-CN" sz="1200" b="0" i="0" dirty="0">
                <a:solidFill>
                  <a:srgbClr val="0F1115"/>
                </a:solidFill>
                <a:effectLst/>
                <a:latin typeface="quote-cjk-patch"/>
              </a:rPr>
              <a:t>车路协同全局路径优化：路侧与车端协同，提升全局路径动态适应性。</a:t>
            </a:r>
          </a:p>
        </p:txBody>
      </p:sp>
      <p:sp>
        <p:nvSpPr>
          <p:cNvPr id="44" name="文本框 43">
            <a:extLst>
              <a:ext uri="{FF2B5EF4-FFF2-40B4-BE49-F238E27FC236}">
                <a16:creationId xmlns:a16="http://schemas.microsoft.com/office/drawing/2014/main" id="{4CF9C84F-3203-CE37-7689-2D5931F26AC7}"/>
              </a:ext>
            </a:extLst>
          </p:cNvPr>
          <p:cNvSpPr txBox="1"/>
          <p:nvPr/>
        </p:nvSpPr>
        <p:spPr>
          <a:xfrm>
            <a:off x="6833937" y="2982299"/>
            <a:ext cx="4022261" cy="2195473"/>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zh-CN" sz="1000" b="0" i="0" dirty="0">
                <a:solidFill>
                  <a:srgbClr val="0F1115"/>
                </a:solidFill>
                <a:effectLst/>
                <a:latin typeface="quote-cjk-patch"/>
              </a:rPr>
              <a:t>模块化端到端：保留结构化中间表征，兼顾可解释性与泛化能力。</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大模型驱动语义推理：LLM/VLM处理长尾交互场景，输出行为决策与轨迹。</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联合预测规划稳定训练：解决梯度尺度差异，提升训练稳定性。</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可验证安全约束：嵌入物理可行性、交通规则硬约束，实现可验证端到端。</a:t>
            </a:r>
          </a:p>
          <a:p>
            <a:pPr marL="0" marR="0" lvl="0" indent="-342900" algn="l">
              <a:spcBef>
                <a:spcPts val="450"/>
              </a:spcBef>
              <a:spcAft>
                <a:spcPts val="1200"/>
              </a:spcAft>
              <a:buFont typeface="Arial" panose="020B0604020202020204" pitchFamily="34" charset="0"/>
              <a:buChar char="•"/>
            </a:pPr>
            <a:r>
              <a:rPr lang="zh-CN" altLang="zh-CN" sz="1000" b="0" i="0" dirty="0">
                <a:solidFill>
                  <a:srgbClr val="0F1115"/>
                </a:solidFill>
                <a:effectLst/>
                <a:latin typeface="quote-cjk-patch"/>
              </a:rPr>
              <a:t>世界模型：用生成模型预测未来，服务规划决策。</a:t>
            </a:r>
          </a:p>
        </p:txBody>
      </p:sp>
    </p:spTree>
    <p:extLst>
      <p:ext uri="{BB962C8B-B14F-4D97-AF65-F5344CB8AC3E}">
        <p14:creationId xmlns:p14="http://schemas.microsoft.com/office/powerpoint/2010/main" val="38727968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71AF4-A172-7508-8E72-6618F3993987}"/>
            </a:ext>
          </a:extLst>
        </p:cNvPr>
        <p:cNvGrpSpPr/>
        <p:nvPr/>
      </p:nvGrpSpPr>
      <p:grpSpPr>
        <a:xfrm>
          <a:off x="0" y="0"/>
          <a:ext cx="0" cy="0"/>
          <a:chOff x="0" y="0"/>
          <a:chExt cx="0" cy="0"/>
        </a:xfrm>
      </p:grpSpPr>
      <p:sp>
        <p:nvSpPr>
          <p:cNvPr id="20" name="椭圆 19">
            <a:extLst>
              <a:ext uri="{FF2B5EF4-FFF2-40B4-BE49-F238E27FC236}">
                <a16:creationId xmlns:a16="http://schemas.microsoft.com/office/drawing/2014/main" id="{C8F0F736-54F8-41FF-3B46-48030A670A61}"/>
              </a:ext>
            </a:extLst>
          </p:cNvPr>
          <p:cNvSpPr/>
          <p:nvPr/>
        </p:nvSpPr>
        <p:spPr>
          <a:xfrm>
            <a:off x="11539426" y="6302230"/>
            <a:ext cx="289344" cy="289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26" name="Picture 2">
            <a:extLst>
              <a:ext uri="{FF2B5EF4-FFF2-40B4-BE49-F238E27FC236}">
                <a16:creationId xmlns:a16="http://schemas.microsoft.com/office/drawing/2014/main" id="{301F11D1-6620-16B2-B05E-25F156717397}"/>
              </a:ext>
            </a:extLst>
          </p:cNvPr>
          <p:cNvPicPr>
            <a:picLocks noChangeAspect="1" noChangeArrowheads="1"/>
          </p:cNvPicPr>
          <p:nvPr/>
        </p:nvPicPr>
        <p:blipFill>
          <a:blip r:embed="rId2"/>
          <a:srcRect t="13134" b="13134"/>
          <a:stretch/>
        </p:blipFill>
        <p:spPr bwMode="auto">
          <a:xfrm>
            <a:off x="5248733" y="1839764"/>
            <a:ext cx="6943267" cy="2593074"/>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3DE4A392-D682-93A7-ED6C-1A4200C049DF}"/>
              </a:ext>
            </a:extLst>
          </p:cNvPr>
          <p:cNvSpPr/>
          <p:nvPr/>
        </p:nvSpPr>
        <p:spPr>
          <a:xfrm>
            <a:off x="-2" y="1839764"/>
            <a:ext cx="12192002" cy="2593074"/>
          </a:xfrm>
          <a:prstGeom prst="rect">
            <a:avLst/>
          </a:prstGeom>
          <a:gradFill flip="none" rotWithShape="1">
            <a:gsLst>
              <a:gs pos="33000">
                <a:srgbClr val="3B87CD"/>
              </a:gs>
              <a:gs pos="85000">
                <a:schemeClr val="accent1">
                  <a:alpha val="30690"/>
                </a:schemeClr>
              </a:gs>
              <a:gs pos="0">
                <a:schemeClr val="accent5"/>
              </a:gs>
              <a:gs pos="54000">
                <a:srgbClr val="2A69A2"/>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0A802C32-3E3F-1452-F17B-5C97FFCC062C}"/>
              </a:ext>
            </a:extLst>
          </p:cNvPr>
          <p:cNvSpPr txBox="1"/>
          <p:nvPr/>
        </p:nvSpPr>
        <p:spPr>
          <a:xfrm>
            <a:off x="635744" y="2637350"/>
            <a:ext cx="8868937" cy="997902"/>
          </a:xfrm>
          <a:prstGeom prst="rect">
            <a:avLst/>
          </a:prstGeom>
          <a:noFill/>
        </p:spPr>
        <p:txBody>
          <a:bodyPr wrap="square">
            <a:spAutoFit/>
          </a:bodyPr>
          <a:lstStyle/>
          <a:p>
            <a:pPr>
              <a:lnSpc>
                <a:spcPct val="120000"/>
              </a:lnSpc>
            </a:pPr>
            <a:r>
              <a:rPr lang="en-GB" altLang="zh-CN" sz="5400" b="1" dirty="0">
                <a:solidFill>
                  <a:schemeClr val="bg1"/>
                </a:solidFill>
                <a:latin typeface="Arial" panose="020B0604020202020204" pitchFamily="34" charset="0"/>
                <a:cs typeface="Arial" panose="020B0604020202020204" pitchFamily="34" charset="0"/>
              </a:rPr>
              <a:t>THANK YOU</a:t>
            </a:r>
          </a:p>
        </p:txBody>
      </p:sp>
      <p:sp>
        <p:nvSpPr>
          <p:cNvPr id="17" name="文本框 16">
            <a:extLst>
              <a:ext uri="{FF2B5EF4-FFF2-40B4-BE49-F238E27FC236}">
                <a16:creationId xmlns:a16="http://schemas.microsoft.com/office/drawing/2014/main" id="{929993F0-A79D-D72D-0114-3164E522F4EA}"/>
              </a:ext>
            </a:extLst>
          </p:cNvPr>
          <p:cNvSpPr txBox="1"/>
          <p:nvPr/>
        </p:nvSpPr>
        <p:spPr>
          <a:xfrm>
            <a:off x="1152738" y="4908028"/>
            <a:ext cx="4559408" cy="338554"/>
          </a:xfrm>
          <a:prstGeom prst="rect">
            <a:avLst/>
          </a:prstGeom>
          <a:noFill/>
        </p:spPr>
        <p:txBody>
          <a:bodyPr wrap="square" rtlCol="0">
            <a:spAutoFit/>
          </a:bodyPr>
          <a:lstStyle/>
          <a:p>
            <a:r>
              <a:rPr kumimoji="1" lang="en-GB" altLang="zh-CN" sz="1600" b="1" dirty="0">
                <a:solidFill>
                  <a:schemeClr val="accent5">
                    <a:lumMod val="50000"/>
                  </a:schemeClr>
                </a:solidFill>
                <a:latin typeface="微软雅黑" panose="020B0503020204020204" pitchFamily="34" charset="-122"/>
                <a:ea typeface="微软雅黑" panose="020B0503020204020204" pitchFamily="34" charset="-122"/>
              </a:rPr>
              <a:t>N</a:t>
            </a:r>
            <a:r>
              <a:rPr kumimoji="1" lang="en-US" altLang="zh-CN" sz="1600" b="1" dirty="0" err="1">
                <a:solidFill>
                  <a:schemeClr val="accent5">
                    <a:lumMod val="50000"/>
                  </a:schemeClr>
                </a:solidFill>
                <a:latin typeface="微软雅黑" panose="020B0503020204020204" pitchFamily="34" charset="-122"/>
                <a:ea typeface="微软雅黑" panose="020B0503020204020204" pitchFamily="34" charset="-122"/>
              </a:rPr>
              <a:t>ame</a:t>
            </a:r>
            <a:r>
              <a:rPr kumimoji="1" lang="en-GB" altLang="zh-CN" sz="1600" b="1" dirty="0">
                <a:solidFill>
                  <a:schemeClr val="accent5">
                    <a:lumMod val="50000"/>
                  </a:schemeClr>
                </a:solidFill>
                <a:latin typeface="微软雅黑" panose="020B0503020204020204" pitchFamily="34" charset="-122"/>
                <a:ea typeface="微软雅黑" panose="020B0503020204020204" pitchFamily="34" charset="-122"/>
              </a:rPr>
              <a:t>: </a:t>
            </a:r>
            <a:r>
              <a:rPr kumimoji="1" lang="zh-CN" altLang="en-US" sz="1600" b="1" dirty="0">
                <a:solidFill>
                  <a:schemeClr val="accent5">
                    <a:lumMod val="50000"/>
                  </a:schemeClr>
                </a:solidFill>
                <a:latin typeface="微软雅黑" panose="020B0503020204020204" pitchFamily="34" charset="-122"/>
                <a:ea typeface="微软雅黑" panose="020B0503020204020204" pitchFamily="34" charset="-122"/>
              </a:rPr>
              <a:t>黄一铭</a:t>
            </a:r>
          </a:p>
        </p:txBody>
      </p:sp>
      <p:sp>
        <p:nvSpPr>
          <p:cNvPr id="18" name="文本框 17">
            <a:extLst>
              <a:ext uri="{FF2B5EF4-FFF2-40B4-BE49-F238E27FC236}">
                <a16:creationId xmlns:a16="http://schemas.microsoft.com/office/drawing/2014/main" id="{EBA25F32-B8ED-2136-5098-B5C4C537B152}"/>
              </a:ext>
            </a:extLst>
          </p:cNvPr>
          <p:cNvSpPr txBox="1"/>
          <p:nvPr/>
        </p:nvSpPr>
        <p:spPr>
          <a:xfrm>
            <a:off x="1152738" y="5462909"/>
            <a:ext cx="4559409" cy="338554"/>
          </a:xfrm>
          <a:prstGeom prst="rect">
            <a:avLst/>
          </a:prstGeom>
          <a:noFill/>
        </p:spPr>
        <p:txBody>
          <a:bodyPr wrap="square" rtlCol="0">
            <a:spAutoFit/>
          </a:bodyPr>
          <a:lstStyle/>
          <a:p>
            <a:r>
              <a:rPr kumimoji="1" lang="en-US" altLang="zh-CN" sz="1600" b="1" dirty="0">
                <a:solidFill>
                  <a:schemeClr val="accent5">
                    <a:lumMod val="50000"/>
                  </a:schemeClr>
                </a:solidFill>
                <a:latin typeface="微软雅黑" panose="020B0503020204020204" pitchFamily="34" charset="-122"/>
                <a:ea typeface="微软雅黑" panose="020B0503020204020204" pitchFamily="34" charset="-122"/>
              </a:rPr>
              <a:t>Date</a:t>
            </a:r>
            <a:r>
              <a:rPr kumimoji="1" lang="en-GB" altLang="zh-CN" sz="1600" b="1" dirty="0">
                <a:solidFill>
                  <a:schemeClr val="accent5">
                    <a:lumMod val="50000"/>
                  </a:schemeClr>
                </a:solidFill>
                <a:latin typeface="微软雅黑" panose="020B0503020204020204" pitchFamily="34" charset="-122"/>
                <a:ea typeface="微软雅黑" panose="020B0503020204020204" pitchFamily="34" charset="-122"/>
              </a:rPr>
              <a:t>: </a:t>
            </a:r>
            <a:r>
              <a:rPr kumimoji="1" lang="en-US" altLang="zh-CN" sz="1600" b="1" dirty="0">
                <a:solidFill>
                  <a:schemeClr val="accent5">
                    <a:lumMod val="50000"/>
                  </a:schemeClr>
                </a:solidFill>
                <a:latin typeface="微软雅黑" panose="020B0503020204020204" pitchFamily="34" charset="-122"/>
                <a:ea typeface="微软雅黑" panose="020B0503020204020204" pitchFamily="34" charset="-122"/>
              </a:rPr>
              <a:t>Oct</a:t>
            </a:r>
            <a:r>
              <a:rPr kumimoji="1" lang="en-GB" altLang="zh-CN" sz="1600" b="1" dirty="0">
                <a:solidFill>
                  <a:schemeClr val="accent5">
                    <a:lumMod val="50000"/>
                  </a:schemeClr>
                </a:solidFill>
                <a:latin typeface="微软雅黑" panose="020B0503020204020204" pitchFamily="34" charset="-122"/>
                <a:ea typeface="微软雅黑" panose="020B0503020204020204" pitchFamily="34" charset="-122"/>
              </a:rPr>
              <a:t> 12th , 2026</a:t>
            </a:r>
            <a:endParaRPr kumimoji="1" lang="zh-CN" altLang="en-US" sz="16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9" name="灯片编号占位符 18">
            <a:extLst>
              <a:ext uri="{FF2B5EF4-FFF2-40B4-BE49-F238E27FC236}">
                <a16:creationId xmlns:a16="http://schemas.microsoft.com/office/drawing/2014/main" id="{090FB1E2-3D5C-FACE-7DAA-3A9E2B241E46}"/>
              </a:ext>
            </a:extLst>
          </p:cNvPr>
          <p:cNvSpPr>
            <a:spLocks noGrp="1"/>
          </p:cNvSpPr>
          <p:nvPr>
            <p:ph type="sldNum" sz="quarter" idx="12"/>
          </p:nvPr>
        </p:nvSpPr>
        <p:spPr>
          <a:xfrm>
            <a:off x="11408633" y="6264339"/>
            <a:ext cx="550930" cy="365125"/>
          </a:xfrm>
        </p:spPr>
        <p:txBody>
          <a:bodyPr/>
          <a:lstStyle/>
          <a:p>
            <a:pPr algn="ctr"/>
            <a:fld id="{D290E156-FAFE-5144-A047-A692DE980B3A}" type="slidenum">
              <a:rPr kumimoji="1" lang="zh-CN" altLang="en-US" smtClean="0">
                <a:solidFill>
                  <a:schemeClr val="bg1"/>
                </a:solidFill>
                <a:latin typeface="Arial" panose="020B0604020202020204" pitchFamily="34" charset="0"/>
                <a:cs typeface="Arial" panose="020B0604020202020204" pitchFamily="34" charset="0"/>
              </a:rPr>
              <a:t>50</a:t>
            </a:fld>
            <a:endParaRPr kumimoji="1" lang="zh-CN" altLang="en-US" dirty="0">
              <a:solidFill>
                <a:schemeClr val="bg1"/>
              </a:solidFill>
              <a:latin typeface="Arial" panose="020B0604020202020204" pitchFamily="34" charset="0"/>
              <a:cs typeface="Arial" panose="020B0604020202020204" pitchFamily="34" charset="0"/>
            </a:endParaRPr>
          </a:p>
        </p:txBody>
      </p:sp>
      <p:pic>
        <p:nvPicPr>
          <p:cNvPr id="3" name="图片 2">
            <a:extLst>
              <a:ext uri="{FF2B5EF4-FFF2-40B4-BE49-F238E27FC236}">
                <a16:creationId xmlns:a16="http://schemas.microsoft.com/office/drawing/2014/main" id="{A33CCA2C-B3DA-CEC2-A98D-2A22D606A21A}"/>
              </a:ext>
            </a:extLst>
          </p:cNvPr>
          <p:cNvPicPr>
            <a:picLocks noChangeAspect="1"/>
          </p:cNvPicPr>
          <p:nvPr/>
        </p:nvPicPr>
        <p:blipFill>
          <a:blip r:embed="rId3"/>
          <a:stretch>
            <a:fillRect/>
          </a:stretch>
        </p:blipFill>
        <p:spPr>
          <a:xfrm>
            <a:off x="153431" y="230030"/>
            <a:ext cx="4407417" cy="883312"/>
          </a:xfrm>
          <a:prstGeom prst="rect">
            <a:avLst/>
          </a:prstGeom>
        </p:spPr>
      </p:pic>
    </p:spTree>
    <p:extLst>
      <p:ext uri="{BB962C8B-B14F-4D97-AF65-F5344CB8AC3E}">
        <p14:creationId xmlns:p14="http://schemas.microsoft.com/office/powerpoint/2010/main" val="2800888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953eb7c2-040e-47f4-b7d0-e79d3d297947"/>
</p:tagLst>
</file>

<file path=ppt/theme/theme1.xml><?xml version="1.0" encoding="utf-8"?>
<a:theme xmlns:a="http://schemas.openxmlformats.org/drawingml/2006/main" name="Office 主题​​">
  <a:themeElements>
    <a:clrScheme name="自定义 1233">
      <a:dk1>
        <a:srgbClr val="000000"/>
      </a:dk1>
      <a:lt1>
        <a:srgbClr val="FFFFFF"/>
      </a:lt1>
      <a:dk2>
        <a:srgbClr val="44546A"/>
      </a:dk2>
      <a:lt2>
        <a:srgbClr val="E7E6E6"/>
      </a:lt2>
      <a:accent1>
        <a:srgbClr val="426936"/>
      </a:accent1>
      <a:accent2>
        <a:srgbClr val="E8BF03"/>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2661</TotalTime>
  <Words>13681</Words>
  <Application>Microsoft Office PowerPoint</Application>
  <PresentationFormat>宽屏</PresentationFormat>
  <Paragraphs>999</Paragraphs>
  <Slides>50</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50</vt:i4>
      </vt:variant>
    </vt:vector>
  </HeadingPairs>
  <TitlesOfParts>
    <vt:vector size="61" baseType="lpstr">
      <vt:lpstr>Noto Sans SC</vt:lpstr>
      <vt:lpstr>quote-cjk-patch</vt:lpstr>
      <vt:lpstr>等线</vt:lpstr>
      <vt:lpstr>等线 Light</vt:lpstr>
      <vt:lpstr>方正小标宋简体</vt:lpstr>
      <vt:lpstr>宋体</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yiming huang</cp:lastModifiedBy>
  <cp:revision>18</cp:revision>
  <dcterms:created xsi:type="dcterms:W3CDTF">2023-04-04T12:32:00Z</dcterms:created>
  <dcterms:modified xsi:type="dcterms:W3CDTF">2026-10-14T14:38:47Z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B88F843CFE334C5F9FE28A7048BEC567_13</vt:lpwstr>
  </property>
  <property fmtid="{D5CDD505-2E9C-101B-9397-08002B2CF9AE}" pid="3" name="KSOProductBuildVer">
    <vt:lpwstr>2052-11.1.0.14309</vt:lpwstr>
  </property>
</Properties>
</file>